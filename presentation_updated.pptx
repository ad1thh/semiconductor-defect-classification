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y="6858000" cx="12192000"/>
  <p:notesSz cx="6858000" cy="9144000"/>
  <p:embeddedFontLst>
    <p:embeddedFont>
      <p:font typeface="Gill Sans"/>
      <p:regular r:id="rId15"/>
      <p:bold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:go="http://customooxmlschemas.google.com/" r:id="rId17" roundtripDataSignature="AMtx7miLdTtvIMPUDA03FOF5xNrAjTCZD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83D173D-958C-4913-BEFD-EE16810520BD}">
  <a:tblStyle styleId="{D83D173D-958C-4913-BEFD-EE16810520BD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9EFF7"/>
          </a:solidFill>
        </a:fill>
      </a:tcStyle>
    </a:wholeTbl>
    <a:band1H>
      <a:tcTxStyle/>
      <a:tcStyle>
        <a:fill>
          <a:solidFill>
            <a:srgbClr val="D0DEEF"/>
          </a:solidFill>
        </a:fill>
      </a:tcStyle>
    </a:band1H>
    <a:band2H>
      <a:tcTxStyle/>
    </a:band2H>
    <a:band1V>
      <a:tcTxStyle/>
      <a:tcStyle>
        <a:fill>
          <a:solidFill>
            <a:srgbClr val="D0DEEF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font" Target="fonts/GillSans-regular.fntdata"/><Relationship Id="rId16" Type="http://schemas.openxmlformats.org/officeDocument/2006/relationships/font" Target="fonts/GillSans-bold.fntdata"/><Relationship Id="rId17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0" name="Google Shape;100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9" name="Google Shape;109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7" name="Google Shape;127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5" name="Google Shape;155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1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1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8" name="Google Shape;18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1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1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5" name="Google Shape;35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1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1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1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" name="Google Shape;49;p1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1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" name="Google Shape;51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8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8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18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2" name="Google Shape;62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9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9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9" name="Google Shape;69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20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1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21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2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2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2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 txBox="1"/>
          <p:nvPr/>
        </p:nvSpPr>
        <p:spPr>
          <a:xfrm>
            <a:off x="1822249" y="70541"/>
            <a:ext cx="7870391" cy="110799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400" u="none" cap="none" strike="noStrike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SAINTGITS</a:t>
            </a:r>
            <a:endParaRPr b="1"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COLLEGE OF ENGINEERING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(AUTONOMOUS)</a:t>
            </a:r>
            <a:endParaRPr/>
          </a:p>
        </p:txBody>
      </p:sp>
      <p:sp>
        <p:nvSpPr>
          <p:cNvPr id="90" name="Google Shape;90;p1"/>
          <p:cNvSpPr/>
          <p:nvPr/>
        </p:nvSpPr>
        <p:spPr>
          <a:xfrm>
            <a:off x="0" y="6407689"/>
            <a:ext cx="7686676" cy="461665"/>
          </a:xfrm>
          <a:custGeom>
            <a:rect b="b" l="l" r="r" t="t"/>
            <a:pathLst>
              <a:path extrusionOk="0" h="369332" w="6172200">
                <a:moveTo>
                  <a:pt x="0" y="0"/>
                </a:moveTo>
                <a:lnTo>
                  <a:pt x="5791200" y="0"/>
                </a:lnTo>
                <a:lnTo>
                  <a:pt x="6172200" y="369332"/>
                </a:lnTo>
                <a:lnTo>
                  <a:pt x="0" y="369332"/>
                </a:lnTo>
                <a:lnTo>
                  <a:pt x="0" y="0"/>
                </a:lnTo>
                <a:close/>
              </a:path>
            </a:pathLst>
          </a:custGeom>
          <a:solidFill>
            <a:srgbClr val="2E75B5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. GROW . EXCEL</a:t>
            </a:r>
            <a:endParaRPr/>
          </a:p>
        </p:txBody>
      </p:sp>
      <p:sp>
        <p:nvSpPr>
          <p:cNvPr id="91" name="Google Shape;91;p1"/>
          <p:cNvSpPr/>
          <p:nvPr/>
        </p:nvSpPr>
        <p:spPr>
          <a:xfrm>
            <a:off x="571500" y="0"/>
            <a:ext cx="1152525" cy="1266998"/>
          </a:xfrm>
          <a:prstGeom prst="rect">
            <a:avLst/>
          </a:prstGeom>
          <a:solidFill>
            <a:schemeClr val="lt1"/>
          </a:solidFill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2" name="Google Shape;92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9724" y="88460"/>
            <a:ext cx="956075" cy="1090077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"/>
          <p:cNvSpPr txBox="1"/>
          <p:nvPr>
            <p:ph type="ctrTitle"/>
          </p:nvPr>
        </p:nvSpPr>
        <p:spPr>
          <a:xfrm>
            <a:off x="0" y="2573350"/>
            <a:ext cx="12192000" cy="69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30"/>
              <a:buFont typeface="Times New Roman"/>
              <a:buNone/>
            </a:pPr>
            <a:r>
              <a:rPr b="1" lang="en-US" sz="3230">
                <a:latin typeface="Times New Roman"/>
                <a:ea typeface="Times New Roman"/>
                <a:cs typeface="Times New Roman"/>
                <a:sym typeface="Times New Roman"/>
              </a:rPr>
              <a:t>End-to-End Deep Learning Pipeline for Automated Semiconductor Wafer  Defect Classification with ONNX Optimization</a:t>
            </a:r>
            <a:endParaRPr b="1" sz="323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4" name="Google Shape;94;p1"/>
          <p:cNvSpPr txBox="1"/>
          <p:nvPr/>
        </p:nvSpPr>
        <p:spPr>
          <a:xfrm>
            <a:off x="571490" y="4325689"/>
            <a:ext cx="5380500" cy="1585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PRESENTED BY:</a:t>
            </a:r>
            <a:endParaRPr b="1" sz="2000" u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ADITHYAN B</a:t>
            </a:r>
            <a:r>
              <a:rPr b="0" lang="en-US" sz="2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</a:t>
            </a: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MGP23EVLSI001</a:t>
            </a:r>
            <a:r>
              <a:rPr b="0" lang="en-US" sz="2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ANNA BOBAN</a:t>
            </a:r>
            <a:r>
              <a:rPr b="0" lang="en-US" sz="2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(</a:t>
            </a: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MGP23EVLSI002</a:t>
            </a:r>
            <a:r>
              <a:rPr b="0" lang="en-US" sz="20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  <a:endParaRPr/>
          </a:p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NOOPA MARIA ROJAN (MGP23EVLSI009)</a:t>
            </a:r>
            <a:endParaRPr b="0" sz="1900" u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just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8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	</a:t>
            </a:r>
            <a:endParaRPr/>
          </a:p>
        </p:txBody>
      </p:sp>
      <p:sp>
        <p:nvSpPr>
          <p:cNvPr id="95" name="Google Shape;95;p1"/>
          <p:cNvSpPr txBox="1"/>
          <p:nvPr/>
        </p:nvSpPr>
        <p:spPr>
          <a:xfrm>
            <a:off x="7531608" y="4344964"/>
            <a:ext cx="4236600" cy="163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PROJECT SUPERVISOR:</a:t>
            </a:r>
            <a:endParaRPr b="1" sz="2000" u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ER. JUSTIN MATHEW</a:t>
            </a:r>
            <a:endParaRPr sz="20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ASSISTANT PROFESSOR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DEPARTMENT OF COMPUTER SCIENCE AND ENGINEERING</a:t>
            </a:r>
            <a:endParaRPr/>
          </a:p>
        </p:txBody>
      </p:sp>
      <p:sp>
        <p:nvSpPr>
          <p:cNvPr id="96" name="Google Shape;96;p1"/>
          <p:cNvSpPr txBox="1"/>
          <p:nvPr/>
        </p:nvSpPr>
        <p:spPr>
          <a:xfrm>
            <a:off x="201168" y="3429000"/>
            <a:ext cx="11567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PROJECT AREA : Machine Learning</a:t>
            </a:r>
            <a:endParaRPr sz="2000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1"/>
          <p:cNvSpPr txBox="1"/>
          <p:nvPr/>
        </p:nvSpPr>
        <p:spPr>
          <a:xfrm>
            <a:off x="429491" y="1178537"/>
            <a:ext cx="11338800" cy="11958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lnSpcReduction="10000"/>
          </a:bodyPr>
          <a:lstStyle/>
          <a:p>
            <a: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imes New Roman"/>
              <a:buNone/>
            </a:pPr>
            <a:r>
              <a:rPr b="0" lang="en-US" sz="25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B.TECH MINI PROJECT PHASE - 1</a:t>
            </a:r>
            <a:br>
              <a:rPr b="0" lang="en-US" sz="2500" u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b="1" lang="en-US" sz="2500" u="none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ZEROTH REVIEW</a:t>
            </a:r>
            <a:endParaRPr b="1" sz="2500" u="none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2"/>
          <p:cNvSpPr/>
          <p:nvPr/>
        </p:nvSpPr>
        <p:spPr>
          <a:xfrm>
            <a:off x="0" y="6508273"/>
            <a:ext cx="7686676" cy="338554"/>
          </a:xfrm>
          <a:custGeom>
            <a:rect b="b" l="l" r="r" t="t"/>
            <a:pathLst>
              <a:path extrusionOk="0" h="369332" w="6172200">
                <a:moveTo>
                  <a:pt x="0" y="0"/>
                </a:moveTo>
                <a:lnTo>
                  <a:pt x="5791200" y="0"/>
                </a:lnTo>
                <a:lnTo>
                  <a:pt x="6172200" y="369332"/>
                </a:lnTo>
                <a:lnTo>
                  <a:pt x="0" y="369332"/>
                </a:lnTo>
                <a:lnTo>
                  <a:pt x="0" y="0"/>
                </a:lnTo>
                <a:close/>
              </a:path>
            </a:pathLst>
          </a:custGeom>
          <a:solidFill>
            <a:srgbClr val="2E75B5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. GROW . EXCEL</a:t>
            </a:r>
            <a:endParaRPr/>
          </a:p>
        </p:txBody>
      </p:sp>
      <p:pic>
        <p:nvPicPr>
          <p:cNvPr id="104" name="Google Shape;104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448288" y="105155"/>
            <a:ext cx="619959" cy="706851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2"/>
          <p:cNvSpPr txBox="1"/>
          <p:nvPr/>
        </p:nvSpPr>
        <p:spPr>
          <a:xfrm>
            <a:off x="220979" y="20271"/>
            <a:ext cx="11730229" cy="6309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Literature Survey</a:t>
            </a:r>
            <a:endParaRPr sz="3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06" name="Google Shape;106;p2"/>
          <p:cNvGraphicFramePr/>
          <p:nvPr/>
        </p:nvGraphicFramePr>
        <p:xfrm>
          <a:off x="457200" y="1005840"/>
          <a:ext cx="11247120" cy="4389120"/>
        </p:xfrm>
        <a:graphic>
          <a:graphicData uri="http://schemas.openxmlformats.org/drawingml/2006/table">
            <a:tbl>
              <a:tblPr bandRow="1" firstRow="1">
                <a:noFill/>
                <a:tableStyleId>{D83D173D-958C-4913-BEFD-EE16810520BD}</a:tableStyleId>
              </a:tblPr>
              <a:tblGrid>
                <a:gridCol w="822960"/>
                <a:gridCol w="2926080"/>
                <a:gridCol w="3931920"/>
                <a:gridCol w="3566160"/>
              </a:tblGrid>
              <a:tr h="682600"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Ref No.</a:t>
                      </a:r>
                    </a:p>
                  </a:txBody>
                  <a:tcPr marT="45725" marB="45725" marR="91450" marL="91450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Paper Title &amp; Authors</a:t>
                      </a:r>
                    </a:p>
                  </a:txBody>
                  <a:tcPr marT="45725" marB="45725" marR="91450" marL="91450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Summary &amp; Methodology</a:t>
                      </a:r>
                    </a:p>
                  </a:txBody>
                  <a:tcPr marT="45725" marB="45725" marR="91450" marL="91450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Limitations &amp; Gaps</a:t>
                      </a:r>
                    </a:p>
                  </a:txBody>
                  <a:tcPr marT="45725" marB="45725" marR="91450" marL="91450">
                    <a:solidFill>
                      <a:srgbClr val="1B365D"/>
                    </a:solidFill>
                  </a:tcPr>
                </a:tc>
              </a:tr>
              <a:tr h="1654750"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82828"/>
                          </a:solidFill>
                          <a:latin typeface="Calibri"/>
                        </a:rPr>
                        <a:t>[1]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Wafer Map Defect Pattern Classification... (Nakazawa &amp; Kulkarni, 2018)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Proposed a CNN framework to automatically classify topological wafer defect patterns from raw sensor map data.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High computational complexity; heavy model architecture not optimized for real-time fab edge deployment.</a:t>
                      </a:r>
                    </a:p>
                  </a:txBody>
                  <a:tcPr marT="45725" marB="45725" marR="91450" marL="91450"/>
                </a:tc>
              </a:tr>
              <a:tr h="1654750"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82828"/>
                          </a:solidFill>
                          <a:latin typeface="Calibri"/>
                        </a:rPr>
                        <a:t>[2]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A Voting Ensemble Classifier for Semiconductor Wafer Defect... (Saqlain et al., 2019)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Combined SVM, Random Forest, and CNN models in a voting ensemble for 8-class defect pattern identification.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Ensemble approach increases memory footprint and inference latency, hindering high-throughput inline inspection.</a:t>
                      </a:r>
                    </a:p>
                  </a:txBody>
                  <a:tcPr marT="45725" marB="45725" marR="91450" marL="91450"/>
                </a:tc>
              </a:tr>
              <a:tr h="1654750"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82828"/>
                          </a:solidFill>
                          <a:latin typeface="Calibri"/>
                        </a:rPr>
                        <a:t>[3]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Lightweight Deep Learning for Real-Time Wafer Classification (Im et al., 2021)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Utilized MobileNet variants to reduce parameter size for wafer defect identification on WM-811K.</a:t>
                      </a: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Lacked cross-platform serialization (ONNX/TensorRT) and automated end-to-end legacy dataset preprocessing engine.</a:t>
                      </a: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"/>
          <p:cNvSpPr/>
          <p:nvPr/>
        </p:nvSpPr>
        <p:spPr>
          <a:xfrm>
            <a:off x="0" y="6508273"/>
            <a:ext cx="7686676" cy="338554"/>
          </a:xfrm>
          <a:custGeom>
            <a:rect b="b" l="l" r="r" t="t"/>
            <a:pathLst>
              <a:path extrusionOk="0" h="369332" w="6172200">
                <a:moveTo>
                  <a:pt x="0" y="0"/>
                </a:moveTo>
                <a:lnTo>
                  <a:pt x="5791200" y="0"/>
                </a:lnTo>
                <a:lnTo>
                  <a:pt x="6172200" y="369332"/>
                </a:lnTo>
                <a:lnTo>
                  <a:pt x="0" y="369332"/>
                </a:lnTo>
                <a:lnTo>
                  <a:pt x="0" y="0"/>
                </a:lnTo>
                <a:close/>
              </a:path>
            </a:pathLst>
          </a:custGeom>
          <a:solidFill>
            <a:srgbClr val="2E75B5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. GROW . EXCEL</a:t>
            </a:r>
            <a:endParaRPr/>
          </a:p>
        </p:txBody>
      </p:sp>
      <p:pic>
        <p:nvPicPr>
          <p:cNvPr id="113" name="Google Shape;11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448288" y="105155"/>
            <a:ext cx="619959" cy="706851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4"/>
          <p:cNvSpPr txBox="1"/>
          <p:nvPr/>
        </p:nvSpPr>
        <p:spPr>
          <a:xfrm>
            <a:off x="0" y="13907"/>
            <a:ext cx="12192000" cy="6309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Problem Statement</a:t>
            </a:r>
            <a:endParaRPr sz="3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4"/>
          <p:cNvSpPr txBox="1"/>
          <p:nvPr/>
        </p:nvSpPr>
        <p:spPr>
          <a:xfrm>
            <a:off x="188976" y="903254"/>
            <a:ext cx="11814048" cy="51715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5400" marL="228600" marR="0" rtl="0" algn="just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sz="1400" b="1" i="0">
                <a:solidFill>
                  <a:srgbClr val="1B365D"/>
                </a:solidFill>
                <a:latin typeface="Calibri"/>
              </a:rPr>
              <a:t>High Manual Inspection Overhead &amp; Defect Escape Rates</a:t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1">
              <a:spcAft>
                <a:spcPts val="300"/>
              </a:spcAft>
            </a:pPr>
            <a:r>
              <a:rPr sz="1200" b="0" i="0">
                <a:solidFill>
                  <a:srgbClr val="282828"/>
                </a:solidFill>
                <a:latin typeface="Calibri"/>
              </a:rPr>
              <a:t>Semiconductor fabrication generates thousands of wafer maps daily; manual visual inspection is slow, subjective, and prone to operator fatigue.</a:t>
            </a:r>
          </a:p>
          <a:p>
            <a:pPr lvl="1">
              <a:spcAft>
                <a:spcPts val="300"/>
              </a:spcAft>
            </a:pPr>
            <a:r>
              <a:rPr sz="1200" b="0" i="0">
                <a:solidFill>
                  <a:srgbClr val="282828"/>
                </a:solidFill>
                <a:latin typeface="Calibri"/>
              </a:rPr>
              <a:t>Undetected defect patterns cause severe yield loss and costly late-stage chip failures.</a:t>
            </a:r>
          </a:p>
          <a:p>
            <a:pPr>
              <a:spcAft>
                <a:spcPts val="400"/>
              </a:spcAft>
            </a:pPr>
            <a:r>
              <a:rPr sz="1400" b="1" i="0">
                <a:solidFill>
                  <a:srgbClr val="1B365D"/>
                </a:solidFill>
                <a:latin typeface="Calibri"/>
              </a:rPr>
              <a:t>Heavy Model Computational Overhead at Fab Edge</a:t>
            </a:r>
          </a:p>
          <a:p>
            <a:pPr lvl="1">
              <a:spcAft>
                <a:spcPts val="300"/>
              </a:spcAft>
            </a:pPr>
            <a:r>
              <a:rPr sz="1200" b="0" i="0">
                <a:solidFill>
                  <a:srgbClr val="282828"/>
                </a:solidFill>
                <a:latin typeface="Calibri"/>
              </a:rPr>
              <a:t>Conventional deep learning models (ResNet, VGG) possess large memory footprints and high latency.</a:t>
            </a:r>
          </a:p>
          <a:p>
            <a:pPr lvl="1">
              <a:spcAft>
                <a:spcPts val="300"/>
              </a:spcAft>
            </a:pPr>
            <a:r>
              <a:rPr sz="1200" b="0" i="0">
                <a:solidFill>
                  <a:srgbClr val="282828"/>
                </a:solidFill>
                <a:latin typeface="Calibri"/>
              </a:rPr>
              <a:t>Modern semiconductor fabrication equipment requires inline, real-time defect classification at the edge with minimal latency.</a:t>
            </a:r>
          </a:p>
          <a:p>
            <a:pPr>
              <a:spcAft>
                <a:spcPts val="400"/>
              </a:spcAft>
            </a:pPr>
            <a:r>
              <a:rPr sz="1400" b="1" i="0">
                <a:solidFill>
                  <a:srgbClr val="1B365D"/>
                </a:solidFill>
                <a:latin typeface="Calibri"/>
              </a:rPr>
              <a:t>Legacy Dataset Format &amp; Data Preprocessing Bottlenecks</a:t>
            </a:r>
          </a:p>
          <a:p>
            <a:pPr lvl="1">
              <a:spcAft>
                <a:spcPts val="300"/>
              </a:spcAft>
            </a:pPr>
            <a:r>
              <a:rPr sz="1200" b="0" i="0">
                <a:solidFill>
                  <a:srgbClr val="282828"/>
                </a:solidFill>
                <a:latin typeface="Calibri"/>
              </a:rPr>
              <a:t>Industry standard WM-811K dataset is stored in legacy pickle formats causing version incompatibility across modern Python/Pandas environments.</a:t>
            </a:r>
          </a:p>
          <a:p>
            <a:pPr lvl="1">
              <a:spcAft>
                <a:spcPts val="300"/>
              </a:spcAft>
            </a:pPr>
            <a:r>
              <a:rPr sz="1200" b="0" i="0">
                <a:solidFill>
                  <a:srgbClr val="282828"/>
                </a:solidFill>
                <a:latin typeface="Calibri"/>
              </a:rPr>
              <a:t>Absence of an automated, end-to-end data pipeline from raw pickle files to standardized image tensors.</a:t>
            </a:r>
          </a:p>
          <a:p>
            <a:pPr>
              <a:spcAft>
                <a:spcPts val="400"/>
              </a:spcAft>
            </a:pPr>
            <a:r>
              <a:rPr sz="1400" b="1" i="0">
                <a:solidFill>
                  <a:srgbClr val="1B365D"/>
                </a:solidFill>
                <a:latin typeface="Calibri"/>
              </a:rPr>
              <a:t>Lack of Portable Cross-Platform ONNX Runtime Engine</a:t>
            </a:r>
          </a:p>
          <a:p>
            <a:pPr lvl="1">
              <a:spcAft>
                <a:spcPts val="300"/>
              </a:spcAft>
            </a:pPr>
            <a:r>
              <a:rPr sz="1200" b="0" i="0">
                <a:solidFill>
                  <a:srgbClr val="282828"/>
                </a:solidFill>
                <a:latin typeface="Calibri"/>
              </a:rPr>
              <a:t>PyTorch model dependencies limit deployment on edge microcontrollers and custom silicon inspect platforms.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"/>
          <p:cNvSpPr/>
          <p:nvPr/>
        </p:nvSpPr>
        <p:spPr>
          <a:xfrm>
            <a:off x="0" y="6508273"/>
            <a:ext cx="7686676" cy="338554"/>
          </a:xfrm>
          <a:custGeom>
            <a:rect b="b" l="l" r="r" t="t"/>
            <a:pathLst>
              <a:path extrusionOk="0" h="369332" w="6172200">
                <a:moveTo>
                  <a:pt x="0" y="0"/>
                </a:moveTo>
                <a:lnTo>
                  <a:pt x="5791200" y="0"/>
                </a:lnTo>
                <a:lnTo>
                  <a:pt x="6172200" y="369332"/>
                </a:lnTo>
                <a:lnTo>
                  <a:pt x="0" y="369332"/>
                </a:lnTo>
                <a:lnTo>
                  <a:pt x="0" y="0"/>
                </a:lnTo>
                <a:close/>
              </a:path>
            </a:pathLst>
          </a:custGeom>
          <a:solidFill>
            <a:srgbClr val="2E75B5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. GROW . EXCEL</a:t>
            </a:r>
            <a:endParaRPr/>
          </a:p>
        </p:txBody>
      </p:sp>
      <p:pic>
        <p:nvPicPr>
          <p:cNvPr id="122" name="Google Shape;1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448288" y="105155"/>
            <a:ext cx="619959" cy="70685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5"/>
          <p:cNvSpPr txBox="1"/>
          <p:nvPr/>
        </p:nvSpPr>
        <p:spPr>
          <a:xfrm>
            <a:off x="0" y="13907"/>
            <a:ext cx="12192000" cy="6309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Objectives</a:t>
            </a:r>
            <a:endParaRPr sz="35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5"/>
          <p:cNvSpPr txBox="1"/>
          <p:nvPr/>
        </p:nvSpPr>
        <p:spPr>
          <a:xfrm>
            <a:off x="188976" y="903254"/>
            <a:ext cx="11814048" cy="51715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5400" marL="228600" marR="0" rtl="0" algn="just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sz="1400" b="1" i="0">
                <a:solidFill>
                  <a:srgbClr val="1B365D"/>
                </a:solidFill>
                <a:latin typeface="Calibri"/>
              </a:rPr>
              <a:t>1. Automated Legacy Data Processing Engine</a:t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1">
              <a:spcAft>
                <a:spcPts val="300"/>
              </a:spcAft>
            </a:pPr>
            <a:r>
              <a:rPr sz="1200" b="0" i="0">
                <a:solidFill>
                  <a:srgbClr val="282828"/>
                </a:solidFill>
                <a:latin typeface="Calibri"/>
              </a:rPr>
              <a:t>Develop a robust ETL engine to parse legacy pandas pickle datasets (WM-811K) into 8 standardized defect classes: clean, center, donut, edge_loc, edge_ring, loc, scratch, other.</a:t>
            </a:r>
          </a:p>
          <a:p>
            <a:pPr>
              <a:spcAft>
                <a:spcPts val="400"/>
              </a:spcAft>
            </a:pPr>
            <a:r>
              <a:rPr sz="1400" b="1" i="0">
                <a:solidFill>
                  <a:srgbClr val="1B365D"/>
                </a:solidFill>
                <a:latin typeface="Calibri"/>
              </a:rPr>
              <a:t>2. Lightweight MobileNetV3-Small Classifier Training</a:t>
            </a:r>
          </a:p>
          <a:p>
            <a:pPr lvl="1">
              <a:spcAft>
                <a:spcPts val="300"/>
              </a:spcAft>
            </a:pPr>
            <a:r>
              <a:rPr sz="1200" b="0" i="0">
                <a:solidFill>
                  <a:srgbClr val="282828"/>
                </a:solidFill>
                <a:latin typeface="Calibri"/>
              </a:rPr>
              <a:t>Fine-tune a lightweight MobileNetV3-Small CNN in PyTorch using transfer learning, achieving &gt;98% overall accuracy while minimizing parameters.</a:t>
            </a:r>
          </a:p>
          <a:p>
            <a:pPr>
              <a:spcAft>
                <a:spcPts val="400"/>
              </a:spcAft>
            </a:pPr>
            <a:r>
              <a:rPr sz="1400" b="1" i="0">
                <a:solidFill>
                  <a:srgbClr val="1B365D"/>
                </a:solidFill>
                <a:latin typeface="Calibri"/>
              </a:rPr>
              <a:t>3. Comprehensive Performance Benchmarking</a:t>
            </a:r>
          </a:p>
          <a:p>
            <a:pPr lvl="1">
              <a:spcAft>
                <a:spcPts val="300"/>
              </a:spcAft>
            </a:pPr>
            <a:r>
              <a:rPr sz="1200" b="0" i="0">
                <a:solidFill>
                  <a:srgbClr val="282828"/>
                </a:solidFill>
                <a:latin typeface="Calibri"/>
              </a:rPr>
              <a:t>Evaluate metrics (Precision, Recall, Macro F1, Confusion Matrix) over 121,000+ test wafer samples across 8 epochs.</a:t>
            </a:r>
          </a:p>
          <a:p>
            <a:pPr>
              <a:spcAft>
                <a:spcPts val="400"/>
              </a:spcAft>
            </a:pPr>
            <a:r>
              <a:rPr sz="1400" b="1" i="0">
                <a:solidFill>
                  <a:srgbClr val="1B365D"/>
                </a:solidFill>
                <a:latin typeface="Calibri"/>
              </a:rPr>
              <a:t>4. ONNX Export &amp; Low-Latency Edge Deployment</a:t>
            </a:r>
          </a:p>
          <a:p>
            <a:pPr lvl="1">
              <a:spcAft>
                <a:spcPts val="300"/>
              </a:spcAft>
            </a:pPr>
            <a:r>
              <a:rPr sz="1200" b="0" i="0">
                <a:solidFill>
                  <a:srgbClr val="282828"/>
                </a:solidFill>
                <a:latin typeface="Calibri"/>
              </a:rPr>
              <a:t>Export trained PyTorch weights to ONNX format (opset 12) with dynamic batch support and build a standalone ONNX Runtime execution script (run_inference.py).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"/>
          <p:cNvSpPr/>
          <p:nvPr/>
        </p:nvSpPr>
        <p:spPr>
          <a:xfrm>
            <a:off x="0" y="6508273"/>
            <a:ext cx="7686676" cy="338554"/>
          </a:xfrm>
          <a:custGeom>
            <a:rect b="b" l="l" r="r" t="t"/>
            <a:pathLst>
              <a:path extrusionOk="0" h="369332" w="6172200">
                <a:moveTo>
                  <a:pt x="0" y="0"/>
                </a:moveTo>
                <a:lnTo>
                  <a:pt x="5791200" y="0"/>
                </a:lnTo>
                <a:lnTo>
                  <a:pt x="6172200" y="369332"/>
                </a:lnTo>
                <a:lnTo>
                  <a:pt x="0" y="369332"/>
                </a:lnTo>
                <a:lnTo>
                  <a:pt x="0" y="0"/>
                </a:lnTo>
                <a:close/>
              </a:path>
            </a:pathLst>
          </a:custGeom>
          <a:solidFill>
            <a:srgbClr val="2E75B5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. GROW . EXCEL</a:t>
            </a:r>
            <a:endParaRPr/>
          </a:p>
        </p:txBody>
      </p:sp>
      <p:pic>
        <p:nvPicPr>
          <p:cNvPr id="131" name="Google Shape;131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448288" y="105155"/>
            <a:ext cx="619959" cy="706851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6"/>
          <p:cNvSpPr txBox="1"/>
          <p:nvPr/>
        </p:nvSpPr>
        <p:spPr>
          <a:xfrm>
            <a:off x="0" y="0"/>
            <a:ext cx="12192000" cy="6309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Proposed Methodology</a:t>
            </a:r>
            <a:endParaRPr/>
          </a:p>
        </p:txBody>
      </p:sp>
      <p:sp>
        <p:nvSpPr>
          <p:cNvPr id="133" name="Google Shape;133;p6"/>
          <p:cNvSpPr txBox="1"/>
          <p:nvPr/>
        </p:nvSpPr>
        <p:spPr>
          <a:xfrm>
            <a:off x="365760" y="868680"/>
            <a:ext cx="6400800" cy="4937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marR="0" rtl="0" algn="just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  <a:buClr>
                <a:schemeClr val="dk1"/>
              </a:buClr>
              <a:buSzPts val="3200"/>
              <a:buFont typeface="Arial"/>
              <a:buNone/>
            </a:pPr>
            <a:r>
              <a:rPr sz="1300" b="1" i="0">
                <a:solidFill>
                  <a:srgbClr val="1B365D"/>
                </a:solidFill>
                <a:latin typeface="Calibri"/>
              </a:rPr>
              <a:t>A. Data Preprocessing &amp; Stratified Pipeline</a:t>
            </a: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1">
              <a:spcAft>
                <a:spcPts val="300"/>
              </a:spcAft>
            </a:pPr>
            <a:r>
              <a:rPr sz="1100" b="0" i="0">
                <a:solidFill>
                  <a:srgbClr val="282828"/>
                </a:solidFill>
                <a:latin typeface="Calibri"/>
              </a:rPr>
              <a:t>Parsing: WM-811K (811,472 wafer maps) parsed via custom pandas patch.</a:t>
            </a:r>
          </a:p>
          <a:p>
            <a:pPr lvl="1">
              <a:spcAft>
                <a:spcPts val="300"/>
              </a:spcAft>
            </a:pPr>
            <a:r>
              <a:rPr sz="1100" b="0" i="0">
                <a:solidFill>
                  <a:srgbClr val="282828"/>
                </a:solidFill>
                <a:latin typeface="Calibri"/>
              </a:rPr>
              <a:t>Conversion: Wafer maps resized to 224x224 grayscale &amp; normalized (0-255).</a:t>
            </a:r>
          </a:p>
          <a:p>
            <a:pPr lvl="1">
              <a:spcAft>
                <a:spcPts val="300"/>
              </a:spcAft>
            </a:pPr>
            <a:r>
              <a:rPr sz="1100" b="0" i="0">
                <a:solidFill>
                  <a:srgbClr val="282828"/>
                </a:solidFill>
                <a:latin typeface="Calibri"/>
              </a:rPr>
              <a:t>Data Split: Stratified train/validation/test split (70% / 15% / 15%).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1B365D"/>
                </a:solidFill>
                <a:latin typeface="Calibri"/>
              </a:rPr>
              <a:t>B. Model Architecture &amp; Fine-Tuning</a:t>
            </a:r>
          </a:p>
          <a:p>
            <a:pPr lvl="1">
              <a:spcAft>
                <a:spcPts val="300"/>
              </a:spcAft>
            </a:pPr>
            <a:r>
              <a:rPr sz="1100" b="0" i="0">
                <a:solidFill>
                  <a:srgbClr val="282828"/>
                </a:solidFill>
                <a:latin typeface="Calibri"/>
              </a:rPr>
              <a:t>MobileNetV3-Small: Depthwise separable convolutions &amp; hard-swish activation.</a:t>
            </a:r>
          </a:p>
          <a:p>
            <a:pPr lvl="1">
              <a:spcAft>
                <a:spcPts val="300"/>
              </a:spcAft>
            </a:pPr>
            <a:r>
              <a:rPr sz="1100" b="0" i="0">
                <a:solidFill>
                  <a:srgbClr val="282828"/>
                </a:solidFill>
                <a:latin typeface="Calibri"/>
              </a:rPr>
              <a:t>Custom Head: Modified final linear layer for 8 target wafer defect categories.</a:t>
            </a:r>
          </a:p>
          <a:p>
            <a:pPr lvl="1">
              <a:spcAft>
                <a:spcPts val="300"/>
              </a:spcAft>
            </a:pPr>
            <a:r>
              <a:rPr sz="1100" b="0" i="0">
                <a:solidFill>
                  <a:srgbClr val="282828"/>
                </a:solidFill>
                <a:latin typeface="Calibri"/>
              </a:rPr>
              <a:t>Training: Adam optimizer (lr=3e-4), Cross-Entropy loss, batch size 32, 8 epochs.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1B365D"/>
                </a:solidFill>
                <a:latin typeface="Calibri"/>
              </a:rPr>
              <a:t>C. ONNX Optimization &amp; Edge Inference</a:t>
            </a:r>
          </a:p>
          <a:p>
            <a:pPr lvl="1">
              <a:spcAft>
                <a:spcPts val="300"/>
              </a:spcAft>
            </a:pPr>
            <a:r>
              <a:rPr sz="1100" b="0" i="0">
                <a:solidFill>
                  <a:srgbClr val="282828"/>
                </a:solidFill>
                <a:latin typeface="Calibri"/>
              </a:rPr>
              <a:t>Export: PyTorch model converted to model.onnx (opset 12, dynamic batch).</a:t>
            </a:r>
          </a:p>
          <a:p>
            <a:pPr lvl="1">
              <a:spcAft>
                <a:spcPts val="300"/>
              </a:spcAft>
            </a:pPr>
            <a:r>
              <a:rPr sz="1100" b="0" i="0">
                <a:solidFill>
                  <a:srgbClr val="282828"/>
                </a:solidFill>
                <a:latin typeface="Calibri"/>
              </a:rPr>
              <a:t>Execution: Standalone run_inference.py using ONNX Runtime on CPU/Edge.</a:t>
            </a:r>
          </a:p>
        </p:txBody>
      </p:sp>
      <p:pic>
        <p:nvPicPr>
          <p:cNvPr id="134" name="Picture 133" descr="confusion_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005840"/>
            <a:ext cx="4846320" cy="3877056"/>
          </a:xfrm>
          <a:prstGeom prst="rect">
            <a:avLst/>
          </a:prstGeom>
        </p:spPr>
      </p:pic>
      <p:pic>
        <p:nvPicPr>
          <p:cNvPr id="135" name="Picture 13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005840"/>
            <a:ext cx="4846320" cy="3877056"/>
          </a:xfrm>
          <a:prstGeom prst="rect">
            <a:avLst/>
          </a:prstGeom>
        </p:spPr>
      </p:pic>
      <p:pic>
        <p:nvPicPr>
          <p:cNvPr id="136" name="Picture 13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005840"/>
            <a:ext cx="4846320" cy="3877056"/>
          </a:xfrm>
          <a:prstGeom prst="rect">
            <a:avLst/>
          </a:prstGeom>
        </p:spPr>
      </p:pic>
      <p:pic>
        <p:nvPicPr>
          <p:cNvPr id="137" name="Picture 13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005840"/>
            <a:ext cx="4846320" cy="3877056"/>
          </a:xfrm>
          <a:prstGeom prst="rect">
            <a:avLst/>
          </a:prstGeom>
        </p:spPr>
      </p:pic>
      <p:pic>
        <p:nvPicPr>
          <p:cNvPr id="138" name="Picture 13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005840"/>
            <a:ext cx="4846320" cy="3877056"/>
          </a:xfrm>
          <a:prstGeom prst="rect">
            <a:avLst/>
          </a:prstGeom>
        </p:spPr>
      </p:pic>
      <p:pic>
        <p:nvPicPr>
          <p:cNvPr id="139" name="Picture 13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005840"/>
            <a:ext cx="4846320" cy="3877056"/>
          </a:xfrm>
          <a:prstGeom prst="rect">
            <a:avLst/>
          </a:prstGeom>
        </p:spPr>
      </p:pic>
      <p:pic>
        <p:nvPicPr>
          <p:cNvPr id="140" name="Picture 13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005840"/>
            <a:ext cx="4846320" cy="3877056"/>
          </a:xfrm>
          <a:prstGeom prst="rect">
            <a:avLst/>
          </a:prstGeom>
        </p:spPr>
      </p:pic>
      <p:pic>
        <p:nvPicPr>
          <p:cNvPr id="141" name="Picture 14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0" y="1005840"/>
            <a:ext cx="4846320" cy="38770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7"/>
          <p:cNvSpPr/>
          <p:nvPr/>
        </p:nvSpPr>
        <p:spPr>
          <a:xfrm>
            <a:off x="0" y="6508273"/>
            <a:ext cx="7686676" cy="338554"/>
          </a:xfrm>
          <a:custGeom>
            <a:rect b="b" l="l" r="r" t="t"/>
            <a:pathLst>
              <a:path extrusionOk="0" h="369332" w="6172200">
                <a:moveTo>
                  <a:pt x="0" y="0"/>
                </a:moveTo>
                <a:lnTo>
                  <a:pt x="5791200" y="0"/>
                </a:lnTo>
                <a:lnTo>
                  <a:pt x="6172200" y="369332"/>
                </a:lnTo>
                <a:lnTo>
                  <a:pt x="0" y="369332"/>
                </a:lnTo>
                <a:lnTo>
                  <a:pt x="0" y="0"/>
                </a:lnTo>
                <a:close/>
              </a:path>
            </a:pathLst>
          </a:custGeom>
          <a:solidFill>
            <a:srgbClr val="2E75B5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. GROW . EXCEL</a:t>
            </a:r>
            <a:endParaRPr/>
          </a:p>
        </p:txBody>
      </p:sp>
      <p:pic>
        <p:nvPicPr>
          <p:cNvPr id="140" name="Google Shape;140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448288" y="105155"/>
            <a:ext cx="619959" cy="706851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7"/>
          <p:cNvSpPr txBox="1"/>
          <p:nvPr/>
        </p:nvSpPr>
        <p:spPr>
          <a:xfrm>
            <a:off x="102417" y="22025"/>
            <a:ext cx="11965830" cy="6309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Timeline and Expected Outcomes</a:t>
            </a:r>
            <a:endParaRPr/>
          </a:p>
        </p:txBody>
      </p:sp>
      <p:sp>
        <p:nvSpPr>
          <p:cNvPr id="142" name="Google Shape;142;p7"/>
          <p:cNvSpPr txBox="1"/>
          <p:nvPr/>
        </p:nvSpPr>
        <p:spPr>
          <a:xfrm>
            <a:off x="102417" y="1166984"/>
            <a:ext cx="11803071" cy="51715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marR="0" rtl="0" algn="just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  <a:buClr>
                <a:schemeClr val="dk1"/>
              </a:buClr>
              <a:buSzPts val="3200"/>
              <a:buFont typeface="Arial"/>
              <a:buNone/>
            </a:pPr>
            <a:endParaRPr sz="3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graphicFrame>
        <p:nvGraphicFramePr>
          <p:cNvPr id="143" name="Table 142"/>
          <p:cNvGraphicFramePr>
            <a:graphicFrameLocks noGrp="1"/>
          </p:cNvGraphicFramePr>
          <p:nvPr/>
        </p:nvGraphicFramePr>
        <p:xfrm>
          <a:off x="457200" y="1005840"/>
          <a:ext cx="1124712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5303520"/>
                <a:gridCol w="4297680"/>
              </a:tblGrid>
              <a:tr h="950976"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Weeks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Tasks &amp; Technical Activities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Key Deliverables &amp; Milestones</a:t>
                      </a:r>
                    </a:p>
                  </a:txBody>
                  <a:tcPr>
                    <a:solidFill>
                      <a:srgbClr val="1B365D"/>
                    </a:solidFill>
                  </a:tcPr>
                </a:tc>
              </a:tr>
              <a:tr h="950976"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82828"/>
                          </a:solidFill>
                          <a:latin typeface="Calibri"/>
                        </a:rPr>
                        <a:t>Weeks 1 - 3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Data Pipeline &amp; Preprocessing: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- Parse legacy LSWMD.pkl (811,472 records)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- Patch pandas index unpickling compatibility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- Resize wafer maps to 224x224 grayscale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- Stratified 70/15/15 train/val/test 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- Custom pandas patch module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- Standardized dataset generator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- 8-class preprocessed image dataset (output/Dataset/)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82828"/>
                          </a:solidFill>
                          <a:latin typeface="Calibri"/>
                        </a:rPr>
                        <a:t>Weeks 4 - 6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Model Training &amp; Tuning: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- Fine-tune MobileNetV3-Small in PyTorch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- Apply transfer learning with Adam (lr=3e-4)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- Execute 8 training epochs with Cross-Entropy loss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- Monitor validation loss and accuracy metrics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- Trained PyTorch model weights (mobilenetv3_lswmd.pth)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- 98.02% overall test accuracy report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- Detailed training/validation log files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82828"/>
                          </a:solidFill>
                          <a:latin typeface="Calibri"/>
                        </a:rPr>
                        <a:t>Weeks 7 - 9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Model Export &amp; Optimization: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- Convert PyTorch weights to open ONNX format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- Configure opset 12 with dynamic batch size axes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- Validate ONNX Runtime session execution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- Generate classification metrics &amp; plots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- Optimized ONNX model file (model.onnx)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- Classification report &amp; metrics summary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- High-res confusion matrix heatmap plot</a:t>
                      </a:r>
                    </a:p>
                  </a:txBody>
                  <a:tcPr/>
                </a:tc>
              </a:tr>
              <a:tr h="950976">
                <a:tc>
                  <a:txBody>
                    <a:bodyPr/>
                    <a:lstStyle/>
                    <a:p>
                      <a:pPr algn="ctr"/>
                      <a:r>
                        <a:rPr sz="1000" b="1" i="0">
                          <a:solidFill>
                            <a:srgbClr val="282828"/>
                          </a:solidFill>
                          <a:latin typeface="Calibri"/>
                        </a:rPr>
                        <a:t>Weeks 10 - 12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Inference Engine &amp; CLI Validation: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- Develop standalone run_inference.py script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- Implement ImageNet tensor normalization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- Compute top-3 defect probability confidence scores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- Validate real-time single image CPU/edge inference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- Standalone inference engine script (run_inference.py)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- Dependency-free ONNX Runtime CLI tool</a:t>
                      </a:r>
                    </a:p>
                    <a:p>
                      <a:pPr algn="l"/>
                      <a:r>
                        <a:rPr sz="1000" b="0" i="0">
                          <a:solidFill>
                            <a:srgbClr val="282828"/>
                          </a:solidFill>
                          <a:latin typeface="Calibri"/>
                        </a:rPr>
                        <a:t>- Verified end-to-end classification pipeline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"/>
          <p:cNvSpPr/>
          <p:nvPr/>
        </p:nvSpPr>
        <p:spPr>
          <a:xfrm>
            <a:off x="0" y="6508273"/>
            <a:ext cx="7686676" cy="338554"/>
          </a:xfrm>
          <a:custGeom>
            <a:rect b="b" l="l" r="r" t="t"/>
            <a:pathLst>
              <a:path extrusionOk="0" h="369332" w="6172200">
                <a:moveTo>
                  <a:pt x="0" y="0"/>
                </a:moveTo>
                <a:lnTo>
                  <a:pt x="5791200" y="0"/>
                </a:lnTo>
                <a:lnTo>
                  <a:pt x="6172200" y="369332"/>
                </a:lnTo>
                <a:lnTo>
                  <a:pt x="0" y="369332"/>
                </a:lnTo>
                <a:lnTo>
                  <a:pt x="0" y="0"/>
                </a:lnTo>
                <a:close/>
              </a:path>
            </a:pathLst>
          </a:custGeom>
          <a:solidFill>
            <a:srgbClr val="2E75B5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. GROW . EXCEL</a:t>
            </a:r>
            <a:endParaRPr/>
          </a:p>
        </p:txBody>
      </p:sp>
      <p:pic>
        <p:nvPicPr>
          <p:cNvPr id="149" name="Google Shape;14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448288" y="105155"/>
            <a:ext cx="619959" cy="706851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8"/>
          <p:cNvSpPr txBox="1"/>
          <p:nvPr/>
        </p:nvSpPr>
        <p:spPr>
          <a:xfrm>
            <a:off x="0" y="55472"/>
            <a:ext cx="12192000" cy="6309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References</a:t>
            </a:r>
            <a:endParaRPr b="1" sz="3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51" name="Google Shape;151;p8"/>
          <p:cNvSpPr txBox="1"/>
          <p:nvPr/>
        </p:nvSpPr>
        <p:spPr>
          <a:xfrm>
            <a:off x="0" y="1293192"/>
            <a:ext cx="12192000" cy="51715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marR="0" rtl="0" algn="l">
              <a:lnSpc>
                <a:spcPct val="125000"/>
              </a:lnSpc>
              <a:spcBef>
                <a:spcPts val="0"/>
              </a:spcBef>
              <a:spcAft>
                <a:spcPts val="100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sz="1100" b="1" i="0">
                <a:solidFill>
                  <a:srgbClr val="1B365D"/>
                </a:solidFill>
                <a:latin typeface="Calibri"/>
              </a:rPr>
              <a:t>[1] </a:t>
            </a:r>
            <a:r>
              <a:rPr sz="1100" b="0" i="0">
                <a:solidFill>
                  <a:srgbClr val="282828"/>
                </a:solidFill>
                <a:latin typeface="Calibri"/>
              </a:rPr>
              <a:t>M. Saqlain, Q. Riaz, A. Shahzad, and P. M. Lee, </a:t>
            </a:r>
            <a:r>
              <a:rPr sz="1100" b="0" i="0">
                <a:solidFill>
                  <a:srgbClr val="282828"/>
                </a:solidFill>
                <a:latin typeface="Calibri"/>
              </a:rPr>
              <a:t>"A Voting Ensemble Classifier for Semiconductor Wafer Defect Pattern Identification," </a:t>
            </a:r>
            <a:r>
              <a:rPr sz="1100" b="0" i="1">
                <a:solidFill>
                  <a:srgbClr val="1B365D"/>
                </a:solidFill>
                <a:latin typeface="Calibri"/>
              </a:rPr>
              <a:t>IEEE Access</a:t>
            </a:r>
            <a:r>
              <a:rPr sz="1100" b="0" i="0">
                <a:solidFill>
                  <a:srgbClr val="282828"/>
                </a:solidFill>
                <a:latin typeface="Calibri"/>
              </a:rPr>
              <a:t>, vol. 7, pp. 100415-100427, Jul. 2019.</a:t>
            </a:r>
            <a:endParaRPr sz="2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l">
              <a:spcAft>
                <a:spcPts val="1000"/>
              </a:spcAft>
            </a:pPr>
            <a:r>
              <a:rPr sz="1100" b="1" i="0">
                <a:solidFill>
                  <a:srgbClr val="1B365D"/>
                </a:solidFill>
                <a:latin typeface="Calibri"/>
              </a:rPr>
              <a:t>[2] </a:t>
            </a:r>
            <a:r>
              <a:rPr sz="1100" b="0" i="0">
                <a:solidFill>
                  <a:srgbClr val="282828"/>
                </a:solidFill>
                <a:latin typeface="Calibri"/>
              </a:rPr>
              <a:t>T. Nakazawa and D. Kulkarni, </a:t>
            </a:r>
            <a:r>
              <a:rPr sz="1100" b="0" i="0">
                <a:solidFill>
                  <a:srgbClr val="282828"/>
                </a:solidFill>
                <a:latin typeface="Calibri"/>
              </a:rPr>
              <a:t>"Wafer Map Defect Pattern Classification and Hierarchical Feature Extraction Using Convolutional Neural Networks," </a:t>
            </a:r>
            <a:r>
              <a:rPr sz="1100" b="0" i="1">
                <a:solidFill>
                  <a:srgbClr val="1B365D"/>
                </a:solidFill>
                <a:latin typeface="Calibri"/>
              </a:rPr>
              <a:t>IEEE Transactions on Semiconductor Manufacturing</a:t>
            </a:r>
            <a:r>
              <a:rPr sz="1100" b="0" i="0">
                <a:solidFill>
                  <a:srgbClr val="282828"/>
                </a:solidFill>
                <a:latin typeface="Calibri"/>
              </a:rPr>
              <a:t>, vol. 31, no. 2, pp. 318-324, May 2018.</a:t>
            </a:r>
          </a:p>
          <a:p>
            <a:pPr algn="l">
              <a:spcAft>
                <a:spcPts val="1000"/>
              </a:spcAft>
            </a:pPr>
            <a:r>
              <a:rPr sz="1100" b="1" i="0">
                <a:solidFill>
                  <a:srgbClr val="1B365D"/>
                </a:solidFill>
                <a:latin typeface="Calibri"/>
              </a:rPr>
              <a:t>[3] </a:t>
            </a:r>
            <a:r>
              <a:rPr sz="1100" b="0" i="0">
                <a:solidFill>
                  <a:srgbClr val="282828"/>
                </a:solidFill>
                <a:latin typeface="Calibri"/>
              </a:rPr>
              <a:t>A. Howard, M. Sandler, G. Chu, L. C. Chen, B. Chen, M. Tan, W. Wang, Y. Yukun, R. Vasudevan, A. Le, and H. Adam, </a:t>
            </a:r>
            <a:r>
              <a:rPr sz="1100" b="0" i="0">
                <a:solidFill>
                  <a:srgbClr val="282828"/>
                </a:solidFill>
                <a:latin typeface="Calibri"/>
              </a:rPr>
              <a:t>"Searching for MobileNetV3," in </a:t>
            </a:r>
            <a:r>
              <a:rPr sz="1100" b="0" i="1">
                <a:solidFill>
                  <a:srgbClr val="1B365D"/>
                </a:solidFill>
                <a:latin typeface="Calibri"/>
              </a:rPr>
              <a:t>Proc. IEEE/CVF Int. Conf. Comput. Vis. (ICCV)</a:t>
            </a:r>
            <a:r>
              <a:rPr sz="1100" b="0" i="0">
                <a:solidFill>
                  <a:srgbClr val="282828"/>
                </a:solidFill>
                <a:latin typeface="Calibri"/>
              </a:rPr>
              <a:t>, Seoul, South Korea, Oct. 2019, pp. 1314-1324.</a:t>
            </a:r>
          </a:p>
          <a:p>
            <a:pPr algn="l">
              <a:spcAft>
                <a:spcPts val="1000"/>
              </a:spcAft>
            </a:pPr>
            <a:r>
              <a:rPr sz="1100" b="1" i="0">
                <a:solidFill>
                  <a:srgbClr val="1B365D"/>
                </a:solidFill>
                <a:latin typeface="Calibri"/>
              </a:rPr>
              <a:t>[4] </a:t>
            </a:r>
            <a:r>
              <a:rPr sz="1100" b="0" i="0">
                <a:solidFill>
                  <a:srgbClr val="282828"/>
                </a:solidFill>
                <a:latin typeface="Calibri"/>
              </a:rPr>
              <a:t>J. S. Im, J. H. Lee, and J. G. Park, </a:t>
            </a:r>
            <a:r>
              <a:rPr sz="1100" b="0" i="0">
                <a:solidFill>
                  <a:srgbClr val="282828"/>
                </a:solidFill>
                <a:latin typeface="Calibri"/>
              </a:rPr>
              <a:t>"Lightweight Deep Learning Architecture for Real-Time Wafer Defect Pattern Classification," </a:t>
            </a:r>
            <a:r>
              <a:rPr sz="1100" b="0" i="1">
                <a:solidFill>
                  <a:srgbClr val="1B365D"/>
                </a:solidFill>
                <a:latin typeface="Calibri"/>
              </a:rPr>
              <a:t>IEEE Transactions on Industrial Electronics</a:t>
            </a:r>
            <a:r>
              <a:rPr sz="1100" b="0" i="0">
                <a:solidFill>
                  <a:srgbClr val="282828"/>
                </a:solidFill>
                <a:latin typeface="Calibri"/>
              </a:rPr>
              <a:t>, vol. 68, no. 9, pp. 8850-8859, Sep. 2021.</a:t>
            </a:r>
          </a:p>
        </p:txBody>
      </p:sp>
      <p:sp>
        <p:nvSpPr>
          <p:cNvPr id="152" name="Google Shape;152;p8"/>
          <p:cNvSpPr txBox="1"/>
          <p:nvPr/>
        </p:nvSpPr>
        <p:spPr>
          <a:xfrm>
            <a:off x="230124" y="855565"/>
            <a:ext cx="11731752" cy="10156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457200" lvl="0" marL="4572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</a:pP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9"/>
          <p:cNvSpPr/>
          <p:nvPr/>
        </p:nvSpPr>
        <p:spPr>
          <a:xfrm>
            <a:off x="0" y="6508273"/>
            <a:ext cx="7686676" cy="338554"/>
          </a:xfrm>
          <a:custGeom>
            <a:rect b="b" l="l" r="r" t="t"/>
            <a:pathLst>
              <a:path extrusionOk="0" h="369332" w="6172200">
                <a:moveTo>
                  <a:pt x="0" y="0"/>
                </a:moveTo>
                <a:lnTo>
                  <a:pt x="5791200" y="0"/>
                </a:lnTo>
                <a:lnTo>
                  <a:pt x="6172200" y="369332"/>
                </a:lnTo>
                <a:lnTo>
                  <a:pt x="0" y="369332"/>
                </a:lnTo>
                <a:lnTo>
                  <a:pt x="0" y="0"/>
                </a:lnTo>
                <a:close/>
              </a:path>
            </a:pathLst>
          </a:custGeom>
          <a:solidFill>
            <a:srgbClr val="2E75B5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. GROW . EXCEL</a:t>
            </a:r>
            <a:endParaRPr/>
          </a:p>
        </p:txBody>
      </p:sp>
      <p:pic>
        <p:nvPicPr>
          <p:cNvPr id="159" name="Google Shape;159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448288" y="105155"/>
            <a:ext cx="619959" cy="706851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9"/>
          <p:cNvSpPr txBox="1"/>
          <p:nvPr/>
        </p:nvSpPr>
        <p:spPr>
          <a:xfrm>
            <a:off x="0" y="3006490"/>
            <a:ext cx="12192000" cy="6309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5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Thank You</a:t>
            </a:r>
            <a:endParaRPr b="1" sz="35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1" name="Google Shape;161;p9"/>
          <p:cNvSpPr txBox="1"/>
          <p:nvPr/>
        </p:nvSpPr>
        <p:spPr>
          <a:xfrm>
            <a:off x="0" y="1293192"/>
            <a:ext cx="12192000" cy="517152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marL="0" marR="0" rtl="0"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  <a:buClr>
                <a:schemeClr val="dk1"/>
              </a:buClr>
              <a:buSzPts val="2800"/>
              <a:buFont typeface="Arial"/>
              <a:buNone/>
            </a:pPr>
            <a:r>
              <a:rPr sz="1500" b="1" i="0">
                <a:solidFill>
                  <a:srgbClr val="1B365D"/>
                </a:solidFill>
                <a:latin typeface="Calibri"/>
              </a:rPr>
              <a:t>THANK YOU</a:t>
            </a:r>
            <a:endParaRPr sz="29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lvl="1">
              <a:spcAft>
                <a:spcPts val="300"/>
              </a:spcAft>
            </a:pPr>
            <a:r>
              <a:rPr sz="1300" b="0" i="0">
                <a:solidFill>
                  <a:srgbClr val="282828"/>
                </a:solidFill>
                <a:latin typeface="Calibri"/>
              </a:rPr>
              <a:t>Questions &amp; Discussion</a:t>
            </a:r>
          </a:p>
          <a:p>
            <a:pPr lvl="1">
              <a:spcAft>
                <a:spcPts val="300"/>
              </a:spcAft>
            </a:pPr>
          </a:p>
          <a:p>
            <a:pPr lvl="1">
              <a:spcAft>
                <a:spcPts val="300"/>
              </a:spcAft>
            </a:pPr>
            <a:r>
              <a:rPr sz="1300" b="0" i="0">
                <a:solidFill>
                  <a:srgbClr val="282828"/>
                </a:solidFill>
                <a:latin typeface="Calibri"/>
              </a:rPr>
              <a:t>Project Title: End-to-End Deep Learning Pipeline for Automated Semiconductor Wafer Defect Classification</a:t>
            </a:r>
          </a:p>
          <a:p>
            <a:pPr lvl="1">
              <a:spcAft>
                <a:spcPts val="300"/>
              </a:spcAft>
            </a:pPr>
            <a:r>
              <a:rPr sz="1300" b="0" i="0">
                <a:solidFill>
                  <a:srgbClr val="282828"/>
                </a:solidFill>
                <a:latin typeface="Calibri"/>
              </a:rPr>
              <a:t>Team Members: Adithyan B (MGP23EVLSI001) | Anna Boban (MGP23EVLSI002) | Noopa Maria Rojan (MGP23EVLSI009)</a:t>
            </a:r>
          </a:p>
          <a:p>
            <a:pPr lvl="1">
              <a:spcAft>
                <a:spcPts val="300"/>
              </a:spcAft>
            </a:pPr>
            <a:r>
              <a:rPr sz="1300" b="0" i="0">
                <a:solidFill>
                  <a:srgbClr val="282828"/>
                </a:solidFill>
                <a:latin typeface="Calibri"/>
              </a:rPr>
              <a:t>Supervisor: Er. Justin Mathew, Assistant Professor, Dept. of Computer Science &amp; Engineering</a:t>
            </a:r>
          </a:p>
          <a:p>
            <a:pPr lvl="1">
              <a:spcAft>
                <a:spcPts val="300"/>
              </a:spcAft>
            </a:pPr>
            <a:r>
              <a:rPr sz="1300" b="0" i="0">
                <a:solidFill>
                  <a:srgbClr val="282828"/>
                </a:solidFill>
                <a:latin typeface="Calibri"/>
              </a:rPr>
              <a:t>Institution: Saintgits College of Engineering (Autonomous)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Abraham</dc:creator>
</cp:coreProperties>
</file>