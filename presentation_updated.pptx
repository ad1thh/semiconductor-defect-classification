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LdTtvIMPUDA03FOF5xNrAjTC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3D173D-958C-4913-BEFD-EE16810520BD}">
  <a:tblStyle styleId="{D83D173D-958C-4913-BEFD-EE16810520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GillSans-regular.fntdata"/><Relationship Id="rId16" Type="http://schemas.openxmlformats.org/officeDocument/2006/relationships/font" Target="fonts/GillSans-bold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822249" y="70541"/>
            <a:ext cx="787039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SAINTGITS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COLLEGE OF ENGINEERING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(AUTONOMOUS)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0" y="6407689"/>
            <a:ext cx="7686676" cy="461665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724" y="88460"/>
            <a:ext cx="956075" cy="1090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type="ctrTitle"/>
          </p:nvPr>
        </p:nvSpPr>
        <p:spPr>
          <a:xfrm>
            <a:off x="0" y="2573350"/>
            <a:ext cx="12192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30"/>
              <a:buFont typeface="Times New Roman"/>
              <a:buNone/>
            </a:pPr>
            <a:r>
              <a:rPr b="1" lang="en-US" sz="3230">
                <a:latin typeface="Times New Roman"/>
                <a:ea typeface="Times New Roman"/>
                <a:cs typeface="Times New Roman"/>
                <a:sym typeface="Times New Roman"/>
              </a:rPr>
              <a:t>End-to-End Deep Learning Pipeline for Automated Semiconductor Wafer  Defect Classification with ONNX Optimization</a:t>
            </a:r>
            <a:endParaRPr b="1" sz="32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71490" y="4325689"/>
            <a:ext cx="5380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b="1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ADITHYAN B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MGP23EVLSI001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ANNA BOBAN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MGP23EVLSI002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NOOPA MARIA ROJAN (MGP23EVLSI009)</a:t>
            </a:r>
            <a:endParaRPr b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531608" y="4344964"/>
            <a:ext cx="4236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SUPERVISOR:</a:t>
            </a:r>
            <a:endParaRPr b="1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ER. JUSTIN MATHEW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01168" y="3429000"/>
            <a:ext cx="1156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PROJECT AREA : Machine Learning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29491" y="1178537"/>
            <a:ext cx="113388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MINI PROJECT PHASE - 1</a:t>
            </a:r>
            <a:br>
              <a:rPr b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ZEROTH REVIEW</a:t>
            </a:r>
            <a:endParaRPr b="1" sz="2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220979" y="20271"/>
            <a:ext cx="11730229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2"/>
          <p:cNvGraphicFramePr/>
          <p:nvPr/>
        </p:nvGraphicFramePr>
        <p:xfrm>
          <a:off x="457200" y="1005840"/>
          <a:ext cx="11247120" cy="4389120"/>
        </p:xfrm>
        <a:graphic>
          <a:graphicData uri="http://schemas.openxmlformats.org/drawingml/2006/table">
            <a:tbl>
              <a:tblPr bandRow="1" firstRow="1">
                <a:noFill/>
                <a:tableStyleId>{D83D173D-958C-4913-BEFD-EE16810520BD}</a:tableStyleId>
              </a:tblPr>
              <a:tblGrid>
                <a:gridCol w="822960"/>
                <a:gridCol w="2926080"/>
                <a:gridCol w="3931920"/>
                <a:gridCol w="3566160"/>
              </a:tblGrid>
              <a:tr h="6826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Ref No.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Paper Title &amp; Authors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Summary &amp; Methodology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Limitations &amp; Gaps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</a:tr>
              <a:tr h="16547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Wafer Map Defect Pattern Classification... (Nakazawa &amp; Kulkarni, 2018)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Proposed a CNN framework to automatically classify topological wafer defect patterns from raw sensor map data.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High computational complexity; heavy model architecture not optimized for real-time fab edge deployment.</a:t>
                      </a:r>
                    </a:p>
                  </a:txBody>
                  <a:tcPr marT="45725" marB="45725" marR="91450" marL="91450"/>
                </a:tc>
              </a:tr>
              <a:tr h="16547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A Voting Ensemble Classifier for Semiconductor Wafer Defect... (Saqlain et al., 2019)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Combined SVM, Random Forest, and CNN models in a voting ensemble for 8-class defect pattern identification.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Ensemble approach increases memory footprint and inference latency, hindering high-throughput inline inspection.</a:t>
                      </a:r>
                    </a:p>
                  </a:txBody>
                  <a:tcPr marT="45725" marB="45725" marR="91450" marL="91450"/>
                </a:tc>
              </a:tr>
              <a:tr h="16547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Lightweight Deep Learning for Real-Time Wafer Classification (Im et al., 2021)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Utilized MobileNet variants to reduce parameter size for wafer defect identification on WM-811K.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Lacked cross-platform serialization (ONNX/TensorRT) and automated end-to-end legacy dataset preprocessing engine.</a:t>
                      </a: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0" y="13907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88976" y="903254"/>
            <a:ext cx="11814048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marL="22860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400" b="1" i="0">
                <a:solidFill>
                  <a:srgbClr val="1B365D"/>
                </a:solidFill>
                <a:latin typeface="Calibri"/>
              </a:rPr>
              <a:t>High Manual Inspection Overhead &amp; Defect Escape Rates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Semiconductor fabrication generates thousands of wafer maps daily; manual visual inspection is slow, subjective, and prone to operator fatigue.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Undetected defect patterns cause severe yield loss and costly late-stage chip failures.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Heavy Model Computational Overhead at Fab Edge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Conventional deep learning models (ResNet, VGG) possess large memory footprints and high latency.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Modern semiconductor fabrication equipment requires inline, real-time defect classification at the edge with minimal latency.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Legacy Dataset Format &amp; Data Preprocessing Bottlenecks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Industry standard WM-811K dataset is stored in legacy pickle formats causing version incompatibility across modern Python/Pandas environments.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Absence of an automated, end-to-end data pipeline from raw pickle files to standardized image tensors.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Lack of Portable Cross-Platform ONNX Runtime Engine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PyTorch model dependencies limit deployment on edge microcontrollers and custom silicon inspect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0" y="13907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188976" y="903254"/>
            <a:ext cx="11814048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marL="22860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400" b="1" i="0">
                <a:solidFill>
                  <a:srgbClr val="1B365D"/>
                </a:solidFill>
                <a:latin typeface="Calibri"/>
              </a:rPr>
              <a:t>1. Automated Legacy Data Processing Engine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Develop a robust ETL engine to parse legacy pandas pickle datasets (WM-811K) into 8 standardized defect classes: clean, center, donut, edge_loc, edge_ring, loc, scratch, other.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2. Lightweight MobileNetV3-Small Classifier Training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Fine-tune a lightweight MobileNetV3-Small CNN in PyTorch using transfer learning, achieving &gt;98% overall accuracy while minimizing parameters.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3. Comprehensive Performance Benchmarking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Evaluate metrics (Precision, Recall, Macro F1, Confusion Matrix) over 121,000+ test wafer samples across 8 epochs.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4. ONNX Export &amp; Low-Latency Edge Deployment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Export trained PyTorch weights to ONNX format (opset 12) with dynamic batch support and build a standalone ONNX Runtime execution script (run_inference.py).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0" y="0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365760" y="868680"/>
            <a:ext cx="64008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300" b="1" i="0">
                <a:solidFill>
                  <a:srgbClr val="1B365D"/>
                </a:solidFill>
                <a:latin typeface="Calibri"/>
              </a:rPr>
              <a:t>A. Data Preprocessing &amp; Stratified Pipeline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Parsing: WM-811K (811,472 wafer maps) parsed via custom pandas patch.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Conversion: Wafer maps resized to 224x224 grayscale &amp; normalized (0-255).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Data Split: Stratified train/validation/test split (70% / 15% / 15%).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B. Model Architecture &amp; Fine-Tuning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MobileNetV3-Small: Depthwise separable convolutions &amp; hard-swish activation.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Custom Head: Modified final linear layer for 8 target wafer defect categories.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Training: Adam optimizer (lr=3e-4), Cross-Entropy loss, batch size 32, 8 epochs.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C. ONNX Optimization &amp; Edge Inference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Export: PyTorch model converted to model.onnx (opset 12, dynamic batch).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Execution: Standalone run_inference.py using ONNX Runtime on CPU/Edge.</a:t>
            </a:r>
          </a:p>
        </p:txBody>
      </p:sp>
      <p:pic>
        <p:nvPicPr>
          <p:cNvPr id="134" name="Picture 133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102417" y="22025"/>
            <a:ext cx="1196583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and Expected Outcomes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300" b="1" i="0">
                <a:solidFill>
                  <a:srgbClr val="1B365D"/>
                </a:solidFill>
                <a:latin typeface="Calibri"/>
              </a:rPr>
              <a:t>Phase 1 Accomplishments (Weeks 1 - 9) [COMPLETED]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Data Pipeline: Built robust legacy pickle parsing script and dataset generator for 8 defect classes.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Model Training: Fine-tuned MobileNetV3-Small achieving 98.02% overall test accuracy.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Model Export: Successfully exported PyTorch model to ONNX format (model.onnx).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Inference Engine: Built and validated standalone run_inference.py script.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Phase 2 Future Roadmap (Weeks 10 - 12) [PLANNED]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Edge Quantization: Apply INT8 / FP16 dynamic quantization for 4x memory reduction.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Hardware Benchmarking: Test ONNX Runtime latency on embedded edge hardware (NVIDIA Jetson / Raspberry Pi).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Web Dashboard Integration: Develop an interactive GUI for fab operators to upload wafer maps and visualize defect heatmaps.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Key Deliverables &amp; Expected Impact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End-to-end automated Python pipeline, lightweight ONNX model (&lt;10MB), and &gt;98% accuracy on 121k test wafers.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0" y="55472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0" y="1293192"/>
            <a:ext cx="12192000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300" b="1" i="0">
                <a:solidFill>
                  <a:srgbClr val="1B365D"/>
                </a:solidFill>
                <a:latin typeface="Calibri"/>
              </a:rPr>
              <a:t>[1] M. Saqlain, Q. Riaz, A. Shahzad et al.,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"A Voting Ensemble Classifier for Semiconductor Wafer Defect Pattern Identification," in IEEE Access, vol. 7, pp. 100415-100427, 2019.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[2] T. Nakazawa and D. Kulkarni,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"Wafer Map Defect Pattern Classification and Hierarchical Feature Extraction Using Convolutional Neural Networks," in IEEE Transactions on Semiconductor Manufacturing, vol. 31, no. 2, pp. 318-324, May 2018.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[3] A. Howard, M. Sandler, G. Chu et al.,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"Searching for MobileNetV3," in IEEE/CVF International Conference on Computer Vision (ICCV), 2019, pp. 1314-1324.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[4] J. S. Im et al.,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"Lightweight Deep Learning Architecture for Real-Time Wafer Defect Pattern Classification," in IEEE Transactions on Industrial Electronics, vol. 68, no. 9, pp. 8850-8859, 2021.</a:t>
            </a:r>
          </a:p>
        </p:txBody>
      </p:sp>
      <p:sp>
        <p:nvSpPr>
          <p:cNvPr id="152" name="Google Shape;152;p8"/>
          <p:cNvSpPr txBox="1"/>
          <p:nvPr/>
        </p:nvSpPr>
        <p:spPr>
          <a:xfrm>
            <a:off x="230124" y="855565"/>
            <a:ext cx="1173175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0" y="3006490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0" y="1293192"/>
            <a:ext cx="12192000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500" b="1" i="0">
                <a:solidFill>
                  <a:srgbClr val="1B365D"/>
                </a:solidFill>
                <a:latin typeface="Calibri"/>
              </a:rPr>
              <a:t>THANK YOU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Questions &amp; Discussion</a:t>
            </a:r>
          </a:p>
          <a:p>
            <a:pPr lvl="1">
              <a:spcAft>
                <a:spcPts val="300"/>
              </a:spcAft>
            </a:pP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Project Title: End-to-End Deep Learning Pipeline for Automated Semiconductor Wafer Defect Classification</a:t>
            </a: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Team Members: Adithyan B (MGP23EVLSI001) | Anna Boban (MGP23EVLSI002) | Noopa Maria Rojan (MGP23EVLSI009)</a:t>
            </a: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Supervisor: Er. Justin Mathew, Assistant Professor, Dept. of Computer Science &amp; Engineering</a:t>
            </a: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Institution: Saintgits College of Engineering (Autonomous)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Abraham</dc:creator>
</cp:coreProperties>
</file>