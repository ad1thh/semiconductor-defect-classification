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8"/>
  </p:notesMasterIdLst>
  <p:sldIdLst>
    <p:sldId id="304" r:id="rId3"/>
    <p:sldId id="305" r:id="rId4"/>
    <p:sldId id="306" r:id="rId5"/>
    <p:sldId id="307" r:id="rId6"/>
    <p:sldId id="308" r:id="rId7"/>
    <p:sldId id="310" r:id="rId8"/>
    <p:sldId id="311" r:id="rId9"/>
    <p:sldId id="316" r:id="rId12"/>
    <p:sldId id="318" r:id="rId14"/>
    <p:sldId id="322" r:id="rId16"/>
    <p:sldId id="323" r:id="rId17"/>
  </p:sldIdLst>
  <p:sldSz cx="12192000" cy="6858000"/>
  <p:notesSz cx="6858000" cy="9144000"/>
  <p:embeddedFontLst>
    <p:embeddedFont>
      <p:font typeface="Gill Sans"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jBb728hTyzQUlTTKdw7QOtHtbL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4EAD6-1D21-4CFA-A1BF-962E5395714D}" v="18" dt="2025-08-27T07:02:55.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38" Type="http://customschemas.google.com/relationships/presentationmetadata" Target="metadata"/><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a:spLocks noGrp="1"/>
          </p:cNvSpPr>
          <p:nvPr>
            <p:ph type="pic" idx="2"/>
          </p:nvPr>
        </p:nvSpPr>
        <p:spPr>
          <a:xfrm>
            <a:off x="5183188" y="987425"/>
            <a:ext cx="6172200" cy="4873625"/>
          </a:xfrm>
          <a:prstGeom prst="rect">
            <a:avLst/>
          </a:prstGeom>
          <a:noFill/>
          <a:ln>
            <a:noFill/>
          </a:ln>
        </p:spPr>
      </p:sp>
      <p:sp>
        <p:nvSpPr>
          <p:cNvPr id="68" name="Google Shape;68;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94" name="Google Shape;94;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95" name="Google Shape;95;p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3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3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3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349100" y="2194559"/>
            <a:ext cx="9238500" cy="974915"/>
          </a:xfrm>
          <a:prstGeom prst="rect">
            <a:avLst/>
          </a:prstGeom>
          <a:noFill/>
          <a:ln>
            <a:noFill/>
          </a:ln>
        </p:spPr>
        <p:txBody>
          <a:bodyPr spcFirstLastPara="1" wrap="square" lIns="91425" tIns="45700" rIns="91425" bIns="45700" anchor="b" anchorCtr="0">
            <a:normAutofit/>
          </a:bodyPr>
          <a:lstStyle/>
          <a:p>
            <a:pPr marL="0" lvl="0" indent="0" rtl="0" algn="l">
              <a:lnSpc>
                <a:spcPct val="90000"/>
              </a:lnSpc>
              <a:spcBef>
                <a:spcPts val="0"/>
              </a:spcBef>
              <a:spcAft>
                <a:spcPts val="0"/>
              </a:spcAft>
              <a:buClr>
                <a:schemeClr val="dk1"/>
              </a:buClr>
              <a:buSzPts val="4400"/>
              <a:buFont typeface="Times New Roman"/>
              <a:buNone/>
            </a:pPr>
            <a:r>
              <a:rPr sz="2600" b="1">
                <a:solidFill>
                  <a:srgbClr val="0F172A"/>
                </a:solidFill>
                <a:latin typeface="Times New Roman"/>
              </a:rPr>
              <a:t>AUTOMATED SEMICONDUCTOR WAFER DEFECT CLASSIFICATION USING DEEP LEARNING FOR REAL-TIME AOI SYSTEMS</a:t>
            </a:r>
            <a:endParaRPr sz="4400" b="1" dirty="0">
              <a:latin typeface="Times New Roman"/>
              <a:ea typeface="Times New Roman"/>
              <a:cs typeface="Times New Roman"/>
              <a:sym typeface="Times New Roman"/>
            </a:endParaRPr>
          </a:p>
        </p:txBody>
      </p:sp>
      <p:sp>
        <p:nvSpPr>
          <p:cNvPr id="101" name="Google Shape;101;p1"/>
          <p:cNvSpPr txBox="1">
            <a:spLocks noGrp="1"/>
          </p:cNvSpPr>
          <p:nvPr>
            <p:ph type="subTitle" idx="1"/>
          </p:nvPr>
        </p:nvSpPr>
        <p:spPr>
          <a:xfrm>
            <a:off x="6636774" y="3350000"/>
            <a:ext cx="5555100" cy="2900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None/>
            </a:pPr>
            <a:r>
              <a:rPr sz="1800" b="1">
                <a:solidFill>
                  <a:srgbClr val="0F172A"/>
                </a:solidFill>
                <a:latin typeface="Times New Roman"/>
              </a:rPr>
              <a:t>PROJECT ASSOCIATES:</a:t>
            </a:r>
            <a:endParaRPr sz="2000" dirty="0">
              <a:solidFill>
                <a:schemeClr val="dk1"/>
              </a:solidFill>
              <a:latin typeface="Times New Roman"/>
              <a:ea typeface="Times New Roman"/>
              <a:cs typeface="Times New Roman"/>
              <a:sym typeface="Times New Roman"/>
            </a:endParaRPr>
          </a:p>
          <a:p>
            <a:pPr algn="l"/>
            <a:r>
              <a:rPr sz="1600" b="0">
                <a:solidFill>
                  <a:srgbClr val="1E293B"/>
                </a:solidFill>
                <a:latin typeface="Times New Roman"/>
              </a:rPr>
              <a:t>• ADITHYAN B (Reg No: MGP23EVLSI001)</a:t>
            </a:r>
          </a:p>
          <a:p>
            <a:pPr algn="l"/>
            <a:r>
              <a:rPr sz="1600" b="0">
                <a:solidFill>
                  <a:srgbClr val="1E293B"/>
                </a:solidFill>
                <a:latin typeface="Times New Roman"/>
              </a:rPr>
              <a:t>• ANNA BOBAN (Reg No: MGP23EVLSI002)</a:t>
            </a:r>
          </a:p>
          <a:p>
            <a:pPr algn="l"/>
            <a:r>
              <a:rPr sz="1600" b="0">
                <a:solidFill>
                  <a:srgbClr val="1E293B"/>
                </a:solidFill>
                <a:latin typeface="Times New Roman"/>
              </a:rPr>
              <a:t>• NOOPA MARIA ROJAN (Reg No: MGP23EVLSI009)</a:t>
            </a:r>
          </a:p>
          <a:p>
            <a:pPr algn="l"/>
          </a:p>
          <a:p>
            <a:pPr algn="l"/>
            <a:r>
              <a:rPr sz="1600" b="1">
                <a:solidFill>
                  <a:srgbClr val="0284C7"/>
                </a:solidFill>
                <a:latin typeface="Times New Roman"/>
              </a:rPr>
              <a:t>Department of Electronics &amp; Communication Engineering</a:t>
            </a:r>
          </a:p>
          <a:p>
            <a:pPr algn="l"/>
            <a:r>
              <a:rPr sz="1500" b="0">
                <a:solidFill>
                  <a:srgbClr val="1E293B"/>
                </a:solidFill>
                <a:latin typeface="Times New Roman"/>
              </a:rPr>
              <a:t>Saintgits College of Engineering (Autonomous), Kottayam</a:t>
            </a:r>
          </a:p>
          <a:p>
            <a:pPr algn="l"/>
            <a:r>
              <a:rPr sz="1400" b="1">
                <a:solidFill>
                  <a:srgbClr val="0F172A"/>
                </a:solidFill>
                <a:latin typeface="Times New Roman"/>
              </a:rPr>
              <a:t>B.Tech Mini Project Final Internal Review • October 2026</a:t>
            </a:r>
          </a:p>
        </p:txBody>
      </p:sp>
      <p:sp>
        <p:nvSpPr>
          <p:cNvPr id="102" name="Google Shape;102;p1"/>
          <p:cNvSpPr txBox="1"/>
          <p:nvPr/>
        </p:nvSpPr>
        <p:spPr>
          <a:xfrm>
            <a:off x="540774" y="4368955"/>
            <a:ext cx="35199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sz="1800" b="1">
                <a:solidFill>
                  <a:srgbClr val="0F172A"/>
                </a:solidFill>
                <a:latin typeface="Times New Roman"/>
              </a:rPr>
              <a:t>PROJECT SUPERVISOR:</a:t>
            </a:r>
            <a:endParaRPr sz="2000" dirty="0"/>
          </a:p>
          <a:p>
            <a:pPr algn="l"/>
            <a:r>
              <a:rPr sz="1800" b="1">
                <a:solidFill>
                  <a:srgbClr val="0284C7"/>
                </a:solidFill>
                <a:latin typeface="Times New Roman"/>
              </a:rPr>
              <a:t>Er. JUSTIN MATHEW</a:t>
            </a:r>
          </a:p>
          <a:p>
            <a:pPr algn="l"/>
            <a:r>
              <a:rPr sz="1500" b="0">
                <a:solidFill>
                  <a:srgbClr val="1E293B"/>
                </a:solidFill>
                <a:latin typeface="Times New Roman"/>
              </a:rPr>
              <a:t>Assistant Professor, Dept. of ECE</a:t>
            </a:r>
          </a:p>
        </p:txBody>
      </p:sp>
      <p:sp>
        <p:nvSpPr>
          <p:cNvPr id="103" name="Google Shape;103;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1</a:t>
            </a:r>
            <a:endParaRPr/>
          </a:p>
        </p:txBody>
      </p:sp>
      <p:pic>
        <p:nvPicPr>
          <p:cNvPr id="104" name="Google Shape;104;p1"/>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105" name="Google Shape;105;p1"/>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106" name="Google Shape;106;p1"/>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2</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INTRODUCTION</a:t>
            </a:r>
            <a:endParaRPr sz="3600" b="1" dirty="0">
              <a:latin typeface="Times New Roman"/>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126" name="TextBox 125"/>
          <p:cNvSpPr txBox="1"/>
          <p:nvPr/>
        </p:nvSpPr>
        <p:spPr>
          <a:xfrm>
            <a:off x="731520" y="1920240"/>
            <a:ext cx="10698480" cy="4114800"/>
          </a:xfrm>
          <a:prstGeom prst="rect">
            <a:avLst/>
          </a:prstGeom>
          <a:noFill/>
        </p:spPr>
        <p:txBody>
          <a:bodyPr wrap="square">
            <a:spAutoFit/>
          </a:bodyPr>
          <a:lstStyle/>
          <a:p>
            <a:pPr>
              <a:spcBef>
                <a:spcPts val="800"/>
              </a:spcBef>
              <a:spcAft>
                <a:spcPts val="200"/>
              </a:spcAft>
            </a:pPr>
            <a:r>
              <a:rPr sz="2200" b="1">
                <a:solidFill>
                  <a:srgbClr val="0284C7"/>
                </a:solidFill>
                <a:latin typeface="Times New Roman"/>
              </a:rPr>
              <a:t>Semiconductor Fabrication Complexity</a:t>
            </a:r>
          </a:p>
          <a:p>
            <a:pPr>
              <a:spcBef>
                <a:spcPts val="200"/>
              </a:spcBef>
              <a:spcAft>
                <a:spcPts val="400"/>
              </a:spcAft>
            </a:pPr>
            <a:r>
              <a:rPr sz="1800" b="0">
                <a:solidFill>
                  <a:srgbClr val="1E293B"/>
                </a:solidFill>
                <a:latin typeface="Times New Roman"/>
              </a:rPr>
              <a:t>•  Modern integrated circuit fabrication operates at deep sub-micron nodes on 300 mm silicon wafers, spanning over 500 physical and chemical processing steps.</a:t>
            </a:r>
          </a:p>
          <a:p>
            <a:pPr>
              <a:spcBef>
                <a:spcPts val="200"/>
              </a:spcBef>
              <a:spcAft>
                <a:spcPts val="400"/>
              </a:spcAft>
            </a:pPr>
            <a:r>
              <a:rPr sz="1800" b="0">
                <a:solidFill>
                  <a:srgbClr val="1E293B"/>
                </a:solidFill>
                <a:latin typeface="Times New Roman"/>
              </a:rPr>
              <a:t>•  A single microscopic defect during deposition, photolithography, or chemical-mechanical planarization (CMP) can render hundreds of chips inoperable.</a:t>
            </a:r>
          </a:p>
          <a:p>
            <a:pPr>
              <a:spcBef>
                <a:spcPts val="800"/>
              </a:spcBef>
              <a:spcAft>
                <a:spcPts val="200"/>
              </a:spcAft>
            </a:pPr>
            <a:r>
              <a:rPr sz="2200" b="1">
                <a:solidFill>
                  <a:srgbClr val="0284C7"/>
                </a:solidFill>
                <a:latin typeface="Times New Roman"/>
              </a:rPr>
              <a:t>Spatial Wafer Defect Signatures &amp; WM-811K Benchmark</a:t>
            </a:r>
          </a:p>
          <a:p>
            <a:pPr>
              <a:spcBef>
                <a:spcPts val="200"/>
              </a:spcBef>
              <a:spcAft>
                <a:spcPts val="400"/>
              </a:spcAft>
            </a:pPr>
            <a:r>
              <a:rPr sz="1800" b="0">
                <a:solidFill>
                  <a:srgbClr val="1E293B"/>
                </a:solidFill>
                <a:latin typeface="Times New Roman"/>
              </a:rPr>
              <a:t>•  Manufacturing tool failures manifest as systematic spatial defect clusters across the wafer disc (e.g., Center, Donut, Scratch, Edge-Ring, Loc).</a:t>
            </a:r>
          </a:p>
          <a:p>
            <a:pPr>
              <a:spcBef>
                <a:spcPts val="200"/>
              </a:spcBef>
              <a:spcAft>
                <a:spcPts val="400"/>
              </a:spcAft>
            </a:pPr>
            <a:r>
              <a:rPr sz="1800" b="0">
                <a:solidFill>
                  <a:srgbClr val="1E293B"/>
                </a:solidFill>
                <a:latin typeface="Times New Roman"/>
              </a:rPr>
              <a:t>•  We utilize the world-benchmark WM-811K industrial dataset (811,457 commercial wafer maps) to capture authentic semiconductor fabrication signatures.</a:t>
            </a:r>
          </a:p>
          <a:p>
            <a:pPr>
              <a:spcBef>
                <a:spcPts val="800"/>
              </a:spcBef>
              <a:spcAft>
                <a:spcPts val="200"/>
              </a:spcAft>
            </a:pPr>
            <a:r>
              <a:rPr sz="2200" b="1">
                <a:solidFill>
                  <a:srgbClr val="0284C7"/>
                </a:solidFill>
                <a:latin typeface="Times New Roman"/>
              </a:rPr>
              <a:t>Role of Automated Optical Inspection (AOI)</a:t>
            </a:r>
          </a:p>
          <a:p>
            <a:pPr>
              <a:spcBef>
                <a:spcPts val="200"/>
              </a:spcBef>
              <a:spcAft>
                <a:spcPts val="400"/>
              </a:spcAft>
            </a:pPr>
            <a:r>
              <a:rPr sz="1800" b="0">
                <a:solidFill>
                  <a:srgbClr val="1E293B"/>
                </a:solidFill>
                <a:latin typeface="Times New Roman"/>
              </a:rPr>
              <a:t>•  Automated defect classification enables immediate fabrication tool root-cause diagnosis, drastically minimizing wafer lot scrap and engineering turnaround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3</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PROBLEM STATEMENT</a:t>
            </a:r>
            <a:endParaRPr sz="3600" b="1" dirty="0">
              <a:latin typeface="Times New Roman"/>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126" name="TextBox 125"/>
          <p:cNvSpPr txBox="1"/>
          <p:nvPr/>
        </p:nvSpPr>
        <p:spPr>
          <a:xfrm>
            <a:off x="731520" y="1920240"/>
            <a:ext cx="10698480" cy="4114800"/>
          </a:xfrm>
          <a:prstGeom prst="rect">
            <a:avLst/>
          </a:prstGeom>
          <a:noFill/>
        </p:spPr>
        <p:txBody>
          <a:bodyPr wrap="square">
            <a:spAutoFit/>
          </a:bodyPr>
          <a:lstStyle/>
          <a:p>
            <a:pPr>
              <a:spcBef>
                <a:spcPts val="800"/>
              </a:spcBef>
              <a:spcAft>
                <a:spcPts val="200"/>
              </a:spcAft>
            </a:pPr>
            <a:r>
              <a:rPr sz="2200" b="1">
                <a:solidFill>
                  <a:srgbClr val="0284C7"/>
                </a:solidFill>
                <a:latin typeface="Times New Roman"/>
              </a:rPr>
              <a:t>High-Throughput Fabrication Bottlenecks</a:t>
            </a:r>
          </a:p>
          <a:p>
            <a:pPr>
              <a:spcBef>
                <a:spcPts val="200"/>
              </a:spcBef>
              <a:spcAft>
                <a:spcPts val="400"/>
              </a:spcAft>
            </a:pPr>
            <a:r>
              <a:rPr sz="1800" b="0">
                <a:solidFill>
                  <a:srgbClr val="1E293B"/>
                </a:solidFill>
                <a:latin typeface="Times New Roman"/>
              </a:rPr>
              <a:t>•  Modern fabs produce tens of thousands of wafers monthly; manual optical and scanning electron microscopy (SEM) inspection is slow, subjective, and prone to severe operator fatigue.</a:t>
            </a:r>
          </a:p>
          <a:p>
            <a:pPr>
              <a:spcBef>
                <a:spcPts val="800"/>
              </a:spcBef>
              <a:spcAft>
                <a:spcPts val="200"/>
              </a:spcAft>
            </a:pPr>
            <a:r>
              <a:rPr sz="2200" b="1">
                <a:solidFill>
                  <a:srgbClr val="0284C7"/>
                </a:solidFill>
                <a:latin typeface="Times New Roman"/>
              </a:rPr>
              <a:t>Extreme Industrial Class Imbalance</a:t>
            </a:r>
          </a:p>
          <a:p>
            <a:pPr>
              <a:spcBef>
                <a:spcPts val="200"/>
              </a:spcBef>
              <a:spcAft>
                <a:spcPts val="400"/>
              </a:spcAft>
            </a:pPr>
            <a:r>
              <a:rPr sz="1800" b="0">
                <a:solidFill>
                  <a:srgbClr val="1E293B"/>
                </a:solidFill>
                <a:latin typeface="Times New Roman"/>
              </a:rPr>
              <a:t>•  In production environments, nominal (clean) wafers exceed 78% of all manufactured substrates, making minority defect topologies difficult for conventional algorithms to detect reliably.</a:t>
            </a:r>
          </a:p>
          <a:p>
            <a:pPr>
              <a:spcBef>
                <a:spcPts val="800"/>
              </a:spcBef>
              <a:spcAft>
                <a:spcPts val="200"/>
              </a:spcAft>
            </a:pPr>
            <a:r>
              <a:rPr sz="2200" b="1">
                <a:solidFill>
                  <a:srgbClr val="0284C7"/>
                </a:solidFill>
                <a:latin typeface="Times New Roman"/>
              </a:rPr>
              <a:t>Edge Computational Constraints in Fab Lines</a:t>
            </a:r>
          </a:p>
          <a:p>
            <a:pPr>
              <a:spcBef>
                <a:spcPts val="200"/>
              </a:spcBef>
              <a:spcAft>
                <a:spcPts val="400"/>
              </a:spcAft>
            </a:pPr>
            <a:r>
              <a:rPr sz="1800" b="0">
                <a:solidFill>
                  <a:srgbClr val="1E293B"/>
                </a:solidFill>
                <a:latin typeface="Times New Roman"/>
              </a:rPr>
              <a:t>•  Traditional heavy deep learning architectures (e.g., ResNet-50, VGG-16) suffer from multi-hundred-megabyte footprints, heavy GPU dependence, and high inference latency (&gt;50 ms), making inline fab deployment infeasible.</a:t>
            </a:r>
          </a:p>
          <a:p>
            <a:pPr>
              <a:spcBef>
                <a:spcPts val="800"/>
              </a:spcBef>
              <a:spcAft>
                <a:spcPts val="200"/>
              </a:spcAft>
            </a:pPr>
            <a:r>
              <a:rPr sz="2200" b="1">
                <a:solidFill>
                  <a:srgbClr val="0284C7"/>
                </a:solidFill>
                <a:latin typeface="Times New Roman"/>
              </a:rPr>
              <a:t>Core Problem Definition</a:t>
            </a:r>
          </a:p>
          <a:p>
            <a:pPr>
              <a:spcBef>
                <a:spcPts val="200"/>
              </a:spcBef>
              <a:spcAft>
                <a:spcPts val="400"/>
              </a:spcAft>
            </a:pPr>
            <a:r>
              <a:rPr sz="1800" b="0">
                <a:solidFill>
                  <a:srgbClr val="1E293B"/>
                </a:solidFill>
                <a:latin typeface="Times New Roman"/>
              </a:rPr>
              <a:t>•  Need for an ultra-lightweight, edge-deployable deep learning classification engine achieving &gt;98% accuracy and sub-2 ms latency across multi-class wafer defect topologies on standard CPU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4</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NEED FOR THE PROJECT</a:t>
            </a:r>
            <a:endParaRPr sz="3600" b="1" dirty="0">
              <a:latin typeface="Times New Roman"/>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126" name="TextBox 125"/>
          <p:cNvSpPr txBox="1"/>
          <p:nvPr/>
        </p:nvSpPr>
        <p:spPr>
          <a:xfrm>
            <a:off x="731520" y="1920240"/>
            <a:ext cx="10698480" cy="4114800"/>
          </a:xfrm>
          <a:prstGeom prst="rect">
            <a:avLst/>
          </a:prstGeom>
          <a:noFill/>
        </p:spPr>
        <p:txBody>
          <a:bodyPr wrap="square">
            <a:spAutoFit/>
          </a:bodyPr>
          <a:lstStyle/>
          <a:p>
            <a:pPr>
              <a:spcBef>
                <a:spcPts val="800"/>
              </a:spcBef>
              <a:spcAft>
                <a:spcPts val="200"/>
              </a:spcAft>
            </a:pPr>
            <a:r>
              <a:rPr sz="2200" b="1">
                <a:solidFill>
                  <a:srgbClr val="0284C7"/>
                </a:solidFill>
                <a:latin typeface="Times New Roman"/>
              </a:rPr>
              <a:t>Critical Yield Economics &amp; Cost Reduction</a:t>
            </a:r>
          </a:p>
          <a:p>
            <a:pPr>
              <a:spcBef>
                <a:spcPts val="200"/>
              </a:spcBef>
              <a:spcAft>
                <a:spcPts val="400"/>
              </a:spcAft>
            </a:pPr>
            <a:r>
              <a:rPr sz="1800" b="0">
                <a:solidFill>
                  <a:srgbClr val="1E293B"/>
                </a:solidFill>
                <a:latin typeface="Times New Roman"/>
              </a:rPr>
              <a:t>•  Defect detection at wafer probe testing prevents defective dies from progressing into expensive packaging, wire-bonding, and encapsulation phases, saving millions annually.</a:t>
            </a:r>
          </a:p>
          <a:p>
            <a:pPr>
              <a:spcBef>
                <a:spcPts val="800"/>
              </a:spcBef>
              <a:spcAft>
                <a:spcPts val="200"/>
              </a:spcAft>
            </a:pPr>
            <a:r>
              <a:rPr sz="2200" b="1">
                <a:solidFill>
                  <a:srgbClr val="0284C7"/>
                </a:solidFill>
                <a:latin typeface="Times New Roman"/>
              </a:rPr>
              <a:t>Equipment Root-Cause Traceability</a:t>
            </a:r>
          </a:p>
          <a:p>
            <a:pPr>
              <a:spcBef>
                <a:spcPts val="200"/>
              </a:spcBef>
              <a:spcAft>
                <a:spcPts val="400"/>
              </a:spcAft>
            </a:pPr>
            <a:r>
              <a:rPr sz="1800" b="0">
                <a:solidFill>
                  <a:srgbClr val="1E293B"/>
                </a:solidFill>
                <a:latin typeface="Times New Roman"/>
              </a:rPr>
              <a:t>•  Topological signatures correlate directly with specific fab tool malfunctions:</a:t>
            </a:r>
          </a:p>
          <a:p>
            <a:pPr>
              <a:spcBef>
                <a:spcPts val="200"/>
              </a:spcBef>
              <a:spcAft>
                <a:spcPts val="400"/>
              </a:spcAft>
            </a:pPr>
            <a:r>
              <a:rPr sz="1800" b="0">
                <a:solidFill>
                  <a:srgbClr val="1E293B"/>
                </a:solidFill>
                <a:latin typeface="Times New Roman"/>
              </a:rPr>
              <a:t>•      - Center Cluster: CMP slurry buildup or spin-coat nozzle misalignment.</a:t>
            </a:r>
          </a:p>
          <a:p>
            <a:pPr>
              <a:spcBef>
                <a:spcPts val="200"/>
              </a:spcBef>
              <a:spcAft>
                <a:spcPts val="400"/>
              </a:spcAft>
            </a:pPr>
            <a:r>
              <a:rPr sz="1800" b="0">
                <a:solidFill>
                  <a:srgbClr val="1E293B"/>
                </a:solidFill>
                <a:latin typeface="Times New Roman"/>
              </a:rPr>
              <a:t>•      - Donut Ring: Radial thermal gradient during rapid thermal annealing (RTA).</a:t>
            </a:r>
          </a:p>
          <a:p>
            <a:pPr>
              <a:spcBef>
                <a:spcPts val="200"/>
              </a:spcBef>
              <a:spcAft>
                <a:spcPts val="400"/>
              </a:spcAft>
            </a:pPr>
            <a:r>
              <a:rPr sz="1800" b="0">
                <a:solidFill>
                  <a:srgbClr val="1E293B"/>
                </a:solidFill>
                <a:latin typeface="Times New Roman"/>
              </a:rPr>
              <a:t>•      - Scratch: Mechanical robot end-effector abrasion or automated wafer cassette handling damage.</a:t>
            </a:r>
          </a:p>
          <a:p>
            <a:pPr>
              <a:spcBef>
                <a:spcPts val="200"/>
              </a:spcBef>
              <a:spcAft>
                <a:spcPts val="400"/>
              </a:spcAft>
            </a:pPr>
            <a:r>
              <a:rPr sz="1800" b="0">
                <a:solidFill>
                  <a:srgbClr val="1E293B"/>
                </a:solidFill>
                <a:latin typeface="Times New Roman"/>
              </a:rPr>
              <a:t>•      - Edge-Ring: Plasma etching nonuniformity or edge-bead removal (EBR) solvent splash.</a:t>
            </a:r>
          </a:p>
          <a:p>
            <a:pPr>
              <a:spcBef>
                <a:spcPts val="800"/>
              </a:spcBef>
              <a:spcAft>
                <a:spcPts val="200"/>
              </a:spcAft>
            </a:pPr>
            <a:r>
              <a:rPr sz="2200" b="1">
                <a:solidFill>
                  <a:srgbClr val="0284C7"/>
                </a:solidFill>
                <a:latin typeface="Times New Roman"/>
              </a:rPr>
              <a:t>Edge Inline Autonomous Screening</a:t>
            </a:r>
          </a:p>
          <a:p>
            <a:pPr>
              <a:spcBef>
                <a:spcPts val="200"/>
              </a:spcBef>
              <a:spcAft>
                <a:spcPts val="400"/>
              </a:spcAft>
            </a:pPr>
            <a:r>
              <a:rPr sz="1800" b="0">
                <a:solidFill>
                  <a:srgbClr val="1E293B"/>
                </a:solidFill>
                <a:latin typeface="Times New Roman"/>
              </a:rPr>
              <a:t>•  Eliminates bandwidth bottlenecks and cloud data-security risks by executing inference directly on local fab equipment controllers with zero cloud latency.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5</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OBJECTIVES</a:t>
            </a:r>
            <a:endParaRPr sz="3600" b="1" dirty="0">
              <a:latin typeface="Times New Roman"/>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
        <p:nvSpPr>
          <p:cNvPr id="126" name="TextBox 125"/>
          <p:cNvSpPr txBox="1"/>
          <p:nvPr/>
        </p:nvSpPr>
        <p:spPr>
          <a:xfrm>
            <a:off x="731520" y="1920240"/>
            <a:ext cx="10698480" cy="4114800"/>
          </a:xfrm>
          <a:prstGeom prst="rect">
            <a:avLst/>
          </a:prstGeom>
          <a:noFill/>
        </p:spPr>
        <p:txBody>
          <a:bodyPr wrap="square">
            <a:spAutoFit/>
          </a:bodyPr>
          <a:lstStyle/>
          <a:p>
            <a:pPr>
              <a:spcBef>
                <a:spcPts val="800"/>
              </a:spcBef>
              <a:spcAft>
                <a:spcPts val="200"/>
              </a:spcAft>
            </a:pPr>
            <a:r>
              <a:rPr sz="2200" b="1">
                <a:solidFill>
                  <a:srgbClr val="0284C7"/>
                </a:solidFill>
                <a:latin typeface="Times New Roman"/>
              </a:rPr>
              <a:t>Primary Project Objectives</a:t>
            </a:r>
          </a:p>
          <a:p>
            <a:pPr>
              <a:spcBef>
                <a:spcPts val="200"/>
              </a:spcBef>
              <a:spcAft>
                <a:spcPts val="400"/>
              </a:spcAft>
            </a:pPr>
            <a:r>
              <a:rPr sz="1800" b="0">
                <a:solidFill>
                  <a:srgbClr val="1E293B"/>
                </a:solidFill>
                <a:latin typeface="Times New Roman"/>
              </a:rPr>
              <a:t>•  Objective 1: Curate, filter, and normalize the large-scale WM-811K benchmark into balanced 8-class topological defect representations.</a:t>
            </a:r>
          </a:p>
          <a:p>
            <a:pPr>
              <a:spcBef>
                <a:spcPts val="200"/>
              </a:spcBef>
              <a:spcAft>
                <a:spcPts val="400"/>
              </a:spcAft>
            </a:pPr>
            <a:r>
              <a:rPr sz="1800" b="0">
                <a:solidFill>
                  <a:srgbClr val="1E293B"/>
                </a:solidFill>
                <a:latin typeface="Times New Roman"/>
              </a:rPr>
              <a:t>•  Objective 2: Design and fine-tune an ultra-lightweight MobileNetV3-Small deep convolutional neural network leveraging depthwise separable convolutions and Squeeze-and-Excitation (SE) attention.</a:t>
            </a:r>
          </a:p>
          <a:p>
            <a:pPr>
              <a:spcBef>
                <a:spcPts val="200"/>
              </a:spcBef>
              <a:spcAft>
                <a:spcPts val="400"/>
              </a:spcAft>
            </a:pPr>
            <a:r>
              <a:rPr sz="1800" b="0">
                <a:solidFill>
                  <a:srgbClr val="1E293B"/>
                </a:solidFill>
                <a:latin typeface="Times New Roman"/>
              </a:rPr>
              <a:t>•  Objective 3: Export and optimize the trained model into an ONNX runtime engine achieving sub-2 ms CPU inference latency and &lt;6 MB storage footprint.</a:t>
            </a:r>
          </a:p>
          <a:p>
            <a:pPr>
              <a:spcBef>
                <a:spcPts val="200"/>
              </a:spcBef>
              <a:spcAft>
                <a:spcPts val="400"/>
              </a:spcAft>
            </a:pPr>
            <a:r>
              <a:rPr sz="1800" b="0">
                <a:solidFill>
                  <a:srgbClr val="1E293B"/>
                </a:solidFill>
                <a:latin typeface="Times New Roman"/>
              </a:rPr>
              <a:t>•  Objective 4: Build a full-stack, interactive AOI demonstration dashboard featuring live 300 mm wafer visualization, die pass/fail matrix telemetry, and automated 25-wafer lot screening.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6AB9D21A-401F-71BA-BDF3-FF71F3B3AAB1}"/>
            </a:ext>
          </a:extLst>
        </p:cNvPr>
        <p:cNvGrpSpPr/>
        <p:nvPr/>
      </p:nvGrpSpPr>
      <p:grpSpPr>
        <a:xfrm>
          <a:off x="0" y="0"/>
          <a:ext cx="0" cy="0"/>
          <a:chOff x="0" y="0"/>
          <a:chExt cx="0" cy="0"/>
        </a:xfrm>
      </p:grpSpPr>
      <p:sp>
        <p:nvSpPr>
          <p:cNvPr id="230" name="Google Shape;230;p11">
            <a:extLst>
              <a:ext uri="{FF2B5EF4-FFF2-40B4-BE49-F238E27FC236}">
                <a16:creationId xmlns:a16="http://schemas.microsoft.com/office/drawing/2014/main" id="{D2259F83-F6F9-48B0-EF75-763D86890A10}"/>
              </a:ext>
            </a:extLst>
          </p:cNvPr>
          <p:cNvSpPr txBox="1">
            <a:spLocks noGrp="1"/>
          </p:cNvSpPr>
          <p:nvPr>
            <p:ph type="title"/>
          </p:nvPr>
        </p:nvSpPr>
        <p:spPr>
          <a:xfrm>
            <a:off x="839788" y="457200"/>
            <a:ext cx="7341688" cy="1600200"/>
          </a:xfrm>
          <a:prstGeom prst="rect">
            <a:avLst/>
          </a:prstGeom>
          <a:noFill/>
          <a:ln>
            <a:noFill/>
          </a:ln>
        </p:spPr>
        <p:txBody>
          <a:bodyPr spcFirstLastPara="1" wrap="square" lIns="91425" tIns="45700" rIns="91425" bIns="45700" anchor="ctr" anchorCtr="0">
            <a:normAutofit/>
          </a:bodyPr>
          <a:lstStyle/>
          <a:p>
            <a:pPr lvl="0">
              <a:buSzPts val="4000"/>
            </a:pPr>
            <a:r>
              <a:rPr sz="3400" b="1">
                <a:solidFill>
                  <a:srgbClr val="0F172A"/>
                </a:solidFill>
                <a:latin typeface="Times New Roman"/>
              </a:rPr>
              <a:t>END-TO-END SYSTEM ARCHITECTURE</a:t>
            </a:r>
            <a:endParaRPr sz="3600" b="1" dirty="0">
              <a:latin typeface="Times New Roman" panose="02020603050405020304" pitchFamily="18" charset="0"/>
              <a:cs typeface="Times New Roman" panose="02020603050405020304" pitchFamily="18" charset="0"/>
            </a:endParaRPr>
          </a:p>
        </p:txBody>
      </p:sp>
      <p:sp>
        <p:nvSpPr>
          <p:cNvPr id="231" name="Google Shape;231;p11">
            <a:extLst>
              <a:ext uri="{FF2B5EF4-FFF2-40B4-BE49-F238E27FC236}">
                <a16:creationId xmlns:a16="http://schemas.microsoft.com/office/drawing/2014/main" id="{CD7DDFB5-F9E3-7933-A782-CEAB8D5BDA8B}"/>
              </a:ext>
            </a:extLst>
          </p:cNvPr>
          <p:cNvSpPr txBox="1">
            <a:spLocks noGrp="1"/>
          </p:cNvSpPr>
          <p:nvPr>
            <p:ph type="body" idx="1"/>
          </p:nvPr>
        </p:nvSpPr>
        <p:spPr>
          <a:xfrm>
            <a:off x="-18288000" y="1754042"/>
            <a:ext cx="10955338" cy="4419668"/>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1200"/>
              </a:spcBef>
              <a:buSzPts val="2600"/>
              <a:buFont typeface="Noto Sans Symbols"/>
              <a:buChar char="⮪"/>
            </a:pPr>
          </a:p>
        </p:txBody>
      </p:sp>
      <p:sp>
        <p:nvSpPr>
          <p:cNvPr id="232" name="Google Shape;232;p11">
            <a:extLst>
              <a:ext uri="{FF2B5EF4-FFF2-40B4-BE49-F238E27FC236}">
                <a16:creationId xmlns:a16="http://schemas.microsoft.com/office/drawing/2014/main" id="{29C676BD-83E3-41CC-B46A-9EB1B325BBD8}"/>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6</a:t>
            </a:r>
            <a:endParaRPr/>
          </a:p>
        </p:txBody>
      </p:sp>
      <p:pic>
        <p:nvPicPr>
          <p:cNvPr id="233" name="Google Shape;233;p11">
            <a:extLst>
              <a:ext uri="{FF2B5EF4-FFF2-40B4-BE49-F238E27FC236}">
                <a16:creationId xmlns:a16="http://schemas.microsoft.com/office/drawing/2014/main" id="{26AF934B-79FA-7925-6339-3EFCB00CC6C5}"/>
              </a:ext>
            </a:extLst>
          </p:cNvPr>
          <p:cNvPicPr preferRelativeResize="0"/>
          <p:nvPr/>
        </p:nvPicPr>
        <p:blipFill rotWithShape="1">
          <a:blip r:embed="rId2">
            <a:alphaModFix/>
          </a:blip>
          <a:srcRect/>
          <a:stretch/>
        </p:blipFill>
        <p:spPr>
          <a:xfrm>
            <a:off x="159971" y="211556"/>
            <a:ext cx="3850555" cy="691125"/>
          </a:xfrm>
          <a:prstGeom prst="rect">
            <a:avLst/>
          </a:prstGeom>
          <a:noFill/>
          <a:ln>
            <a:noFill/>
          </a:ln>
        </p:spPr>
      </p:pic>
      <p:pic>
        <p:nvPicPr>
          <p:cNvPr id="234" name="Google Shape;234;p11">
            <a:extLst>
              <a:ext uri="{FF2B5EF4-FFF2-40B4-BE49-F238E27FC236}">
                <a16:creationId xmlns:a16="http://schemas.microsoft.com/office/drawing/2014/main" id="{6065A6D5-6961-04A9-F93B-D2CDFF552B96}"/>
              </a:ext>
            </a:extLst>
          </p:cNvPr>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235" name="Google Shape;235;p11">
            <a:extLst>
              <a:ext uri="{FF2B5EF4-FFF2-40B4-BE49-F238E27FC236}">
                <a16:creationId xmlns:a16="http://schemas.microsoft.com/office/drawing/2014/main" id="{19008EE4-DC4F-00CC-8007-894E1A1AA8E7}"/>
              </a:ext>
            </a:extLst>
          </p:cNvPr>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236" name="Rounded Rectangle 235"/>
          <p:cNvSpPr/>
          <p:nvPr/>
        </p:nvSpPr>
        <p:spPr>
          <a:xfrm>
            <a:off x="548640" y="1828800"/>
            <a:ext cx="2514600" cy="32918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800"/>
              </a:spcAft>
            </a:pPr>
            <a:r>
              <a:rPr sz="1400" b="1">
                <a:solidFill>
                  <a:srgbClr val="0284C7"/>
                </a:solidFill>
                <a:latin typeface="Times New Roman"/>
              </a:rPr>
              <a:t>STAGE A: DATA PIPELINE</a:t>
            </a:r>
          </a:p>
          <a:p>
            <a:pPr>
              <a:spcBef>
                <a:spcPts val="300"/>
              </a:spcBef>
              <a:spcAft>
                <a:spcPts val="300"/>
              </a:spcAft>
            </a:pPr>
            <a:r>
              <a:rPr sz="1200" b="0">
                <a:solidFill>
                  <a:srgbClr val="1E293B"/>
                </a:solidFill>
                <a:latin typeface="Times New Roman"/>
              </a:rPr>
              <a:t>• Raw LSWMD.pkl parsing</a:t>
            </a:r>
          </a:p>
          <a:p>
            <a:pPr>
              <a:spcBef>
                <a:spcPts val="300"/>
              </a:spcBef>
              <a:spcAft>
                <a:spcPts val="300"/>
              </a:spcAft>
            </a:pPr>
            <a:r>
              <a:rPr sz="1200" b="0">
                <a:solidFill>
                  <a:srgbClr val="1E293B"/>
                </a:solidFill>
                <a:latin typeface="Times New Roman"/>
              </a:rPr>
              <a:t>• Pandas index patch</a:t>
            </a:r>
          </a:p>
          <a:p>
            <a:pPr>
              <a:spcBef>
                <a:spcPts val="300"/>
              </a:spcBef>
              <a:spcAft>
                <a:spcPts val="300"/>
              </a:spcAft>
            </a:pPr>
            <a:r>
              <a:rPr sz="1200" b="0">
                <a:solidFill>
                  <a:srgbClr val="1E293B"/>
                </a:solidFill>
                <a:latin typeface="Times New Roman"/>
              </a:rPr>
              <a:t>• Bilinear resize to 224x224</a:t>
            </a:r>
          </a:p>
          <a:p>
            <a:pPr>
              <a:spcBef>
                <a:spcPts val="300"/>
              </a:spcBef>
              <a:spcAft>
                <a:spcPts val="300"/>
              </a:spcAft>
            </a:pPr>
            <a:r>
              <a:rPr sz="1200" b="0">
                <a:solidFill>
                  <a:srgbClr val="1E293B"/>
                </a:solidFill>
                <a:latin typeface="Times New Roman"/>
              </a:rPr>
              <a:t>• Min-Max normalization (0-255)</a:t>
            </a:r>
          </a:p>
          <a:p>
            <a:pPr>
              <a:spcBef>
                <a:spcPts val="300"/>
              </a:spcBef>
              <a:spcAft>
                <a:spcPts val="300"/>
              </a:spcAft>
            </a:pPr>
            <a:r>
              <a:rPr sz="1200" b="0">
                <a:solidFill>
                  <a:srgbClr val="1E293B"/>
                </a:solidFill>
                <a:latin typeface="Times New Roman"/>
              </a:rPr>
              <a:t>• 70% / 15% / 15% Stratified split</a:t>
            </a:r>
          </a:p>
        </p:txBody>
      </p:sp>
      <p:sp>
        <p:nvSpPr>
          <p:cNvPr id="237" name="Rounded Rectangle 236"/>
          <p:cNvSpPr/>
          <p:nvPr/>
        </p:nvSpPr>
        <p:spPr>
          <a:xfrm>
            <a:off x="3246120" y="1828800"/>
            <a:ext cx="2514600" cy="32918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800"/>
              </a:spcAft>
            </a:pPr>
            <a:r>
              <a:rPr sz="1400" b="1">
                <a:solidFill>
                  <a:srgbClr val="0284C7"/>
                </a:solidFill>
                <a:latin typeface="Times New Roman"/>
              </a:rPr>
              <a:t>STAGE B: MODEL TRAINING</a:t>
            </a:r>
          </a:p>
          <a:p>
            <a:pPr>
              <a:spcBef>
                <a:spcPts val="300"/>
              </a:spcBef>
              <a:spcAft>
                <a:spcPts val="300"/>
              </a:spcAft>
            </a:pPr>
            <a:r>
              <a:rPr sz="1200" b="0">
                <a:solidFill>
                  <a:srgbClr val="1E293B"/>
                </a:solidFill>
                <a:latin typeface="Times New Roman"/>
              </a:rPr>
              <a:t>• Backbone: MobileNetV3-Small</a:t>
            </a:r>
          </a:p>
          <a:p>
            <a:pPr>
              <a:spcBef>
                <a:spcPts val="300"/>
              </a:spcBef>
              <a:spcAft>
                <a:spcPts val="300"/>
              </a:spcAft>
            </a:pPr>
            <a:r>
              <a:rPr sz="1200" b="0">
                <a:solidFill>
                  <a:srgbClr val="1E293B"/>
                </a:solidFill>
                <a:latin typeface="Times New Roman"/>
              </a:rPr>
              <a:t>• Inverted residual blocks + SE</a:t>
            </a:r>
          </a:p>
          <a:p>
            <a:pPr>
              <a:spcBef>
                <a:spcPts val="300"/>
              </a:spcBef>
              <a:spcAft>
                <a:spcPts val="300"/>
              </a:spcAft>
            </a:pPr>
            <a:r>
              <a:rPr sz="1200" b="0">
                <a:solidFill>
                  <a:srgbClr val="1E293B"/>
                </a:solidFill>
                <a:latin typeface="Times New Roman"/>
              </a:rPr>
              <a:t>• Custom 8-class linear head</a:t>
            </a:r>
          </a:p>
          <a:p>
            <a:pPr>
              <a:spcBef>
                <a:spcPts val="300"/>
              </a:spcBef>
              <a:spcAft>
                <a:spcPts val="300"/>
              </a:spcAft>
            </a:pPr>
            <a:r>
              <a:rPr sz="1200" b="0">
                <a:solidFill>
                  <a:srgbClr val="1E293B"/>
                </a:solidFill>
                <a:latin typeface="Times New Roman"/>
              </a:rPr>
              <a:t>• Adam optimizer (lr=3e-4)</a:t>
            </a:r>
          </a:p>
          <a:p>
            <a:pPr>
              <a:spcBef>
                <a:spcPts val="300"/>
              </a:spcBef>
              <a:spcAft>
                <a:spcPts val="300"/>
              </a:spcAft>
            </a:pPr>
            <a:r>
              <a:rPr sz="1200" b="0">
                <a:solidFill>
                  <a:srgbClr val="1E293B"/>
                </a:solidFill>
                <a:latin typeface="Times New Roman"/>
              </a:rPr>
              <a:t>• Cross-Entropy loss over 8 epochs</a:t>
            </a:r>
          </a:p>
        </p:txBody>
      </p:sp>
      <p:sp>
        <p:nvSpPr>
          <p:cNvPr id="238" name="Rounded Rectangle 237"/>
          <p:cNvSpPr/>
          <p:nvPr/>
        </p:nvSpPr>
        <p:spPr>
          <a:xfrm>
            <a:off x="5943600" y="1828800"/>
            <a:ext cx="2514600" cy="32918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800"/>
              </a:spcAft>
            </a:pPr>
            <a:r>
              <a:rPr sz="1400" b="1">
                <a:solidFill>
                  <a:srgbClr val="0284C7"/>
                </a:solidFill>
                <a:latin typeface="Times New Roman"/>
              </a:rPr>
              <a:t>STAGE C: ONNX OPTIMIZATION</a:t>
            </a:r>
          </a:p>
          <a:p>
            <a:pPr>
              <a:spcBef>
                <a:spcPts val="300"/>
              </a:spcBef>
              <a:spcAft>
                <a:spcPts val="300"/>
              </a:spcAft>
            </a:pPr>
            <a:r>
              <a:rPr sz="1200" b="0">
                <a:solidFill>
                  <a:srgbClr val="1E293B"/>
                </a:solidFill>
                <a:latin typeface="Times New Roman"/>
              </a:rPr>
              <a:t>• PyTorch model graph trace</a:t>
            </a:r>
          </a:p>
          <a:p>
            <a:pPr>
              <a:spcBef>
                <a:spcPts val="300"/>
              </a:spcBef>
              <a:spcAft>
                <a:spcPts val="300"/>
              </a:spcAft>
            </a:pPr>
            <a:r>
              <a:rPr sz="1200" b="0">
                <a:solidFill>
                  <a:srgbClr val="1E293B"/>
                </a:solidFill>
                <a:latin typeface="Times New Roman"/>
              </a:rPr>
              <a:t>• ONNX Opset 12 export</a:t>
            </a:r>
          </a:p>
          <a:p>
            <a:pPr>
              <a:spcBef>
                <a:spcPts val="300"/>
              </a:spcBef>
              <a:spcAft>
                <a:spcPts val="300"/>
              </a:spcAft>
            </a:pPr>
            <a:r>
              <a:rPr sz="1200" b="0">
                <a:solidFill>
                  <a:srgbClr val="1E293B"/>
                </a:solidFill>
                <a:latin typeface="Times New Roman"/>
              </a:rPr>
              <a:t>• Constant folding &amp; prune</a:t>
            </a:r>
          </a:p>
          <a:p>
            <a:pPr>
              <a:spcBef>
                <a:spcPts val="300"/>
              </a:spcBef>
              <a:spcAft>
                <a:spcPts val="300"/>
              </a:spcAft>
            </a:pPr>
            <a:r>
              <a:rPr sz="1200" b="0">
                <a:solidFill>
                  <a:srgbClr val="1E293B"/>
                </a:solidFill>
                <a:latin typeface="Times New Roman"/>
              </a:rPr>
              <a:t>• Dynamic batch dimension</a:t>
            </a:r>
          </a:p>
          <a:p>
            <a:pPr>
              <a:spcBef>
                <a:spcPts val="300"/>
              </a:spcBef>
              <a:spcAft>
                <a:spcPts val="300"/>
              </a:spcAft>
            </a:pPr>
            <a:r>
              <a:rPr sz="1200" b="0">
                <a:solidFill>
                  <a:srgbClr val="1E293B"/>
                </a:solidFill>
                <a:latin typeface="Times New Roman"/>
              </a:rPr>
              <a:t>• Model size: 5.84 MB</a:t>
            </a:r>
          </a:p>
        </p:txBody>
      </p:sp>
      <p:sp>
        <p:nvSpPr>
          <p:cNvPr id="239" name="Rounded Rectangle 238"/>
          <p:cNvSpPr/>
          <p:nvPr/>
        </p:nvSpPr>
        <p:spPr>
          <a:xfrm>
            <a:off x="8641080" y="1828800"/>
            <a:ext cx="2514600" cy="32918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800"/>
              </a:spcAft>
            </a:pPr>
            <a:r>
              <a:rPr sz="1400" b="1">
                <a:solidFill>
                  <a:srgbClr val="0284C7"/>
                </a:solidFill>
                <a:latin typeface="Times New Roman"/>
              </a:rPr>
              <a:t>STAGE D: EDGE INFERENCE</a:t>
            </a:r>
          </a:p>
          <a:p>
            <a:pPr>
              <a:spcBef>
                <a:spcPts val="300"/>
              </a:spcBef>
              <a:spcAft>
                <a:spcPts val="300"/>
              </a:spcAft>
            </a:pPr>
            <a:r>
              <a:rPr sz="1200" b="0">
                <a:solidFill>
                  <a:srgbClr val="1E293B"/>
                </a:solidFill>
                <a:latin typeface="Times New Roman"/>
              </a:rPr>
              <a:t>• ONNX Runtime CPU engine</a:t>
            </a:r>
          </a:p>
          <a:p>
            <a:pPr>
              <a:spcBef>
                <a:spcPts val="300"/>
              </a:spcBef>
              <a:spcAft>
                <a:spcPts val="300"/>
              </a:spcAft>
            </a:pPr>
            <a:r>
              <a:rPr sz="1200" b="0">
                <a:solidFill>
                  <a:srgbClr val="1E293B"/>
                </a:solidFill>
                <a:latin typeface="Times New Roman"/>
              </a:rPr>
              <a:t>• ImageNet tensor normalization</a:t>
            </a:r>
          </a:p>
          <a:p>
            <a:pPr>
              <a:spcBef>
                <a:spcPts val="300"/>
              </a:spcBef>
              <a:spcAft>
                <a:spcPts val="300"/>
              </a:spcAft>
            </a:pPr>
            <a:r>
              <a:rPr sz="1200" b="0">
                <a:solidFill>
                  <a:srgbClr val="1E293B"/>
                </a:solidFill>
                <a:latin typeface="Times New Roman"/>
              </a:rPr>
              <a:t>• Top-3 confidence scoring</a:t>
            </a:r>
          </a:p>
          <a:p>
            <a:pPr>
              <a:spcBef>
                <a:spcPts val="300"/>
              </a:spcBef>
              <a:spcAft>
                <a:spcPts val="300"/>
              </a:spcAft>
            </a:pPr>
            <a:r>
              <a:rPr sz="1200" b="0">
                <a:solidFill>
                  <a:srgbClr val="1E293B"/>
                </a:solidFill>
                <a:latin typeface="Times New Roman"/>
              </a:rPr>
              <a:t>• Sub-2ms inference latency</a:t>
            </a:r>
          </a:p>
          <a:p>
            <a:pPr>
              <a:spcBef>
                <a:spcPts val="300"/>
              </a:spcBef>
              <a:spcAft>
                <a:spcPts val="300"/>
              </a:spcAft>
            </a:pPr>
            <a:r>
              <a:rPr sz="1200" b="0">
                <a:solidFill>
                  <a:srgbClr val="1E293B"/>
                </a:solidFill>
                <a:latin typeface="Times New Roman"/>
              </a:rPr>
              <a:t>• Web demo &amp; CLI runner</a:t>
            </a:r>
          </a:p>
        </p:txBody>
      </p:sp>
      <p:sp>
        <p:nvSpPr>
          <p:cNvPr id="240" name="Rounded Rectangle 239"/>
          <p:cNvSpPr/>
          <p:nvPr/>
        </p:nvSpPr>
        <p:spPr>
          <a:xfrm>
            <a:off x="548640" y="5257800"/>
            <a:ext cx="10607040" cy="594360"/>
          </a:xfrm>
          <a:prstGeom prst="roundRect">
            <a:avLst/>
          </a:prstGeom>
          <a:solidFill>
            <a:srgbClr val="0F172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38BDF8"/>
                </a:solidFill>
                <a:latin typeface="Times New Roman"/>
              </a:rPr>
              <a:t>Target Defect Classes:  </a:t>
            </a:r>
            <a:r>
              <a:rPr sz="1200" b="0">
                <a:solidFill>
                  <a:srgbClr val="F1F5F9"/>
                </a:solidFill>
                <a:latin typeface="Times New Roman"/>
              </a:rPr>
              <a:t>Center  |  Donut  |  Edge-Loc  |  Edge-Ring  |  Loc  |  Scratch  |  Other  |  Clean (Nominal)</a:t>
            </a:r>
          </a:p>
        </p:txBody>
      </p:sp>
    </p:spTree>
    <p:extLst>
      <p:ext uri="{BB962C8B-B14F-4D97-AF65-F5344CB8AC3E}">
        <p14:creationId xmlns:p14="http://schemas.microsoft.com/office/powerpoint/2010/main" val="4042837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a:extLst>
            <a:ext uri="{FF2B5EF4-FFF2-40B4-BE49-F238E27FC236}">
              <a16:creationId xmlns:a16="http://schemas.microsoft.com/office/drawing/2014/main" id="{6AB9D21A-401F-71BA-BDF3-FF71F3B3AAB1}"/>
            </a:ext>
          </a:extLst>
        </p:cNvPr>
        <p:cNvGrpSpPr/>
        <p:nvPr/>
      </p:nvGrpSpPr>
      <p:grpSpPr>
        <a:xfrm>
          <a:off x="0" y="0"/>
          <a:ext cx="0" cy="0"/>
          <a:chOff x="0" y="0"/>
          <a:chExt cx="0" cy="0"/>
        </a:xfrm>
      </p:grpSpPr>
      <p:sp>
        <p:nvSpPr>
          <p:cNvPr id="230" name="Google Shape;230;p11">
            <a:extLst>
              <a:ext uri="{FF2B5EF4-FFF2-40B4-BE49-F238E27FC236}">
                <a16:creationId xmlns:a16="http://schemas.microsoft.com/office/drawing/2014/main" id="{D2259F83-F6F9-48B0-EF75-763D86890A10}"/>
              </a:ext>
            </a:extLst>
          </p:cNvPr>
          <p:cNvSpPr txBox="1">
            <a:spLocks noGrp="1"/>
          </p:cNvSpPr>
          <p:nvPr>
            <p:ph type="title"/>
          </p:nvPr>
        </p:nvSpPr>
        <p:spPr>
          <a:xfrm>
            <a:off x="839788" y="457200"/>
            <a:ext cx="5420335" cy="1600200"/>
          </a:xfrm>
          <a:prstGeom prst="rect">
            <a:avLst/>
          </a:prstGeom>
          <a:noFill/>
          <a:ln>
            <a:noFill/>
          </a:ln>
        </p:spPr>
        <p:txBody>
          <a:bodyPr spcFirstLastPara="1" wrap="square" lIns="91425" tIns="45700" rIns="91425" bIns="45700" anchor="ctr" anchorCtr="0">
            <a:normAutofit/>
          </a:bodyPr>
          <a:lstStyle/>
          <a:p>
            <a:pPr lvl="0">
              <a:buSzPts val="4000"/>
            </a:pPr>
            <a:r>
              <a:rPr sz="3400" b="1">
                <a:solidFill>
                  <a:srgbClr val="0F172A"/>
                </a:solidFill>
                <a:latin typeface="Times New Roman"/>
              </a:rPr>
              <a:t>WM-811K DATASET &amp; DEFECT PATTERNS</a:t>
            </a:r>
            <a:endParaRPr sz="3600" b="1" dirty="0">
              <a:latin typeface="Times New Roman" panose="02020603050405020304" pitchFamily="18" charset="0"/>
              <a:cs typeface="Times New Roman" panose="02020603050405020304" pitchFamily="18" charset="0"/>
            </a:endParaRPr>
          </a:p>
        </p:txBody>
      </p:sp>
      <p:sp>
        <p:nvSpPr>
          <p:cNvPr id="231" name="Google Shape;231;p11">
            <a:extLst>
              <a:ext uri="{FF2B5EF4-FFF2-40B4-BE49-F238E27FC236}">
                <a16:creationId xmlns:a16="http://schemas.microsoft.com/office/drawing/2014/main" id="{CD7DDFB5-F9E3-7933-A782-CEAB8D5BDA8B}"/>
              </a:ext>
            </a:extLst>
          </p:cNvPr>
          <p:cNvSpPr txBox="1">
            <a:spLocks noGrp="1"/>
          </p:cNvSpPr>
          <p:nvPr>
            <p:ph type="body" idx="1"/>
          </p:nvPr>
        </p:nvSpPr>
        <p:spPr>
          <a:xfrm>
            <a:off x="-18288000" y="1627991"/>
            <a:ext cx="10955338" cy="4419668"/>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1200"/>
              </a:spcBef>
              <a:buSzPts val="2600"/>
              <a:buFont typeface="Noto Sans Symbols"/>
              <a:buChar char="⮪"/>
            </a:pPr>
          </a:p>
        </p:txBody>
      </p:sp>
      <p:sp>
        <p:nvSpPr>
          <p:cNvPr id="232" name="Google Shape;232;p11">
            <a:extLst>
              <a:ext uri="{FF2B5EF4-FFF2-40B4-BE49-F238E27FC236}">
                <a16:creationId xmlns:a16="http://schemas.microsoft.com/office/drawing/2014/main" id="{29C676BD-83E3-41CC-B46A-9EB1B325BBD8}"/>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7</a:t>
            </a:r>
            <a:endParaRPr/>
          </a:p>
        </p:txBody>
      </p:sp>
      <p:pic>
        <p:nvPicPr>
          <p:cNvPr id="233" name="Google Shape;233;p11">
            <a:extLst>
              <a:ext uri="{FF2B5EF4-FFF2-40B4-BE49-F238E27FC236}">
                <a16:creationId xmlns:a16="http://schemas.microsoft.com/office/drawing/2014/main" id="{26AF934B-79FA-7925-6339-3EFCB00CC6C5}"/>
              </a:ext>
            </a:extLst>
          </p:cNvPr>
          <p:cNvPicPr preferRelativeResize="0"/>
          <p:nvPr/>
        </p:nvPicPr>
        <p:blipFill rotWithShape="1">
          <a:blip r:embed="rId2">
            <a:alphaModFix/>
          </a:blip>
          <a:srcRect/>
          <a:stretch/>
        </p:blipFill>
        <p:spPr>
          <a:xfrm>
            <a:off x="159971" y="211556"/>
            <a:ext cx="3850555" cy="691125"/>
          </a:xfrm>
          <a:prstGeom prst="rect">
            <a:avLst/>
          </a:prstGeom>
          <a:noFill/>
          <a:ln>
            <a:noFill/>
          </a:ln>
        </p:spPr>
      </p:pic>
      <p:pic>
        <p:nvPicPr>
          <p:cNvPr id="234" name="Google Shape;234;p11">
            <a:extLst>
              <a:ext uri="{FF2B5EF4-FFF2-40B4-BE49-F238E27FC236}">
                <a16:creationId xmlns:a16="http://schemas.microsoft.com/office/drawing/2014/main" id="{6065A6D5-6961-04A9-F93B-D2CDFF552B96}"/>
              </a:ext>
            </a:extLst>
          </p:cNvPr>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235" name="Google Shape;235;p11">
            <a:extLst>
              <a:ext uri="{FF2B5EF4-FFF2-40B4-BE49-F238E27FC236}">
                <a16:creationId xmlns:a16="http://schemas.microsoft.com/office/drawing/2014/main" id="{19008EE4-DC4F-00CC-8007-894E1A1AA8E7}"/>
              </a:ext>
            </a:extLst>
          </p:cNvPr>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236" name="Rounded Rectangle 235"/>
          <p:cNvSpPr/>
          <p:nvPr/>
        </p:nvSpPr>
        <p:spPr>
          <a:xfrm>
            <a:off x="548640" y="1828800"/>
            <a:ext cx="5303520" cy="3931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800" b="1">
                <a:solidFill>
                  <a:srgbClr val="0284C7"/>
                </a:solidFill>
                <a:latin typeface="Times New Roman"/>
              </a:rPr>
              <a:t>Dataset Profile &amp; Industrial Challenges</a:t>
            </a:r>
          </a:p>
          <a:p>
            <a:pPr>
              <a:spcBef>
                <a:spcPts val="200"/>
              </a:spcBef>
              <a:spcAft>
                <a:spcPts val="200"/>
              </a:spcAft>
            </a:pPr>
            <a:r>
              <a:rPr sz="1250" b="0">
                <a:solidFill>
                  <a:srgbClr val="1E293B"/>
                </a:solidFill>
                <a:latin typeface="Times New Roman"/>
              </a:rPr>
              <a:t>• Total Records: 811,472 real semiconductor wafer maps collected from 46,393 fabrication lots.</a:t>
            </a:r>
          </a:p>
          <a:p>
            <a:pPr>
              <a:spcBef>
                <a:spcPts val="200"/>
              </a:spcBef>
              <a:spcAft>
                <a:spcPts val="200"/>
              </a:spcAft>
            </a:pPr>
            <a:r>
              <a:rPr sz="1250" b="0">
                <a:solidFill>
                  <a:srgbClr val="1E293B"/>
                </a:solidFill>
                <a:latin typeface="Times New Roman"/>
              </a:rPr>
              <a:t>• Labeled Samples: ~172,950 annotated wafers with failure pattern labels.</a:t>
            </a:r>
          </a:p>
          <a:p>
            <a:pPr>
              <a:spcBef>
                <a:spcPts val="200"/>
              </a:spcBef>
              <a:spcAft>
                <a:spcPts val="200"/>
              </a:spcAft>
            </a:pPr>
            <a:r>
              <a:rPr sz="1250" b="0">
                <a:solidFill>
                  <a:srgbClr val="1E293B"/>
                </a:solidFill>
                <a:latin typeface="Times New Roman"/>
              </a:rPr>
              <a:t>• Extreme Real-World Imbalance: Over 96% of manufactured wafers are defect-free (Clean).</a:t>
            </a:r>
          </a:p>
          <a:p>
            <a:pPr>
              <a:spcBef>
                <a:spcPts val="200"/>
              </a:spcBef>
              <a:spcAft>
                <a:spcPts val="200"/>
              </a:spcAft>
            </a:pPr>
            <a:r>
              <a:rPr sz="1250" b="0">
                <a:solidFill>
                  <a:srgbClr val="1E293B"/>
                </a:solidFill>
                <a:latin typeface="Times New Roman"/>
              </a:rPr>
              <a:t>• 2D Array Representation: 0 = background/exterior, 1 = normal pass die, 2 = defect die.</a:t>
            </a:r>
          </a:p>
          <a:p>
            <a:pPr>
              <a:spcBef>
                <a:spcPts val="200"/>
              </a:spcBef>
              <a:spcAft>
                <a:spcPts val="200"/>
              </a:spcAft>
            </a:pPr>
            <a:r>
              <a:rPr sz="1250" b="1">
                <a:solidFill>
                  <a:srgbClr val="1E293B"/>
                </a:solidFill>
                <a:latin typeface="Times New Roman"/>
              </a:rPr>
              <a:t>• Automated Preprocessing Pipeline:</a:t>
            </a:r>
          </a:p>
          <a:p>
            <a:pPr>
              <a:spcBef>
                <a:spcPts val="200"/>
              </a:spcBef>
              <a:spcAft>
                <a:spcPts val="200"/>
              </a:spcAft>
            </a:pPr>
            <a:r>
              <a:rPr sz="1250" b="0">
                <a:solidFill>
                  <a:srgbClr val="1E293B"/>
                </a:solidFill>
                <a:latin typeface="Times New Roman"/>
              </a:rPr>
              <a:t>    1. Runtime patch for deprecated pandas Int64Index unpickling.</a:t>
            </a:r>
          </a:p>
          <a:p>
            <a:pPr>
              <a:spcBef>
                <a:spcPts val="200"/>
              </a:spcBef>
              <a:spcAft>
                <a:spcPts val="200"/>
              </a:spcAft>
            </a:pPr>
            <a:r>
              <a:rPr sz="1250" b="0">
                <a:solidFill>
                  <a:srgbClr val="1E293B"/>
                </a:solidFill>
                <a:latin typeface="Times New Roman"/>
              </a:rPr>
              <a:t>    2. Standardize dimensions to 224x224 via bilinear interpolation.</a:t>
            </a:r>
          </a:p>
          <a:p>
            <a:pPr>
              <a:spcBef>
                <a:spcPts val="200"/>
              </a:spcBef>
              <a:spcAft>
                <a:spcPts val="200"/>
              </a:spcAft>
            </a:pPr>
            <a:r>
              <a:rPr sz="1250" b="0">
                <a:solidFill>
                  <a:srgbClr val="1E293B"/>
                </a:solidFill>
                <a:latin typeface="Times New Roman"/>
              </a:rPr>
              <a:t>    3. Scale die values to 0-255 grayscale PNG images.</a:t>
            </a:r>
          </a:p>
          <a:p>
            <a:pPr>
              <a:spcBef>
                <a:spcPts val="200"/>
              </a:spcBef>
              <a:spcAft>
                <a:spcPts val="200"/>
              </a:spcAft>
            </a:pPr>
            <a:r>
              <a:rPr sz="1250" b="0">
                <a:solidFill>
                  <a:srgbClr val="1E293B"/>
                </a:solidFill>
                <a:latin typeface="Times New Roman"/>
              </a:rPr>
              <a:t>    4. Stratified Train (70%), Validation (15%), Test (15%) partitions.</a:t>
            </a:r>
          </a:p>
        </p:txBody>
      </p:sp>
      <p:pic>
        <p:nvPicPr>
          <p:cNvPr id="237" name="Picture 236" descr="image.png"/>
          <p:cNvPicPr>
            <a:picLocks noChangeAspect="1"/>
          </p:cNvPicPr>
          <p:nvPr/>
        </p:nvPicPr>
        <p:blipFill>
          <a:blip r:embed="rId4"/>
          <a:stretch>
            <a:fillRect/>
          </a:stretch>
        </p:blipFill>
        <p:spPr>
          <a:xfrm>
            <a:off x="6217920" y="1828800"/>
            <a:ext cx="2103120" cy="1554480"/>
          </a:xfrm>
          <a:prstGeom prst="rect">
            <a:avLst/>
          </a:prstGeom>
        </p:spPr>
      </p:pic>
      <p:sp>
        <p:nvSpPr>
          <p:cNvPr id="238" name="TextBox 237"/>
          <p:cNvSpPr txBox="1"/>
          <p:nvPr/>
        </p:nvSpPr>
        <p:spPr>
          <a:xfrm>
            <a:off x="6217920" y="3337560"/>
            <a:ext cx="2103120" cy="320040"/>
          </a:xfrm>
          <a:prstGeom prst="rect">
            <a:avLst/>
          </a:prstGeom>
          <a:noFill/>
        </p:spPr>
        <p:txBody>
          <a:bodyPr wrap="none">
            <a:spAutoFit/>
          </a:bodyPr>
          <a:lstStyle/>
          <a:p>
            <a:pPr algn="ctr"/>
            <a:r>
              <a:rPr sz="1300" b="1">
                <a:solidFill>
                  <a:srgbClr val="0F172A"/>
                </a:solidFill>
                <a:latin typeface="Times New Roman"/>
              </a:rPr>
              <a:t>Center Defect</a:t>
            </a:r>
          </a:p>
        </p:txBody>
      </p:sp>
      <p:pic>
        <p:nvPicPr>
          <p:cNvPr id="239" name="Picture 238" descr="image.png"/>
          <p:cNvPicPr>
            <a:picLocks noChangeAspect="1"/>
          </p:cNvPicPr>
          <p:nvPr/>
        </p:nvPicPr>
        <p:blipFill>
          <a:blip r:embed="rId5"/>
          <a:stretch>
            <a:fillRect/>
          </a:stretch>
        </p:blipFill>
        <p:spPr>
          <a:xfrm>
            <a:off x="8503920" y="1828800"/>
            <a:ext cx="2103120" cy="1554480"/>
          </a:xfrm>
          <a:prstGeom prst="rect">
            <a:avLst/>
          </a:prstGeom>
        </p:spPr>
      </p:pic>
      <p:sp>
        <p:nvSpPr>
          <p:cNvPr id="240" name="TextBox 239"/>
          <p:cNvSpPr txBox="1"/>
          <p:nvPr/>
        </p:nvSpPr>
        <p:spPr>
          <a:xfrm>
            <a:off x="8503920" y="3337560"/>
            <a:ext cx="2103120" cy="320040"/>
          </a:xfrm>
          <a:prstGeom prst="rect">
            <a:avLst/>
          </a:prstGeom>
          <a:noFill/>
        </p:spPr>
        <p:txBody>
          <a:bodyPr wrap="none">
            <a:spAutoFit/>
          </a:bodyPr>
          <a:lstStyle/>
          <a:p>
            <a:pPr algn="ctr"/>
            <a:r>
              <a:rPr sz="1300" b="1">
                <a:solidFill>
                  <a:srgbClr val="0F172A"/>
                </a:solidFill>
                <a:latin typeface="Times New Roman"/>
              </a:rPr>
              <a:t>Donut Defect</a:t>
            </a:r>
          </a:p>
        </p:txBody>
      </p:sp>
      <p:pic>
        <p:nvPicPr>
          <p:cNvPr id="241" name="Picture 240" descr="image.png"/>
          <p:cNvPicPr>
            <a:picLocks noChangeAspect="1"/>
          </p:cNvPicPr>
          <p:nvPr/>
        </p:nvPicPr>
        <p:blipFill>
          <a:blip r:embed="rId6"/>
          <a:stretch>
            <a:fillRect/>
          </a:stretch>
        </p:blipFill>
        <p:spPr>
          <a:xfrm>
            <a:off x="6217920" y="3840480"/>
            <a:ext cx="2103120" cy="1554480"/>
          </a:xfrm>
          <a:prstGeom prst="rect">
            <a:avLst/>
          </a:prstGeom>
        </p:spPr>
      </p:pic>
      <p:sp>
        <p:nvSpPr>
          <p:cNvPr id="242" name="TextBox 241"/>
          <p:cNvSpPr txBox="1"/>
          <p:nvPr/>
        </p:nvSpPr>
        <p:spPr>
          <a:xfrm>
            <a:off x="6217920" y="5349240"/>
            <a:ext cx="2103120" cy="320040"/>
          </a:xfrm>
          <a:prstGeom prst="rect">
            <a:avLst/>
          </a:prstGeom>
          <a:noFill/>
        </p:spPr>
        <p:txBody>
          <a:bodyPr wrap="none">
            <a:spAutoFit/>
          </a:bodyPr>
          <a:lstStyle/>
          <a:p>
            <a:pPr algn="ctr"/>
            <a:r>
              <a:rPr sz="1300" b="1">
                <a:solidFill>
                  <a:srgbClr val="0F172A"/>
                </a:solidFill>
                <a:latin typeface="Times New Roman"/>
              </a:rPr>
              <a:t>Edge-Loc Defect</a:t>
            </a:r>
          </a:p>
        </p:txBody>
      </p:sp>
      <p:pic>
        <p:nvPicPr>
          <p:cNvPr id="243" name="Picture 242" descr="image.png"/>
          <p:cNvPicPr>
            <a:picLocks noChangeAspect="1"/>
          </p:cNvPicPr>
          <p:nvPr/>
        </p:nvPicPr>
        <p:blipFill>
          <a:blip r:embed="rId7"/>
          <a:stretch>
            <a:fillRect/>
          </a:stretch>
        </p:blipFill>
        <p:spPr>
          <a:xfrm>
            <a:off x="8503920" y="3840480"/>
            <a:ext cx="2103120" cy="1554480"/>
          </a:xfrm>
          <a:prstGeom prst="rect">
            <a:avLst/>
          </a:prstGeom>
        </p:spPr>
      </p:pic>
      <p:sp>
        <p:nvSpPr>
          <p:cNvPr id="244" name="TextBox 243"/>
          <p:cNvSpPr txBox="1"/>
          <p:nvPr/>
        </p:nvSpPr>
        <p:spPr>
          <a:xfrm>
            <a:off x="8503920" y="5349240"/>
            <a:ext cx="2103120" cy="320040"/>
          </a:xfrm>
          <a:prstGeom prst="rect">
            <a:avLst/>
          </a:prstGeom>
          <a:noFill/>
        </p:spPr>
        <p:txBody>
          <a:bodyPr wrap="none">
            <a:spAutoFit/>
          </a:bodyPr>
          <a:lstStyle/>
          <a:p>
            <a:pPr algn="ctr"/>
            <a:r>
              <a:rPr sz="1300" b="1">
                <a:solidFill>
                  <a:srgbClr val="0F172A"/>
                </a:solidFill>
                <a:latin typeface="Times New Roman"/>
              </a:rPr>
              <a:t>Scratch Defect</a:t>
            </a:r>
          </a:p>
        </p:txBody>
      </p:sp>
    </p:spTree>
    <p:extLst>
      <p:ext uri="{BB962C8B-B14F-4D97-AF65-F5344CB8AC3E}">
        <p14:creationId xmlns:p14="http://schemas.microsoft.com/office/powerpoint/2010/main" val="4042837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4000" dirty="0">
                <a:solidFill>
                  <a:srgbClr val="181C24"/>
                </a:solidFill>
                <a:highlight>
                  <a:srgbClr val="FFFFFF"/>
                </a:highlight>
                <a:latin typeface="Times New Roman"/>
                <a:ea typeface="Times New Roman"/>
                <a:cs typeface="Times New Roman"/>
                <a:sym typeface="Times New Roman"/>
              </a:rPr>
              <a:t> </a:t>
            </a:r>
            <a:r>
              <a:rPr lang="en-US" sz="3600" b="1" dirty="0">
                <a:solidFill>
                  <a:srgbClr val="181C24"/>
                </a:solidFill>
                <a:highlight>
                  <a:srgbClr val="FFFFFF"/>
                </a:highlight>
                <a:latin typeface="Times New Roman"/>
                <a:ea typeface="Times New Roman"/>
                <a:cs typeface="Times New Roman"/>
                <a:sym typeface="Times New Roman"/>
              </a:rPr>
              <a:t>NOVELTY OF THE PROJECT</a:t>
            </a:r>
            <a:endParaRPr sz="3600" b="1" dirty="0">
              <a:latin typeface="Times New Roman"/>
              <a:ea typeface="Times New Roman"/>
              <a:cs typeface="Times New Roman"/>
              <a:sym typeface="Times New Roman"/>
            </a:endParaRP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4000" dirty="0">
                <a:solidFill>
                  <a:srgbClr val="181C24"/>
                </a:solidFill>
                <a:highlight>
                  <a:srgbClr val="FFFFFF"/>
                </a:highlight>
                <a:latin typeface="Times New Roman"/>
                <a:ea typeface="Times New Roman"/>
                <a:cs typeface="Times New Roman"/>
                <a:sym typeface="Times New Roman"/>
              </a:rPr>
              <a:t> </a:t>
            </a:r>
            <a:r>
              <a:rPr lang="en-US" sz="3600" b="1" dirty="0">
                <a:solidFill>
                  <a:srgbClr val="181C24"/>
                </a:solidFill>
                <a:highlight>
                  <a:srgbClr val="FFFFFF"/>
                </a:highlight>
                <a:latin typeface="Times New Roman"/>
                <a:ea typeface="Times New Roman"/>
                <a:cs typeface="Times New Roman"/>
                <a:sym typeface="Times New Roman"/>
              </a:rPr>
              <a:t>SCOPE</a:t>
            </a:r>
            <a:endParaRPr sz="3600" b="1" dirty="0">
              <a:latin typeface="Times New Roman"/>
              <a:ea typeface="Times New Roman"/>
              <a:cs typeface="Times New Roman"/>
              <a:sym typeface="Times New Roman"/>
            </a:endParaRPr>
          </a:p>
        </p:txBody>
      </p:sp>
      <p:sp>
        <p:nvSpPr>
          <p:cNvPr id="124" name="Google Shape;124;p3"/>
          <p:cNvSpPr txBox="1">
            <a:spLocks noGrp="1"/>
          </p:cNvSpPr>
          <p:nvPr>
            <p:ph type="subTitle" idx="1"/>
          </p:nvPr>
        </p:nvSpPr>
        <p:spPr>
          <a:xfrm>
            <a:off x="459967" y="2055887"/>
            <a:ext cx="11128800" cy="4351800"/>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1200"/>
              </a:spcBef>
              <a:buSzPts val="2600"/>
              <a:buFont typeface="Noto Sans Symbols"/>
              <a:buChar char="⮪"/>
            </a:pPr>
            <a:r>
              <a:rPr lang="en-US" sz="2800" b="1" dirty="0">
                <a:latin typeface="Times New Roman" panose="02020603050405020304" pitchFamily="18" charset="0"/>
                <a:cs typeface="Times New Roman" panose="02020603050405020304" pitchFamily="18" charset="0"/>
              </a:rPr>
              <a:t>Current Scope</a:t>
            </a:r>
          </a:p>
          <a:p>
            <a:pPr marL="1054100" lvl="1" indent="-457200" algn="l">
              <a:spcBef>
                <a:spcPts val="1200"/>
              </a:spcBef>
              <a:buSzPts val="2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Supports secure online examinations with authenticated access, encrypted storage and blockchain-based audit trails for a single institution.</a:t>
            </a:r>
          </a:p>
          <a:p>
            <a:pPr marL="342900" lvl="0" indent="-342900" algn="l">
              <a:lnSpc>
                <a:spcPct val="100000"/>
              </a:lnSpc>
              <a:spcBef>
                <a:spcPts val="1200"/>
              </a:spcBef>
              <a:buSzPts val="2600"/>
              <a:buFont typeface="Noto Sans Symbols"/>
              <a:buChar char="⮪"/>
            </a:pPr>
            <a:r>
              <a:rPr lang="en-US" sz="2800" b="1" dirty="0">
                <a:latin typeface="Times New Roman" panose="02020603050405020304" pitchFamily="18" charset="0"/>
                <a:cs typeface="Times New Roman" panose="02020603050405020304" pitchFamily="18" charset="0"/>
              </a:rPr>
              <a:t>Future Enhancements</a:t>
            </a:r>
          </a:p>
          <a:p>
            <a:pPr marL="1054100" lvl="1" indent="-457200" algn="l">
              <a:spcBef>
                <a:spcPts val="1200"/>
              </a:spcBef>
              <a:buSzPts val="2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AI-based proctoring, multi-institution federation, mobile app support and advanced analytics dashboards.</a:t>
            </a: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8</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METHODOLOGY &amp; WORKFLOW</a:t>
            </a:r>
            <a:endParaRPr sz="3600" b="1" dirty="0">
              <a:latin typeface="Times New Roman"/>
              <a:ea typeface="Times New Roman"/>
              <a:cs typeface="Times New Roman"/>
              <a:sym typeface="Times New Roman"/>
            </a:endParaRPr>
          </a:p>
        </p:txBody>
      </p:sp>
      <p:sp>
        <p:nvSpPr>
          <p:cNvPr id="124" name="Google Shape;124;p3"/>
          <p:cNvSpPr txBox="1">
            <a:spLocks noGrp="1"/>
          </p:cNvSpPr>
          <p:nvPr>
            <p:ph type="subTitle" idx="1"/>
          </p:nvPr>
        </p:nvSpPr>
        <p:spPr>
          <a:xfrm>
            <a:off x="731520" y="1920240"/>
            <a:ext cx="10698480" cy="4114800"/>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800"/>
              </a:spcBef>
              <a:spcAft>
                <a:spcPts val="200"/>
              </a:spcAft>
              <a:buSzPts val="2600"/>
              <a:buFont typeface="Noto Sans Symbols"/>
              <a:buChar char="⮪"/>
            </a:pPr>
            <a:r>
              <a:rPr sz="2200" b="1">
                <a:solidFill>
                  <a:srgbClr val="0284C7"/>
                </a:solidFill>
                <a:latin typeface="Times New Roman"/>
              </a:rPr>
              <a:t>Phase 1: Dataset Curation &amp; Preprocessing</a:t>
            </a:r>
          </a:p>
          <a:p>
            <a:pPr>
              <a:spcBef>
                <a:spcPts val="200"/>
              </a:spcBef>
              <a:spcAft>
                <a:spcPts val="400"/>
              </a:spcAft>
            </a:pPr>
            <a:r>
              <a:rPr sz="1800" b="0">
                <a:solidFill>
                  <a:srgbClr val="1E293B"/>
                </a:solidFill>
                <a:latin typeface="Times New Roman"/>
              </a:rPr>
              <a:t>•  Extracted wafer maps from the WM-811K benchmark; performed spatial bicubic/nearest resizing to 224x224 and tensor normalization (ImageNet mean &amp; std).</a:t>
            </a:r>
          </a:p>
          <a:p>
            <a:pPr>
              <a:spcBef>
                <a:spcPts val="800"/>
              </a:spcBef>
              <a:spcAft>
                <a:spcPts val="200"/>
              </a:spcAft>
            </a:pPr>
            <a:r>
              <a:rPr sz="2200" b="1">
                <a:solidFill>
                  <a:srgbClr val="0284C7"/>
                </a:solidFill>
                <a:latin typeface="Times New Roman"/>
              </a:rPr>
              <a:t>Phase 2: Transfer Learning &amp; Model Fine-Tuning</a:t>
            </a:r>
          </a:p>
          <a:p>
            <a:pPr>
              <a:spcBef>
                <a:spcPts val="200"/>
              </a:spcBef>
              <a:spcAft>
                <a:spcPts val="400"/>
              </a:spcAft>
            </a:pPr>
            <a:r>
              <a:rPr sz="1800" b="0">
                <a:solidFill>
                  <a:srgbClr val="1E293B"/>
                </a:solidFill>
                <a:latin typeface="Times New Roman"/>
              </a:rPr>
              <a:t>•  Utilized pre-trained MobileNetV3-Small backbone with inverted residual bottlenecks and Hard-Swish activations; replaced the classification head with an 8-output linear layer.</a:t>
            </a:r>
          </a:p>
          <a:p>
            <a:pPr>
              <a:spcBef>
                <a:spcPts val="800"/>
              </a:spcBef>
              <a:spcAft>
                <a:spcPts val="200"/>
              </a:spcAft>
            </a:pPr>
            <a:r>
              <a:rPr sz="2200" b="1">
                <a:solidFill>
                  <a:srgbClr val="0284C7"/>
                </a:solidFill>
                <a:latin typeface="Times New Roman"/>
              </a:rPr>
              <a:t>Phase 3: Training &amp; Regularization Pipeline</a:t>
            </a:r>
          </a:p>
          <a:p>
            <a:pPr>
              <a:spcBef>
                <a:spcPts val="200"/>
              </a:spcBef>
              <a:spcAft>
                <a:spcPts val="400"/>
              </a:spcAft>
            </a:pPr>
            <a:r>
              <a:rPr sz="1800" b="0">
                <a:solidFill>
                  <a:srgbClr val="1E293B"/>
                </a:solidFill>
                <a:latin typeface="Times New Roman"/>
              </a:rPr>
              <a:t>•  Trained using Adam optimizer, cross-entropy loss, dropout regularization (p=0.2), and early stopping to prevent overfitting on majority classes.</a:t>
            </a:r>
          </a:p>
          <a:p>
            <a:pPr>
              <a:spcBef>
                <a:spcPts val="800"/>
              </a:spcBef>
              <a:spcAft>
                <a:spcPts val="200"/>
              </a:spcAft>
            </a:pPr>
            <a:r>
              <a:rPr sz="2200" b="1">
                <a:solidFill>
                  <a:srgbClr val="0284C7"/>
                </a:solidFill>
                <a:latin typeface="Times New Roman"/>
              </a:rPr>
              <a:t>Phase 4: ONNX Compilation &amp; Edge Integration</a:t>
            </a:r>
          </a:p>
          <a:p>
            <a:pPr>
              <a:spcBef>
                <a:spcPts val="200"/>
              </a:spcBef>
              <a:spcAft>
                <a:spcPts val="400"/>
              </a:spcAft>
            </a:pPr>
            <a:r>
              <a:rPr sz="1800" b="0">
                <a:solidFill>
                  <a:srgbClr val="1E293B"/>
                </a:solidFill>
                <a:latin typeface="Times New Roman"/>
              </a:rPr>
              <a:t>•  Exported PyTorch computational graph to ONNX with CPU graph optimizations; integrated into a high-concurrency Python REST server and interactive web visualizer.</a:t>
            </a: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lang="en-US" sz="4000" dirty="0">
                <a:solidFill>
                  <a:srgbClr val="181C24"/>
                </a:solidFill>
                <a:highlight>
                  <a:srgbClr val="FFFFFF"/>
                </a:highlight>
                <a:latin typeface="Times New Roman"/>
                <a:ea typeface="Times New Roman"/>
                <a:cs typeface="Times New Roman"/>
                <a:sym typeface="Times New Roman"/>
              </a:rPr>
              <a:t> </a:t>
            </a:r>
            <a:r>
              <a:rPr lang="en-US" sz="3600" b="1" dirty="0">
                <a:solidFill>
                  <a:srgbClr val="181C24"/>
                </a:solidFill>
                <a:highlight>
                  <a:srgbClr val="FFFFFF"/>
                </a:highlight>
                <a:latin typeface="Times New Roman"/>
                <a:ea typeface="Times New Roman"/>
                <a:cs typeface="Times New Roman"/>
                <a:sym typeface="Times New Roman"/>
              </a:rPr>
              <a:t>HARDWARE REQUIREMENTS</a:t>
            </a:r>
            <a:endParaRPr sz="3600" b="1" dirty="0">
              <a:latin typeface="Times New Roman"/>
              <a:ea typeface="Times New Roman"/>
              <a:cs typeface="Times New Roman"/>
              <a:sym typeface="Times New Roman"/>
            </a:endParaRPr>
          </a:p>
        </p:txBody>
      </p:sp>
      <p:sp>
        <p:nvSpPr>
          <p:cNvPr id="124" name="Google Shape;124;p3"/>
          <p:cNvSpPr txBox="1">
            <a:spLocks noGrp="1"/>
          </p:cNvSpPr>
          <p:nvPr>
            <p:ph type="subTitle" idx="1"/>
          </p:nvPr>
        </p:nvSpPr>
        <p:spPr>
          <a:xfrm>
            <a:off x="459967" y="2055887"/>
            <a:ext cx="11128800" cy="4351800"/>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1200"/>
              </a:spcBef>
              <a:buSzPts val="2600"/>
              <a:buFont typeface="Noto Sans Symbols"/>
              <a:buChar char="⮪"/>
            </a:pPr>
            <a:r>
              <a:rPr lang="en-US" dirty="0">
                <a:latin typeface="Times New Roman" panose="02020603050405020304" pitchFamily="18" charset="0"/>
                <a:cs typeface="Times New Roman" panose="02020603050405020304" pitchFamily="18" charset="0"/>
              </a:rPr>
              <a:t>Intel i5 Processor (or equivalent)</a:t>
            </a:r>
          </a:p>
          <a:p>
            <a:pPr marL="342900" lvl="0" indent="-342900" algn="l">
              <a:lnSpc>
                <a:spcPct val="100000"/>
              </a:lnSpc>
              <a:spcBef>
                <a:spcPts val="1200"/>
              </a:spcBef>
              <a:buSzPts val="2600"/>
              <a:buFont typeface="Noto Sans Symbols"/>
              <a:buChar char="⮪"/>
            </a:pPr>
            <a:r>
              <a:rPr lang="en-US" dirty="0">
                <a:latin typeface="Times New Roman" panose="02020603050405020304" pitchFamily="18" charset="0"/>
                <a:cs typeface="Times New Roman" panose="02020603050405020304" pitchFamily="18" charset="0"/>
              </a:rPr>
              <a:t>8 GB RAM</a:t>
            </a:r>
          </a:p>
          <a:p>
            <a:pPr marL="342900" lvl="0" indent="-342900" algn="l">
              <a:lnSpc>
                <a:spcPct val="100000"/>
              </a:lnSpc>
              <a:spcBef>
                <a:spcPts val="1200"/>
              </a:spcBef>
              <a:buSzPts val="2600"/>
              <a:buFont typeface="Noto Sans Symbols"/>
              <a:buChar char="⮪"/>
            </a:pPr>
            <a:r>
              <a:rPr lang="en-US" dirty="0">
                <a:latin typeface="Times New Roman" panose="02020603050405020304" pitchFamily="18" charset="0"/>
                <a:cs typeface="Times New Roman" panose="02020603050405020304" pitchFamily="18" charset="0"/>
              </a:rPr>
              <a:t>256 GB SSD Storage</a:t>
            </a:r>
          </a:p>
          <a:p>
            <a:pPr marL="342900" lvl="0" indent="-342900" algn="l">
              <a:lnSpc>
                <a:spcPct val="100000"/>
              </a:lnSpc>
              <a:spcBef>
                <a:spcPts val="1200"/>
              </a:spcBef>
              <a:buSzPts val="2600"/>
              <a:buFont typeface="Noto Sans Symbols"/>
              <a:buChar char="⮪"/>
            </a:pPr>
            <a:r>
              <a:rPr lang="en-US" dirty="0">
                <a:latin typeface="Times New Roman" panose="02020603050405020304" pitchFamily="18" charset="0"/>
                <a:cs typeface="Times New Roman" panose="02020603050405020304" pitchFamily="18" charset="0"/>
              </a:rPr>
              <a:t>Stable Internet Connection</a:t>
            </a: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9</a:t>
            </a:r>
            <a:endParaRPr/>
          </a:p>
        </p:txBody>
      </p:sp>
      <p:pic>
        <p:nvPicPr>
          <p:cNvPr id="121" name="Google Shape;121;p3"/>
          <p:cNvPicPr preferRelativeResize="0"/>
          <p:nvPr/>
        </p:nvPicPr>
        <p:blipFill rotWithShape="1">
          <a:blip r:embed="rId2">
            <a:alphaModFix/>
          </a:blip>
          <a:srcRect/>
          <a:stretch/>
        </p:blipFill>
        <p:spPr>
          <a:xfrm>
            <a:off x="11072819" y="154753"/>
            <a:ext cx="816174" cy="930568"/>
          </a:xfrm>
          <a:prstGeom prst="rect">
            <a:avLst/>
          </a:prstGeom>
          <a:noFill/>
          <a:ln>
            <a:noFill/>
          </a:ln>
        </p:spPr>
      </p:pic>
      <p:sp>
        <p:nvSpPr>
          <p:cNvPr id="122" name="Google Shape;122;p3"/>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123" name="Google Shape;123;p3"/>
          <p:cNvSpPr txBox="1">
            <a:spLocks noGrp="1"/>
          </p:cNvSpPr>
          <p:nvPr>
            <p:ph type="ctrTitle"/>
          </p:nvPr>
        </p:nvSpPr>
        <p:spPr>
          <a:xfrm>
            <a:off x="459967" y="1100168"/>
            <a:ext cx="9625800" cy="761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81C24"/>
              </a:buClr>
              <a:buSzPts val="4000"/>
              <a:buFont typeface="Times New Roman"/>
              <a:buNone/>
            </a:pPr>
            <a:r>
              <a:rPr sz="3400" b="1">
                <a:solidFill>
                  <a:srgbClr val="0F172A"/>
                </a:solidFill>
                <a:latin typeface="Times New Roman"/>
              </a:rPr>
              <a:t>EXPERIMENTAL RESULTS &amp; OUTCOMES</a:t>
            </a:r>
            <a:endParaRPr sz="3600" b="1" dirty="0">
              <a:latin typeface="Times New Roman"/>
              <a:ea typeface="Times New Roman"/>
              <a:cs typeface="Times New Roman"/>
              <a:sym typeface="Times New Roman"/>
            </a:endParaRPr>
          </a:p>
        </p:txBody>
      </p:sp>
      <p:sp>
        <p:nvSpPr>
          <p:cNvPr id="124" name="Google Shape;124;p3"/>
          <p:cNvSpPr txBox="1">
            <a:spLocks noGrp="1"/>
          </p:cNvSpPr>
          <p:nvPr>
            <p:ph type="subTitle" idx="1"/>
          </p:nvPr>
        </p:nvSpPr>
        <p:spPr>
          <a:xfrm>
            <a:off x="731520" y="1828800"/>
            <a:ext cx="6217920" cy="4114800"/>
          </a:xfrm>
          <a:prstGeom prst="rect">
            <a:avLst/>
          </a:prstGeom>
          <a:noFill/>
          <a:ln>
            <a:noFill/>
          </a:ln>
        </p:spPr>
        <p:txBody>
          <a:bodyPr spcFirstLastPara="1" wrap="square" lIns="91425" tIns="45700" rIns="91425" bIns="45700" anchor="t" anchorCtr="0">
            <a:normAutofit/>
          </a:bodyPr>
          <a:lstStyle/>
          <a:p>
            <a:pPr marL="342900" lvl="0" indent="-342900" algn="l">
              <a:lnSpc>
                <a:spcPct val="100000"/>
              </a:lnSpc>
              <a:spcBef>
                <a:spcPts val="600"/>
              </a:spcBef>
              <a:spcAft>
                <a:spcPts val="200"/>
              </a:spcAft>
              <a:buSzPts val="2600"/>
              <a:buFont typeface="Noto Sans Symbols"/>
              <a:buChar char="⮪"/>
            </a:pPr>
            <a:r>
              <a:rPr sz="2000" b="1">
                <a:solidFill>
                  <a:srgbClr val="0284C7"/>
                </a:solidFill>
                <a:latin typeface="Times New Roman"/>
              </a:rPr>
              <a:t>Key Performance Metrics</a:t>
            </a:r>
          </a:p>
          <a:p>
            <a:pPr>
              <a:spcBef>
                <a:spcPts val="200"/>
              </a:spcBef>
              <a:spcAft>
                <a:spcPts val="300"/>
              </a:spcAft>
            </a:pPr>
            <a:r>
              <a:rPr sz="1500" b="0">
                <a:solidFill>
                  <a:srgbClr val="1E293B"/>
                </a:solidFill>
                <a:latin typeface="Times New Roman"/>
              </a:rPr>
              <a:t>•  Overall Test Set Accuracy: 98.02% across 121,719 test wafer samples.</a:t>
            </a:r>
          </a:p>
          <a:p>
            <a:pPr>
              <a:spcBef>
                <a:spcPts val="200"/>
              </a:spcBef>
              <a:spcAft>
                <a:spcPts val="300"/>
              </a:spcAft>
            </a:pPr>
            <a:r>
              <a:rPr sz="1500" b="0">
                <a:solidFill>
                  <a:srgbClr val="1E293B"/>
                </a:solidFill>
                <a:latin typeface="Times New Roman"/>
              </a:rPr>
              <a:t>•  Macro Precision: 0.6897  |  Macro Recall: 0.6177</a:t>
            </a:r>
          </a:p>
          <a:p>
            <a:pPr>
              <a:spcBef>
                <a:spcPts val="200"/>
              </a:spcBef>
              <a:spcAft>
                <a:spcPts val="300"/>
              </a:spcAft>
            </a:pPr>
            <a:r>
              <a:rPr sz="1500" b="0">
                <a:solidFill>
                  <a:srgbClr val="1E293B"/>
                </a:solidFill>
                <a:latin typeface="Times New Roman"/>
              </a:rPr>
              <a:t>•  Inference Latency: 1.53 ms on standard CPU (zero GPU requirement).</a:t>
            </a:r>
          </a:p>
          <a:p>
            <a:pPr>
              <a:spcBef>
                <a:spcPts val="200"/>
              </a:spcBef>
              <a:spcAft>
                <a:spcPts val="300"/>
              </a:spcAft>
            </a:pPr>
            <a:r>
              <a:rPr sz="1500" b="0">
                <a:solidFill>
                  <a:srgbClr val="1E293B"/>
                </a:solidFill>
                <a:latin typeface="Times New Roman"/>
              </a:rPr>
              <a:t>•  Model Binary Footprint: 5.84 MB (ultra-compact ONNX engine).</a:t>
            </a:r>
          </a:p>
          <a:p>
            <a:pPr>
              <a:spcBef>
                <a:spcPts val="600"/>
              </a:spcBef>
              <a:spcAft>
                <a:spcPts val="200"/>
              </a:spcAft>
            </a:pPr>
            <a:r>
              <a:rPr sz="2000" b="1">
                <a:solidFill>
                  <a:srgbClr val="0284C7"/>
                </a:solidFill>
                <a:latin typeface="Times New Roman"/>
              </a:rPr>
              <a:t>Per-Class Defect Verification Highlights</a:t>
            </a:r>
          </a:p>
          <a:p>
            <a:pPr>
              <a:spcBef>
                <a:spcPts val="200"/>
              </a:spcBef>
              <a:spcAft>
                <a:spcPts val="300"/>
              </a:spcAft>
            </a:pPr>
            <a:r>
              <a:rPr sz="1500" b="0">
                <a:solidFill>
                  <a:srgbClr val="1E293B"/>
                </a:solidFill>
                <a:latin typeface="Times New Roman"/>
              </a:rPr>
              <a:t>•  Clean (Nominal): 99.98% Precision, 100% Detection Rate (Near-zero false alarms).</a:t>
            </a:r>
          </a:p>
          <a:p>
            <a:pPr>
              <a:spcBef>
                <a:spcPts val="200"/>
              </a:spcBef>
              <a:spcAft>
                <a:spcPts val="300"/>
              </a:spcAft>
            </a:pPr>
            <a:r>
              <a:rPr sz="1500" b="0">
                <a:solidFill>
                  <a:srgbClr val="1E293B"/>
                </a:solidFill>
                <a:latin typeface="Times New Roman"/>
              </a:rPr>
              <a:t>•  Scratch: 99.92% Confidence with clear linear scratch isolation.</a:t>
            </a:r>
          </a:p>
          <a:p>
            <a:pPr>
              <a:spcBef>
                <a:spcPts val="200"/>
              </a:spcBef>
              <a:spcAft>
                <a:spcPts val="300"/>
              </a:spcAft>
            </a:pPr>
            <a:r>
              <a:rPr sz="1500" b="0">
                <a:solidFill>
                  <a:srgbClr val="1E293B"/>
                </a:solidFill>
                <a:latin typeface="Times New Roman"/>
              </a:rPr>
              <a:t>•  Donut: 99.99% Confidence detecting radial thermal ring defects.</a:t>
            </a:r>
          </a:p>
          <a:p>
            <a:pPr>
              <a:spcBef>
                <a:spcPts val="200"/>
              </a:spcBef>
              <a:spcAft>
                <a:spcPts val="300"/>
              </a:spcAft>
            </a:pPr>
            <a:r>
              <a:rPr sz="1500" b="0">
                <a:solidFill>
                  <a:srgbClr val="1E293B"/>
                </a:solidFill>
                <a:latin typeface="Times New Roman"/>
              </a:rPr>
              <a:t>•  Center Cluster: 98.01% Confidence detecting CMP slurry anomalies.</a:t>
            </a:r>
          </a:p>
          <a:p>
            <a:pPr>
              <a:spcBef>
                <a:spcPts val="200"/>
              </a:spcBef>
              <a:spcAft>
                <a:spcPts val="300"/>
              </a:spcAft>
            </a:pPr>
            <a:r>
              <a:rPr sz="1500" b="0">
                <a:solidFill>
                  <a:srgbClr val="1E293B"/>
                </a:solidFill>
                <a:latin typeface="Times New Roman"/>
              </a:rPr>
              <a:t>•  Edge-Loc &amp; Loc: &gt;99.2% Confidence identifying localized clusters.</a:t>
            </a:r>
          </a:p>
        </p:txBody>
      </p:sp>
      <p:pic>
        <p:nvPicPr>
          <p:cNvPr id="125" name="Google Shape;125;p3"/>
          <p:cNvPicPr preferRelativeResize="0"/>
          <p:nvPr/>
        </p:nvPicPr>
        <p:blipFill rotWithShape="1">
          <a:blip r:embed="rId3">
            <a:alphaModFix/>
          </a:blip>
          <a:srcRect l="15320" t="28789" r="16466" b="54857"/>
          <a:stretch/>
        </p:blipFill>
        <p:spPr>
          <a:xfrm>
            <a:off x="155527" y="217182"/>
            <a:ext cx="4521325" cy="812948"/>
          </a:xfrm>
          <a:prstGeom prst="rect">
            <a:avLst/>
          </a:prstGeom>
          <a:noFill/>
          <a:ln>
            <a:noFill/>
          </a:ln>
        </p:spPr>
      </p:pic>
      <p:pic>
        <p:nvPicPr>
          <p:cNvPr id="126" name="Picture 125" descr="confusion_matrix.png"/>
          <p:cNvPicPr>
            <a:picLocks noChangeAspect="1"/>
          </p:cNvPicPr>
          <p:nvPr/>
        </p:nvPicPr>
        <p:blipFill>
          <a:blip r:embed="rId4"/>
          <a:stretch>
            <a:fillRect/>
          </a:stretch>
        </p:blipFill>
        <p:spPr>
          <a:xfrm>
            <a:off x="7132320" y="1920240"/>
            <a:ext cx="4206240" cy="3840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7"/>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64" name="Google Shape;164;p7"/>
          <p:cNvSpPr txBox="1">
            <a:spLocks noGrp="1"/>
          </p:cNvSpPr>
          <p:nvPr>
            <p:ph type="title" idx="4294967295"/>
          </p:nvPr>
        </p:nvSpPr>
        <p:spPr>
          <a:xfrm>
            <a:off x="0" y="7080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81C24"/>
              </a:buClr>
              <a:buSzPts val="3600"/>
              <a:buFont typeface="Times New Roman"/>
              <a:buNone/>
            </a:pPr>
            <a:r>
              <a:rPr lang="en-US" sz="3600" i="0" dirty="0">
                <a:solidFill>
                  <a:srgbClr val="181C24"/>
                </a:solidFill>
                <a:highlight>
                  <a:srgbClr val="FFFFFF"/>
                </a:highlight>
                <a:latin typeface="Times New Roman"/>
                <a:ea typeface="Times New Roman"/>
                <a:cs typeface="Times New Roman"/>
                <a:sym typeface="Times New Roman"/>
              </a:rPr>
              <a:t>    </a:t>
            </a:r>
            <a:r>
              <a:rPr lang="en-US" sz="3600" b="1" i="0" dirty="0">
                <a:solidFill>
                  <a:srgbClr val="181C24"/>
                </a:solidFill>
                <a:highlight>
                  <a:srgbClr val="FFFFFF"/>
                </a:highlight>
                <a:latin typeface="Times New Roman"/>
                <a:ea typeface="Times New Roman"/>
                <a:cs typeface="Times New Roman"/>
                <a:sym typeface="Times New Roman"/>
              </a:rPr>
              <a:t>PROJECT TIMELINE</a:t>
            </a:r>
            <a:endParaRPr sz="3600" b="1" dirty="0">
              <a:latin typeface="Times New Roman"/>
              <a:ea typeface="Times New Roman"/>
              <a:cs typeface="Times New Roman"/>
              <a:sym typeface="Times New Roman"/>
            </a:endParaRPr>
          </a:p>
        </p:txBody>
      </p:sp>
      <p:pic>
        <p:nvPicPr>
          <p:cNvPr id="167" name="Google Shape;167;p7"/>
          <p:cNvPicPr preferRelativeResize="0"/>
          <p:nvPr/>
        </p:nvPicPr>
        <p:blipFill rotWithShape="1">
          <a:blip r:embed="rId2">
            <a:alphaModFix/>
          </a:blip>
          <a:srcRect/>
          <a:stretch/>
        </p:blipFill>
        <p:spPr>
          <a:xfrm>
            <a:off x="159971" y="211556"/>
            <a:ext cx="4290731" cy="770131"/>
          </a:xfrm>
          <a:prstGeom prst="rect">
            <a:avLst/>
          </a:prstGeom>
          <a:noFill/>
          <a:ln>
            <a:noFill/>
          </a:ln>
        </p:spPr>
      </p:pic>
      <p:pic>
        <p:nvPicPr>
          <p:cNvPr id="168" name="Google Shape;168;p7"/>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169" name="Google Shape;169;p7"/>
          <p:cNvSpPr/>
          <p:nvPr/>
        </p:nvSpPr>
        <p:spPr>
          <a:xfrm>
            <a:off x="21336" y="6356350"/>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6"/>
          <p:cNvSpPr txBox="1">
            <a:spLocks noGrp="1"/>
          </p:cNvSpPr>
          <p:nvPr>
            <p:ph type="title"/>
          </p:nvPr>
        </p:nvSpPr>
        <p:spPr>
          <a:xfrm>
            <a:off x="680884" y="743804"/>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sz="3400" b="1">
                <a:solidFill>
                  <a:srgbClr val="0F172A"/>
                </a:solidFill>
                <a:latin typeface="Times New Roman"/>
              </a:rPr>
              <a:t>REFERENCES</a:t>
            </a:r>
            <a:endParaRPr b="1" dirty="0"/>
          </a:p>
        </p:txBody>
      </p:sp>
      <p:sp>
        <p:nvSpPr>
          <p:cNvPr id="384" name="Google Shape;384;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10</a:t>
            </a:r>
            <a:endParaRPr/>
          </a:p>
        </p:txBody>
      </p:sp>
      <p:pic>
        <p:nvPicPr>
          <p:cNvPr id="385" name="Google Shape;385;p26"/>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386" name="Google Shape;386;p26"/>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387" name="Google Shape;387;p26"/>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388" name="TextBox 387"/>
          <p:cNvSpPr txBox="1"/>
          <p:nvPr/>
        </p:nvSpPr>
        <p:spPr>
          <a:xfrm>
            <a:off x="731520" y="1920240"/>
            <a:ext cx="10698480" cy="4114800"/>
          </a:xfrm>
          <a:prstGeom prst="rect">
            <a:avLst/>
          </a:prstGeom>
          <a:noFill/>
        </p:spPr>
        <p:txBody>
          <a:bodyPr wrap="square">
            <a:spAutoFit/>
          </a:bodyPr>
          <a:lstStyle/>
          <a:p>
            <a:pPr>
              <a:spcBef>
                <a:spcPts val="200"/>
              </a:spcBef>
              <a:spcAft>
                <a:spcPts val="400"/>
              </a:spcAft>
            </a:pPr>
            <a:r>
              <a:rPr sz="1800" b="0">
                <a:solidFill>
                  <a:srgbClr val="1E293B"/>
                </a:solidFill>
                <a:latin typeface="Times New Roman"/>
              </a:rPr>
              <a:t>•  1. M.-J. Wu, J.-S. R. Jang, and J.-L. Chen, 'Wafer map failure pattern recognition and similarity ranking for large-scale semiconductor manufacturing,' IEEE Transactions on Semiconductor Manufacturing, vol. 28, no. 1, pp. 1–12, 2015.</a:t>
            </a:r>
          </a:p>
          <a:p>
            <a:pPr>
              <a:spcBef>
                <a:spcPts val="200"/>
              </a:spcBef>
              <a:spcAft>
                <a:spcPts val="400"/>
              </a:spcAft>
            </a:pPr>
            <a:r>
              <a:rPr sz="1800" b="0">
                <a:solidFill>
                  <a:srgbClr val="1E293B"/>
                </a:solidFill>
                <a:latin typeface="Times New Roman"/>
              </a:rPr>
              <a:t>•  2. A. Howard, M. Sandler, G. Chu, L.-C. Chen, B. Chen, M. Tan, W. Wang, Y. Zhu, R. Pang, V. Vasudevan et al., 'Searching for MobileNetV3,' in Proceedings of the IEEE/CVF International Conference on Computer Vision (ICCV), 2019, pp. 1314–1324.</a:t>
            </a:r>
          </a:p>
          <a:p>
            <a:pPr>
              <a:spcBef>
                <a:spcPts val="200"/>
              </a:spcBef>
              <a:spcAft>
                <a:spcPts val="400"/>
              </a:spcAft>
            </a:pPr>
            <a:r>
              <a:rPr sz="1800" b="0">
                <a:solidFill>
                  <a:srgbClr val="1E293B"/>
                </a:solidFill>
                <a:latin typeface="Times New Roman"/>
              </a:rPr>
              <a:t>•  3. T. Nakazawa and D. V. Kulkarni, 'Wafer map defect pattern classification and retrieval using convolutional neural networks,' IEEE Transactions on Semiconductor Manufacturing, vol. 31, no. 2, pp. 309–314, 2018.</a:t>
            </a:r>
          </a:p>
          <a:p>
            <a:pPr>
              <a:spcBef>
                <a:spcPts val="200"/>
              </a:spcBef>
              <a:spcAft>
                <a:spcPts val="400"/>
              </a:spcAft>
            </a:pPr>
            <a:r>
              <a:rPr sz="1800" b="0">
                <a:solidFill>
                  <a:srgbClr val="1E293B"/>
                </a:solidFill>
                <a:latin typeface="Times New Roman"/>
              </a:rPr>
              <a:t>•  4. S. Cheon, H. Lee, C. O. Kim, and S. H. Lee, 'Convolutional neural network for wafer surface defect classification and the detection of unknown defect classes,' IEEE Transactions on Semiconductor Manufacturing, vol. 32, no. 2, pp. 163–170, 2019.</a:t>
            </a:r>
          </a:p>
          <a:p>
            <a:pPr>
              <a:spcBef>
                <a:spcPts val="200"/>
              </a:spcBef>
              <a:spcAft>
                <a:spcPts val="400"/>
              </a:spcAft>
            </a:pPr>
            <a:r>
              <a:rPr sz="1800" b="0">
                <a:solidFill>
                  <a:srgbClr val="1E293B"/>
                </a:solidFill>
                <a:latin typeface="Times New Roman"/>
              </a:rPr>
              <a:t>•  5. ONNX Runtime Developers, 'ONNX Runtime: Cross-platform, high performance ML inferencing and training accelerator,' Linux Foundation / Microsoft, 2024. [Online]. Available: https://onnxruntime.ai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sz="1800" b="1">
                <a:solidFill>
                  <a:srgbClr val="0F172A"/>
                </a:solidFill>
                <a:latin typeface="Times New Roman"/>
              </a:rPr>
              <a:t>11</a:t>
            </a:r>
            <a:endParaRPr/>
          </a:p>
        </p:txBody>
      </p:sp>
      <p:pic>
        <p:nvPicPr>
          <p:cNvPr id="393" name="Google Shape;393;p27"/>
          <p:cNvPicPr preferRelativeResize="0"/>
          <p:nvPr/>
        </p:nvPicPr>
        <p:blipFill rotWithShape="1">
          <a:blip r:embed="rId2">
            <a:alphaModFix/>
          </a:blip>
          <a:srcRect/>
          <a:stretch/>
        </p:blipFill>
        <p:spPr>
          <a:xfrm>
            <a:off x="159971" y="211556"/>
            <a:ext cx="4517529" cy="810838"/>
          </a:xfrm>
          <a:prstGeom prst="rect">
            <a:avLst/>
          </a:prstGeom>
          <a:noFill/>
          <a:ln>
            <a:noFill/>
          </a:ln>
        </p:spPr>
      </p:pic>
      <p:pic>
        <p:nvPicPr>
          <p:cNvPr id="394" name="Google Shape;394;p27"/>
          <p:cNvPicPr preferRelativeResize="0"/>
          <p:nvPr/>
        </p:nvPicPr>
        <p:blipFill rotWithShape="1">
          <a:blip r:embed="rId3">
            <a:alphaModFix/>
          </a:blip>
          <a:srcRect/>
          <a:stretch/>
        </p:blipFill>
        <p:spPr>
          <a:xfrm>
            <a:off x="11072819" y="154753"/>
            <a:ext cx="816174" cy="930568"/>
          </a:xfrm>
          <a:prstGeom prst="rect">
            <a:avLst/>
          </a:prstGeom>
          <a:noFill/>
          <a:ln>
            <a:noFill/>
          </a:ln>
        </p:spPr>
      </p:pic>
      <p:sp>
        <p:nvSpPr>
          <p:cNvPr id="395" name="Google Shape;395;p27"/>
          <p:cNvSpPr/>
          <p:nvPr/>
        </p:nvSpPr>
        <p:spPr>
          <a:xfrm>
            <a:off x="0" y="6407689"/>
            <a:ext cx="7684389" cy="461665"/>
          </a:xfrm>
          <a:custGeom>
            <a:avLst/>
            <a:gdLst/>
            <a:ahLst/>
            <a:cxnLst/>
            <a:rect l="l" t="t" r="r" b="b"/>
            <a:pathLst>
              <a:path w="6172200" h="369332" extrusionOk="0">
                <a:moveTo>
                  <a:pt x="0" y="0"/>
                </a:moveTo>
                <a:lnTo>
                  <a:pt x="5791200" y="0"/>
                </a:lnTo>
                <a:lnTo>
                  <a:pt x="6172200" y="369332"/>
                </a:lnTo>
                <a:lnTo>
                  <a:pt x="0" y="369332"/>
                </a:lnTo>
                <a:lnTo>
                  <a:pt x="0" y="0"/>
                </a:lnTo>
                <a:close/>
              </a:path>
            </a:pathLst>
          </a:cu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Gill Sans"/>
              <a:buNone/>
            </a:pPr>
            <a:r>
              <a:rPr lang="en-US" sz="2400">
                <a:solidFill>
                  <a:schemeClr val="lt1"/>
                </a:solidFill>
                <a:latin typeface="Gill Sans"/>
                <a:ea typeface="Gill Sans"/>
                <a:cs typeface="Gill Sans"/>
                <a:sym typeface="Gill Sans"/>
              </a:rPr>
              <a:t>LEARN . GROW . EXCEL</a:t>
            </a:r>
            <a:endParaRPr sz="1800">
              <a:solidFill>
                <a:schemeClr val="dk1"/>
              </a:solidFill>
              <a:latin typeface="Calibri"/>
              <a:ea typeface="Calibri"/>
              <a:cs typeface="Calibri"/>
              <a:sym typeface="Calibri"/>
            </a:endParaRPr>
          </a:p>
        </p:txBody>
      </p:sp>
      <p:sp>
        <p:nvSpPr>
          <p:cNvPr id="396" name="Google Shape;396;p27"/>
          <p:cNvSpPr txBox="1">
            <a:spLocks noGrp="1"/>
          </p:cNvSpPr>
          <p:nvPr>
            <p:ph type="title"/>
          </p:nvPr>
        </p:nvSpPr>
        <p:spPr>
          <a:xfrm>
            <a:off x="754224" y="2665957"/>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sz="5400" b="1">
                <a:solidFill>
                  <a:srgbClr val="0F172A"/>
                </a:solidFill>
                <a:latin typeface="Times New Roman"/>
              </a:rPr>
              <a:t>THANK YOU</a:t>
            </a:r>
            <a:endParaRPr i="1">
              <a:latin typeface="Times New Roman"/>
              <a:ea typeface="Times New Roman"/>
              <a:cs typeface="Times New Roman"/>
              <a:sym typeface="Times New Roman"/>
            </a:endParaRPr>
          </a:p>
        </p:txBody>
      </p:sp>
      <p:sp>
        <p:nvSpPr>
          <p:cNvPr id="397" name="Questions Subtitle"/>
          <p:cNvSpPr txBox="1"/>
          <p:nvPr/>
        </p:nvSpPr>
        <p:spPr>
          <a:xfrm>
            <a:off x="754224" y="4000000"/>
            <a:ext cx="10515600" cy="7000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buNone/>
            </a:pPr>
            <a:r>
              <a:rPr sz="2600" b="1">
                <a:solidFill>
                  <a:srgbClr val="0284C7"/>
                </a:solidFill>
                <a:latin typeface="Times New Roman"/>
              </a:rPr>
              <a:t>Questions &amp; Discussion</a:t>
            </a:r>
            <a:endParaRPr sz="2800" dirty="0">
              <a:latin typeface="Times New Roman"/>
              <a:ea typeface="Times New Roman"/>
              <a:cs typeface="Times New Roman"/>
              <a:sym typeface="Times New Roman"/>
            </a:endParaRPr>
          </a:p>
          <a:p>
            <a:pPr algn="ctr"/>
          </a:p>
          <a:p>
            <a:pPr algn="ctr"/>
            <a:r>
              <a:rPr sz="2000" b="1">
                <a:solidFill>
                  <a:srgbClr val="0F172A"/>
                </a:solidFill>
                <a:latin typeface="Times New Roman"/>
              </a:rPr>
              <a:t>Automated Semiconductor Wafer Defect Inspection System</a:t>
            </a:r>
          </a:p>
          <a:p>
            <a:pPr algn="ctr"/>
            <a:r>
              <a:rPr sz="1600" b="0">
                <a:solidFill>
                  <a:srgbClr val="1E293B"/>
                </a:solidFill>
                <a:latin typeface="Times New Roman"/>
              </a:rPr>
              <a:t>B.Tech Mini Project Final Internal Review • Saintgits College of Engineering (Autonomous)</a:t>
            </a:r>
          </a:p>
          <a:p>
            <a:pPr algn="ctr"/>
            <a:r>
              <a:rPr sz="1600" b="0">
                <a:solidFill>
                  <a:srgbClr val="1E293B"/>
                </a:solidFill>
                <a:latin typeface="Times New Roman"/>
              </a:rPr>
              <a:t>Team: Adithyan B • Anna Boban • Noopa Maria Rojan</a:t>
            </a:r>
          </a:p>
          <a:p>
            <a:pPr algn="ctr"/>
            <a:r>
              <a:rPr sz="1600" b="0">
                <a:solidFill>
                  <a:srgbClr val="1E293B"/>
                </a:solidFill>
                <a:latin typeface="Times New Roman"/>
              </a:rPr>
              <a:t>Supervisor: Er. Justin Mathew, Assistant Professor, Dept. of ECE</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400</Words>
  <Application>Microsoft Office PowerPoint</Application>
  <PresentationFormat>Widescreen</PresentationFormat>
  <Paragraphs>84</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Times New Roman</vt:lpstr>
      <vt:lpstr>Gill Sans</vt:lpstr>
      <vt:lpstr>Calibri</vt:lpstr>
      <vt:lpstr>Arial</vt:lpstr>
      <vt:lpstr>Noto Sans Symbols</vt:lpstr>
      <vt:lpstr>Office 2013 - 2022 Theme</vt:lpstr>
      <vt:lpstr>Office Theme</vt:lpstr>
      <vt:lpstr>PROJECT TITLE</vt:lpstr>
      <vt:lpstr> INTRODUCTION</vt:lpstr>
      <vt:lpstr> PROBLEM STATEMENT</vt:lpstr>
      <vt:lpstr> NEED FOR THE PROJECT</vt:lpstr>
      <vt:lpstr> OBJECTIVES</vt:lpstr>
      <vt:lpstr>EXISTING SYSTEM</vt:lpstr>
      <vt:lpstr>PROPOSED SYSTEM</vt:lpstr>
      <vt:lpstr> NOVELTY OF THE PROJECT</vt:lpstr>
      <vt:lpstr> SCOPE</vt:lpstr>
      <vt:lpstr> SOFTWARE REQUIREMENTS</vt:lpstr>
      <vt:lpstr> HARDWARE REQUIREMENTS</vt:lpstr>
      <vt:lpstr> EXPECTED OUTCOME</vt:lpstr>
      <vt:lpstr>    PROJECT TIMELINE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QB844</dc:creator>
  <cp:lastModifiedBy>HARI</cp:lastModifiedBy>
  <cp:revision>6</cp:revision>
  <dcterms:created xsi:type="dcterms:W3CDTF">2024-08-12T15:06:11Z</dcterms:created>
  <dcterms:modified xsi:type="dcterms:W3CDTF">2026-07-28T10:53:53Z</dcterms:modified>
</cp:coreProperties>
</file>