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SAINTGITS COLLEGE OF ENGINEERING (AUTONOMOUS) • B.TECH MINI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End-to-End Deep Learning Pipeline for Automated Semiconductor Wafer Defect Classification with ONNX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A Lightweight MobileNetV3-Small Architecture &amp; Edge Runtime Framework for Real-Time Wafer Map Pattern Inspection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493776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11480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Presented By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ADITHYAN B  (Roll No: MGP23EVLSI001)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ANNA BOBAN  (Roll No: MGP23EVLSI002)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NOOPA MARIA ROJAN  (Roll No: MGP23EVLSI009)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02920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Project Supervisor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ER. JUSTIN MATHEW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Assistant Professor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Department of Computer Science &amp; Engineering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Saintgits College of Engineering (Autonomous)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Problem Statement &amp; Industrial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1. Manual Visual Inspection Bottleneck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Manual inspection in high-volume fabs is slow, expensive, and inconsistent.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High fatigue causes critical defect escapes to packaging stages.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Inability to inspect 100% of wafers in modern sub-micron fabrication nodes.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2. Complex Defect Spatial Geometries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Defect patterns indicate specific root-cause fabrication errors.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Ring defects stem from CMP/spin coating; scratches from handling robot arms.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Traditional heuristics and manual filters fail to capture diverse spatial topologies.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3. Legacy Dataset Formats &amp; Inconsistencies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The benchmark WM-811K (LSWMD) dataset is stored in legacy pickle format.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Discontinued Pandas indexing conventions break modern Python environments.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Severe class imbalance where &gt;96% of wafers are defect-free (Clean).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3F5E"/>
                </a:solidFill>
              </a:defRPr>
            </a:pPr>
            <a:r>
              <a:t>4. Edge Latency &amp; Compute Constraints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Conventional heavyweight CNNs (ResNet, VGG) require costly dedicated GPUs.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Fab floor test stations (ATE) operate under strict real-time deadlines (&lt; 15 ms).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Demand for lightweight, hardware-agnostic cross-platform execution on CPUs/edge.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EA5E9"/>
                </a:solidFill>
              </a:defRPr>
            </a:pPr>
            <a:r>
              <a:t>01. Automated Ingestion &amp; Standardization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Develop a robust Python preprocessing pipeline to parse raw LSWMD.pkl (811,472 records), apply compatibility patches, and convert wafer arrays into standardized 224x224 8-bit grayscale images across 8 defect classes.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6984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8892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02. Lightweight Deep Learning Architecture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Fine-tune MobileNetV3-Small with depthwise separable convolutions and custom 8-class classification head using transfer learning for maximum parameter efficiency (&lt; 1.5M parameters).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106984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4904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03. Stratified Partitioning &amp; Loss Optimization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Implement a 70% Train, 15% Validation, 15% Test stratified partition with Cross-Entropy Loss and Adam optimizer (lr=3e-4) to ensure robust generalization across rare defect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26280"/>
            <a:ext cx="106984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EA5E9"/>
                </a:solidFill>
              </a:defRPr>
            </a:pPr>
            <a:r>
              <a:t>04. Hardware-Agnostic ONNX Optimization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Export trained PyTorch weights to ONNX format (Opset 12) with dynamic batch support and constant folding, slashing runtime footprint to 5.83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669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05. Production-Ready Inference Engine &amp; Interactive Demo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Deploy a standalone CLI runner (run_inference.py) and interactive browser-based dashboard with top-3 confidence scoring and sub-2ms CPU inference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Literature Survey &amp; Research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Saqlain et al. (IEEE Access, 2019)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Approach: Voting ensemble classifier combining multiple ML algorithms.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Finding: Improved accuracy over single classical classifiers.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Gaps: Computationally demanding, high memory footprint, lacking end-to-end edge inference runtime.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Nakazawa &amp; Kulkarni (IEEE TSM, 2018)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Approach: Conventional deep CNNs for wafer map feature extraction.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Finding: Proved automated spatial feature learning outperforms manual features.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Gaps: Heavy parameter count (&gt;20M params), impractical for real-time edge ATE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3891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Howard et al. (ICCV, 2019)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Approach: MobileNetV3 with hardware-aware NAS &amp; depthwise convolutions.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Finding: High accuracy on ImageNet with minimal latency.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Gaps: General natural images only; not tuned or evaluated for wafer map defect topography.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2120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3891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3F5E"/>
                </a:solidFill>
              </a:defRPr>
            </a:pPr>
            <a:r>
              <a:t>Our Proposed Contribution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End-to-end automated pipeline from legacy pickle to edge inference.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MobileNetV3-Small adapted for 8 wafer classes with ONNX Opset 12 export.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Delivers 98.02% test accuracy with ~1.8 ms inference latency on standard CPU.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EA5E9"/>
                </a:solidFill>
              </a:defRPr>
            </a:pPr>
            <a:r>
              <a:t>STAGE A: DATA PIPELINE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Raw LSWMD.pkl parsing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Pandas index compatibility patch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Bilinear resize to 224x224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Min-Max normalization (0-255)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70% / 15% / 15% Stratified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56032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STAGE B: MODEL TRAINING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Backbone: MobileNetV3-Small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Inverted residual blocks + SE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Custom 8-class classification head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Adam optimizer (lr=3e-4)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Cross-Entropy loss over 8 epochs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6032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STAGE C: ONNX OPTIMIZATION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PyTorch model graph trace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ONNX Opset 12 export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Constant folding &amp; prune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Dynamic batch dimension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Model size: 5.83 MB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56032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43F5E"/>
                </a:solidFill>
              </a:defRPr>
            </a:pPr>
            <a:r>
              <a:t>STAGE D: EDGE INFERENCE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ONNX Runtime CPU engine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ImageNet tensor normalization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Top-3 confidence scoring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Sub-2ms inference latency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Web demo &amp; CLI runner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23560"/>
            <a:ext cx="1078992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80644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EA5E9"/>
                </a:solidFill>
              </a:defRPr>
            </a:pPr>
            <a:r>
              <a:t>Target Defect Classes (8 Categories)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Center  |  Donut  |  Edge-Loc  |  Edge-Ring  |  Loc  |  Scratch  |  Other (Random/Near-full)  |  Clean (None)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WM-811K (LSWMD) Dataset &amp; Image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Dataset Profile &amp; Challenges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Total Records: 811,472 real semiconductor wafer maps collected from 46,393 lots.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Labeled Samples: ~172,950 annotated wafers with failure patterns.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Severe Real-World Imbalance: Over 96% of manufactured wafers are defect-free (Clean).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Array Representation: Variable resolution 2D matrices where 0 = exterior, 1 = normal die, 2 = defect die.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Automated Preprocessing: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1. Unpickle with runtime patch for deprecated pandas Int64Index.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2. Filter valid 2D wafer arrays and map 9 raw labels to 8 standardized targets.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3. Standardize dimensions to 224x224 via bilinear interpolation.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4. Scale pixel values to 0-255 grayscale PNG images.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5. Generate stratified Train (70%), Validation (15%), Test (15%) partitions.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Representative Wafer Defect Patterns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Visual examples of real silicon wafer defect topography:</a:t>
            </a:r>
          </a:p>
        </p:txBody>
      </p:sp>
      <p:pic>
        <p:nvPicPr>
          <p:cNvPr id="9" name="Picture 8" descr="center_3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77440"/>
            <a:ext cx="210312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397764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Center Defect</a:t>
            </a:r>
          </a:p>
        </p:txBody>
      </p:sp>
      <p:pic>
        <p:nvPicPr>
          <p:cNvPr id="11" name="Picture 10" descr="donut_252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2377440"/>
            <a:ext cx="210312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61120" y="397764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Donut Defect</a:t>
            </a:r>
          </a:p>
        </p:txBody>
      </p:sp>
      <p:pic>
        <p:nvPicPr>
          <p:cNvPr id="13" name="Picture 12" descr="edge_loc_25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389120"/>
            <a:ext cx="2103120" cy="1554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92240" y="59893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Edge-Loc Defect</a:t>
            </a:r>
          </a:p>
        </p:txBody>
      </p:sp>
      <p:pic>
        <p:nvPicPr>
          <p:cNvPr id="15" name="Picture 14" descr="scratch_1290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389120"/>
            <a:ext cx="2103120" cy="1554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61120" y="59893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Scratch Defect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Model Architecture: MobileNetV3-Small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Architectural Highlights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Depthwise Separable Convolutions: Drastically reduces multiply-accumulate (MAC) operations compared to standard 3x3 convolutions.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Inverted Residual Blocks: Expand-filter-squeeze structure retains high-dimensional spatial features while preserving a compact memory footprint.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Squeeze-and-Excitation (SE) Modules: Channel-wise attention mechanisms adaptively recalibrate defect feature map weights.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Hard-Swish (h-swish) Activation: Avoids costly sigmoid/exp computations, optimizing execution on mobile and embedded CPU hardware.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Custom Transfer Learning Head: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Global Average Pooling (7x7 -&gt; 1x1x1024)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Fully Connected Layer: 1,024 -&gt; 8 logits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Softmax output across 8 defect categories.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Architectural Efficiency Comparison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Feature                     MobileNetV3-Small    ResNet-50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-------------------------------------------------------------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Parameter Count        ~1.5 Million               ~25.5 Million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Model Size (pth)          6.24 MB                    97.8 MB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ONNX Size                   5.83 MB                    94.2 MB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FLOPs                          ~0.06 GFLOPs           ~4.1 GFLOPs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Inference Latency       1.8 ms (CPU)             22.4 ms (CPU)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Edge Deployable?        YES (Micro ATE)       High GPU Needed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Key Takeaway: MobileNetV3-Small delivers over 16x reduction in model size and 12x faster CPU inference while maintaining top-tier classification accuracy for industrial wafer defect detection.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Training Methodology &amp; Hyperparameter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Hyperparameters &amp; Training Strategy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Input Resolution: 224 x 224 pixels (3-channel duplicated grayscale)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Batch Size: 32 samples per mini-batch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Optimization Algorithm: Adam Optimizer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Learning Rate: 3e-4 (0.0003) for stable transfer learning convergence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Loss Function: Cross-Entropy Loss over 8 categorical defect outputs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Training Duration: 8 Epochs with per-epoch validation checkpointing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Normalization: Standard ImageNet channel stats (mean=[0.485, 0.456, 0.406], std=[0.229, 0.224, 0.225])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Hardware: NVIDIA GPU with CUDA acceleration for rapid training.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Epoch Convergence History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1:  Train Loss: 0.0663  |  Val Loss: 0.0593  |  Val Acc: 97.74%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2:  Train Loss: 0.0537  |  Val Loss: 0.0543  |  Val Acc: 97.92%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3:  Train Loss: 0.0490  |  Val Loss: 0.0518  |  Val Acc: 97.98%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4:  Train Loss: 0.0449  |  Val Loss: 0.0496  |  Val Acc: 98.02%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5:  Train Loss: 0.0415  |  Val Loss: 0.0513  |  Val Acc: 98.05%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6:  Train Loss: 0.0379  |  Val Loss: 0.0538  |  Val Acc: 98.02%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7:  Train Loss: 0.0343  |  Val Loss: 0.0534  |  Val Acc: 98.05%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Epoch 8:  Train Loss: 0.0309  |  Val Loss: 0.0577  |  Val Acc: 97.97%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Analysis: The model achieves optimal validation loss at Epoch 4 (0.0496) with 98.02% accuracy, displaying smooth convergence without severe overfitting.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ONNX Graph Optimization &amp;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Why ONNX for Industrial Deployment?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Open Neural Network Exchange (ONNX): An open ecosystem that frees models from proprietary framework lock-in.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Graph Optimization: Automatically executes constant folding, dead-node elimination, and node fusion.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Hardware Independence: Enables the same binary to execute seamlessly on Intel CPUs, AMD APUs, ARM SoCs, and edge accelerators.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Zero PyTorch Dependency: The deployment runtime requires only onnxruntime (&lt; 15 MB) instead of the entire PyTorch library (&gt; 2 GB).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Export Specs: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Format: Opset 12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Input Name: 'input' with dynamic batch axis (batch_size, 3, 224, 224)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Output Name: 'output' with dynamic batch axis (batch_size, 8)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Model Binary Size: Exactly 5.83 MB.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Inference Pipeline Flow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1. Image Acquisition: Read grayscale wafer map from AOI inspection.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2. Preprocessing: Resize to 224x224, duplicate to 3 channels.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3. Normalization: Apply ImageNet mean/std scaling in NumPy.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4. Session Initialization: Load output/models/model.onnx into ONNX Runtime CPU session.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5. Graph Execution: Execute optimized C++ runtime kernels (session.run).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6. Softmax &amp; Post-processing: Calculate probability distribution across 8 classes.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7. Decision Dispatch: Trigger automated fab sorting or alarm if confidence exceeds threshold.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Measured Latency: 1.82 ms per wafer image on standard CPU.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Experimental Results &amp; Performance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Comprehensive Evaluation Metrics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Overall Test Accuracy: 98.02% (121,719 test wafers)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Macro-Averaged Precision: 0.69 (68.97%)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Macro-Averaged Recall: 0.62 (61.77%)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Weighted Average F1-Score: 0.98 (98.00%)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Per-Class Performance Summary: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Clean Wafers:      99% Precision | 99% Recall (117,891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Edge-Ring Defect: 87% Precision | 76% Recall (1,452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Donut Defect:       73% Precision | 67% Recall (83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Center Defect:       70% Precision | 34% Recall (644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Edge-Loc Defect: 63% Precision | 56% Recall (779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Other Defect:        60% Precision | 70% Recall (152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Loc Defect:           52% Precision | 53% Recall (539 samples)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Scratch Defect:     48% Precision | 39% Recall (179 samples)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Confusion Matrix Heatmap</a:t>
            </a:r>
          </a:p>
        </p:txBody>
      </p:sp>
      <p:pic>
        <p:nvPicPr>
          <p:cNvPr id="9" name="Picture 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46634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Working Project Demonstration &amp; Industrial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1. Production CLI Engine (run_inference.py)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Lightweight standalone Python script without PyTorch dependencies.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Executes ONNX Runtime CPU inference on individual wafer images.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Command: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python run_inference.py wafer_images/scratch/scratch_129086.png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Output: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Prediction: SCRATCH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Confidence: 99.92%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Top-3 Probabilities: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   scratch   : 99.92%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   clean     : 0.07%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    center    : 0.01%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Integrated automated batch test runner (demo_cli.py) testing all 8 defect categories.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2. Interactive Web Demo Dashboard (demo.html)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Modern high-aesthetic browser interface for live demonstration.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Features: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Real-time Interactive Wafer Canvas &amp; Defect Heatmap.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Quick-Test Gallery for all 8 defect categories with 1-click execution.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Custom Image Drag &amp; Drop file uploader.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Live prediction telemetry with top confidence gauge and class bars.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Automated Production Lot Batch Tester (25 wafers/run).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 - Confusion Matrix &amp; Performance Metric Explorer.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Semiconductor Fab Ready: Simulated integration with automated test equipment (ATE) and wafer sorting.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Individual Team Member Contributions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</a:defRPr>
            </a:pPr>
            <a:r>
              <a:t>ADITHYAN B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Roll No: MGP23EVLSI001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Domain: Data Engineering &amp; Pipeline Standardization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Spearheaded WM-811K dataset acquisition (811,472 wafer records).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Engineered compatibility patches for legacy Pandas unpickling.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Built automated 224x224 image conversion and Min-Max scaling.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Designed 70% / 15% / 15% stratified dataset split across all classes.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Formulated the problem statement and literature gap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ANNA BOBAN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Roll No: MGP23EVLSI002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Domain: Deep Learning Architecture &amp; Model Training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Evaluated and selected MobileNetV3-Small for edge parameter efficiency.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Implemented PyTorch transfer learning model with custom 8-class head.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Configured Adam optimizer (lr=3e-4) and Cross-Entropy loss training loop.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Monitored epoch convergence, loss curves, and validation checkpoints.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Analyzed computational complexity and FLOPs reduction vs ResNet.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NOOPA MARIA ROJAN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Roll No: MGP23EVLSI009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Domain: ONNX Optimization, Inference Engine &amp; Demo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Formulated ONNX Opset 12 export with constant folding (5.83 MB binary).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Developed standalone CLI inference engine (run_inference.py).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Conducted rigorous test set evaluation, precision/recall, &amp; confusion matrix.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Measured sub-2ms CPU inference latency benchmarking.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Engineered the interactive web demo dashboard &amp; presentation integration.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SEMICONDUCTOR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Summary, Future Scope &amp; 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</a:defRPr>
            </a:pPr>
            <a:r>
              <a:t>Project Summary &amp; Key Takeaways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Successfully delivered an end-to-end automated pipeline from legacy pickle data to edge deployment.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Achieved 98.02% test accuracy using a compact MobileNetV3-Small architecture (&lt; 1.5M params).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Optimized model into an ultra-lightweight ONNX binary (5.83 MB) running in ~1.8 ms on standard CPUs.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Validated working CLI and interactive web demonstration tools for industrial semiconductor manufacturing.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Phase-2 Future Enhancements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Self-Supervised Pretraining: Leverage contrastive learning (SimCLR/MAE) to further improve rare defect classes (Scratch, Center).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Embedded Hardware Benchmarking: Deploy ONNX model on NVIDIA Jetson Orin Nano and Raspberry Pi 5 with TensorRT acceleration.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Mixed Defect Pattern Detection: Extend architecture to multi-label classification for concurrent defect occurrence.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Real-Time Fab API: Build REST/gRPC microservice for direct integration with automated wafer probers.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Thank You! Questions &amp; Discussion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We sincerely thank our Supervisor Er. Justin Mathew and faculty evaluators. We look forward to your valuable feedback and guidance.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