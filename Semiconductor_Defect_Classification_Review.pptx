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0" r:id="rId2"/>
  </p:sldMasterIdLst>
  <p:notesMasterIdLst>
    <p:notesMasterId r:id="rId18"/>
  </p:notesMasterIdLst>
  <p:sldIdLst>
    <p:sldId id="304" r:id="rId3"/>
    <p:sldId id="305" r:id="rId4"/>
    <p:sldId id="306" r:id="rId5"/>
    <p:sldId id="307" r:id="rId6"/>
    <p:sldId id="308" r:id="rId7"/>
    <p:sldId id="310" r:id="rId8"/>
    <p:sldId id="311" r:id="rId9"/>
    <p:sldId id="312" r:id="rId10"/>
    <p:sldId id="313" r:id="rId11"/>
    <p:sldId id="316" r:id="rId12"/>
    <p:sldId id="317" r:id="rId13"/>
    <p:sldId id="318" r:id="rId14"/>
    <p:sldId id="319" r:id="rId15"/>
    <p:sldId id="322" r:id="rId16"/>
    <p:sldId id="323" r:id="rId17"/>
  </p:sldIdLst>
  <p:sldSz cx="12192000" cy="6858000"/>
  <p:notesSz cx="6858000" cy="9144000"/>
  <p:embeddedFontLst>
    <p:embeddedFont>
      <p:font typeface="Gill Sans" panose="020B0604020202020204" charset="0"/>
      <p:regular r:id="rId19"/>
      <p:bold r:id="rId2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8" roundtripDataSignature="AMtx7mjBb728hTyzQUlTTKdw7QOtHtbLWA=="/>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B24EAD6-1D21-4CFA-A1BF-962E5395714D}" v="18" dt="2025-08-27T07:02:55.17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8" d="100"/>
          <a:sy n="68" d="100"/>
        </p:scale>
        <p:origin x="792"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notesMaster" Target="notesMasters/notesMaster1.xml"/><Relationship Id="rId19" Type="http://schemas.openxmlformats.org/officeDocument/2006/relationships/font" Target="fonts/font1.fntdata"/><Relationship Id="rId20" Type="http://schemas.openxmlformats.org/officeDocument/2006/relationships/font" Target="fonts/font2.fntdata"/><Relationship Id="rId38" Type="http://customschemas.google.com/relationships/presentationmetadata" Target="metadata"/><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43" Type="http://schemas.microsoft.com/office/2015/10/relationships/revisionInfo" Target="revisionInfo.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18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18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18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18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18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18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18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9"/>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29"/>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2"/>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2"/>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33"/>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33"/>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0" name="Google Shape;30;p3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3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3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3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34"/>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34"/>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7" name="Google Shape;37;p3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3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3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35"/>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35"/>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35"/>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35"/>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5" name="Google Shape;45;p35"/>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6" name="Google Shape;46;p3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3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3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3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3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3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3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3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3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3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38"/>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38"/>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1" name="Google Shape;61;p38"/>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2" name="Google Shape;62;p3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3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3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3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39"/>
          <p:cNvSpPr>
            <a:spLocks noGrp="1"/>
          </p:cNvSpPr>
          <p:nvPr>
            <p:ph type="pic" idx="2"/>
          </p:nvPr>
        </p:nvSpPr>
        <p:spPr>
          <a:xfrm>
            <a:off x="5183188" y="987425"/>
            <a:ext cx="6172200" cy="4873625"/>
          </a:xfrm>
          <a:prstGeom prst="rect">
            <a:avLst/>
          </a:prstGeom>
          <a:noFill/>
          <a:ln>
            <a:noFill/>
          </a:ln>
        </p:spPr>
      </p:sp>
      <p:sp>
        <p:nvSpPr>
          <p:cNvPr id="68" name="Google Shape;68;p39"/>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9" name="Google Shape;69;p3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3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3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4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40"/>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4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4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4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41"/>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41"/>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1" name="Google Shape;81;p4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4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4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0"/>
        <p:cNvGrpSpPr/>
        <p:nvPr/>
      </p:nvGrpSpPr>
      <p:grpSpPr>
        <a:xfrm>
          <a:off x="0" y="0"/>
          <a:ext cx="0" cy="0"/>
          <a:chOff x="0" y="0"/>
          <a:chExt cx="0" cy="0"/>
        </a:xfrm>
      </p:grpSpPr>
      <p:sp>
        <p:nvSpPr>
          <p:cNvPr id="91" name="Google Shape;91;p31"/>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2" name="Google Shape;92;p31"/>
          <p:cNvSpPr txBox="1">
            <a:spLocks noGrp="1"/>
          </p:cNvSpPr>
          <p:nvPr>
            <p:ph type="subTitle" idx="1"/>
          </p:nvPr>
        </p:nvSpPr>
        <p:spPr>
          <a:xfrm>
            <a:off x="1524000" y="3602038"/>
            <a:ext cx="9144000" cy="1655700"/>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93" name="Google Shape;93;p31"/>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Clr>
                <a:srgbClr val="888888"/>
              </a:buClr>
              <a:buSzPts val="1400"/>
              <a:buFont typeface="Calibri"/>
              <a:buNone/>
              <a:defRPr/>
            </a:lvl1pPr>
            <a:lvl2pPr lvl="1" algn="l">
              <a:spcBef>
                <a:spcPts val="0"/>
              </a:spcBef>
              <a:spcAft>
                <a:spcPts val="0"/>
              </a:spcAft>
              <a:buClr>
                <a:schemeClr val="dk1"/>
              </a:buClr>
              <a:buSzPts val="1400"/>
              <a:buFont typeface="Calibri"/>
              <a:buNone/>
              <a:defRPr/>
            </a:lvl2pPr>
            <a:lvl3pPr lvl="2" algn="l">
              <a:spcBef>
                <a:spcPts val="0"/>
              </a:spcBef>
              <a:spcAft>
                <a:spcPts val="0"/>
              </a:spcAft>
              <a:buClr>
                <a:schemeClr val="dk1"/>
              </a:buClr>
              <a:buSzPts val="1400"/>
              <a:buFont typeface="Calibri"/>
              <a:buNone/>
              <a:defRPr/>
            </a:lvl3pPr>
            <a:lvl4pPr lvl="3" algn="l">
              <a:spcBef>
                <a:spcPts val="0"/>
              </a:spcBef>
              <a:spcAft>
                <a:spcPts val="0"/>
              </a:spcAft>
              <a:buClr>
                <a:schemeClr val="dk1"/>
              </a:buClr>
              <a:buSzPts val="1400"/>
              <a:buFont typeface="Calibri"/>
              <a:buNone/>
              <a:defRPr/>
            </a:lvl4pPr>
            <a:lvl5pPr lvl="4" algn="l">
              <a:spcBef>
                <a:spcPts val="0"/>
              </a:spcBef>
              <a:spcAft>
                <a:spcPts val="0"/>
              </a:spcAft>
              <a:buClr>
                <a:schemeClr val="dk1"/>
              </a:buClr>
              <a:buSzPts val="1400"/>
              <a:buFont typeface="Calibri"/>
              <a:buNone/>
              <a:defRPr/>
            </a:lvl5pPr>
            <a:lvl6pPr lvl="5" algn="l">
              <a:spcBef>
                <a:spcPts val="0"/>
              </a:spcBef>
              <a:spcAft>
                <a:spcPts val="0"/>
              </a:spcAft>
              <a:buClr>
                <a:schemeClr val="dk1"/>
              </a:buClr>
              <a:buSzPts val="1400"/>
              <a:buFont typeface="Calibri"/>
              <a:buNone/>
              <a:defRPr/>
            </a:lvl6pPr>
            <a:lvl7pPr lvl="6" algn="l">
              <a:spcBef>
                <a:spcPts val="0"/>
              </a:spcBef>
              <a:spcAft>
                <a:spcPts val="0"/>
              </a:spcAft>
              <a:buClr>
                <a:schemeClr val="dk1"/>
              </a:buClr>
              <a:buSzPts val="1400"/>
              <a:buFont typeface="Calibri"/>
              <a:buNone/>
              <a:defRPr/>
            </a:lvl7pPr>
            <a:lvl8pPr lvl="7" algn="l">
              <a:spcBef>
                <a:spcPts val="0"/>
              </a:spcBef>
              <a:spcAft>
                <a:spcPts val="0"/>
              </a:spcAft>
              <a:buClr>
                <a:schemeClr val="dk1"/>
              </a:buClr>
              <a:buSzPts val="1400"/>
              <a:buFont typeface="Calibri"/>
              <a:buNone/>
              <a:defRPr/>
            </a:lvl8pPr>
            <a:lvl9pPr lvl="8" algn="l">
              <a:spcBef>
                <a:spcPts val="0"/>
              </a:spcBef>
              <a:spcAft>
                <a:spcPts val="0"/>
              </a:spcAft>
              <a:buClr>
                <a:schemeClr val="dk1"/>
              </a:buClr>
              <a:buSzPts val="1400"/>
              <a:buFont typeface="Calibri"/>
              <a:buNone/>
              <a:defRPr/>
            </a:lvl9pPr>
          </a:lstStyle>
          <a:p>
            <a:endParaRPr/>
          </a:p>
        </p:txBody>
      </p:sp>
      <p:sp>
        <p:nvSpPr>
          <p:cNvPr id="94" name="Google Shape;94;p31"/>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Clr>
                <a:srgbClr val="888888"/>
              </a:buClr>
              <a:buSzPts val="1400"/>
              <a:buFont typeface="Calibri"/>
              <a:buNone/>
              <a:defRPr/>
            </a:lvl1pPr>
            <a:lvl2pPr lvl="1" algn="l">
              <a:spcBef>
                <a:spcPts val="0"/>
              </a:spcBef>
              <a:spcAft>
                <a:spcPts val="0"/>
              </a:spcAft>
              <a:buClr>
                <a:schemeClr val="dk1"/>
              </a:buClr>
              <a:buSzPts val="1400"/>
              <a:buFont typeface="Calibri"/>
              <a:buNone/>
              <a:defRPr/>
            </a:lvl2pPr>
            <a:lvl3pPr lvl="2" algn="l">
              <a:spcBef>
                <a:spcPts val="0"/>
              </a:spcBef>
              <a:spcAft>
                <a:spcPts val="0"/>
              </a:spcAft>
              <a:buClr>
                <a:schemeClr val="dk1"/>
              </a:buClr>
              <a:buSzPts val="1400"/>
              <a:buFont typeface="Calibri"/>
              <a:buNone/>
              <a:defRPr/>
            </a:lvl3pPr>
            <a:lvl4pPr lvl="3" algn="l">
              <a:spcBef>
                <a:spcPts val="0"/>
              </a:spcBef>
              <a:spcAft>
                <a:spcPts val="0"/>
              </a:spcAft>
              <a:buClr>
                <a:schemeClr val="dk1"/>
              </a:buClr>
              <a:buSzPts val="1400"/>
              <a:buFont typeface="Calibri"/>
              <a:buNone/>
              <a:defRPr/>
            </a:lvl4pPr>
            <a:lvl5pPr lvl="4" algn="l">
              <a:spcBef>
                <a:spcPts val="0"/>
              </a:spcBef>
              <a:spcAft>
                <a:spcPts val="0"/>
              </a:spcAft>
              <a:buClr>
                <a:schemeClr val="dk1"/>
              </a:buClr>
              <a:buSzPts val="1400"/>
              <a:buFont typeface="Calibri"/>
              <a:buNone/>
              <a:defRPr/>
            </a:lvl5pPr>
            <a:lvl6pPr lvl="5" algn="l">
              <a:spcBef>
                <a:spcPts val="0"/>
              </a:spcBef>
              <a:spcAft>
                <a:spcPts val="0"/>
              </a:spcAft>
              <a:buClr>
                <a:schemeClr val="dk1"/>
              </a:buClr>
              <a:buSzPts val="1400"/>
              <a:buFont typeface="Calibri"/>
              <a:buNone/>
              <a:defRPr/>
            </a:lvl6pPr>
            <a:lvl7pPr lvl="6" algn="l">
              <a:spcBef>
                <a:spcPts val="0"/>
              </a:spcBef>
              <a:spcAft>
                <a:spcPts val="0"/>
              </a:spcAft>
              <a:buClr>
                <a:schemeClr val="dk1"/>
              </a:buClr>
              <a:buSzPts val="1400"/>
              <a:buFont typeface="Calibri"/>
              <a:buNone/>
              <a:defRPr/>
            </a:lvl7pPr>
            <a:lvl8pPr lvl="7" algn="l">
              <a:spcBef>
                <a:spcPts val="0"/>
              </a:spcBef>
              <a:spcAft>
                <a:spcPts val="0"/>
              </a:spcAft>
              <a:buClr>
                <a:schemeClr val="dk1"/>
              </a:buClr>
              <a:buSzPts val="1400"/>
              <a:buFont typeface="Calibri"/>
              <a:buNone/>
              <a:defRPr/>
            </a:lvl8pPr>
            <a:lvl9pPr lvl="8" algn="l">
              <a:spcBef>
                <a:spcPts val="0"/>
              </a:spcBef>
              <a:spcAft>
                <a:spcPts val="0"/>
              </a:spcAft>
              <a:buClr>
                <a:schemeClr val="dk1"/>
              </a:buClr>
              <a:buSzPts val="1400"/>
              <a:buFont typeface="Calibri"/>
              <a:buNone/>
              <a:defRPr/>
            </a:lvl9pPr>
          </a:lstStyle>
          <a:p>
            <a:endParaRPr/>
          </a:p>
        </p:txBody>
      </p:sp>
      <p:sp>
        <p:nvSpPr>
          <p:cNvPr id="95" name="Google Shape;95;p31"/>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1pPr>
            <a:lvl2pPr marL="0" marR="0" lvl="1"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2pPr>
            <a:lvl3pPr marL="0" marR="0" lvl="2"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3pPr>
            <a:lvl4pPr marL="0" marR="0" lvl="3"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4pPr>
            <a:lvl5pPr marL="0" marR="0" lvl="4"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5pPr>
            <a:lvl6pPr marL="0" marR="0" lvl="5"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6pPr>
            <a:lvl7pPr marL="0" marR="0" lvl="6"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7pPr>
            <a:lvl8pPr marL="0" marR="0" lvl="7"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8pPr>
            <a:lvl9pPr marL="0" marR="0" lvl="8"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2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2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84"/>
        <p:cNvGrpSpPr/>
        <p:nvPr/>
      </p:nvGrpSpPr>
      <p:grpSpPr>
        <a:xfrm>
          <a:off x="0" y="0"/>
          <a:ext cx="0" cy="0"/>
          <a:chOff x="0" y="0"/>
          <a:chExt cx="0" cy="0"/>
        </a:xfrm>
      </p:grpSpPr>
      <p:sp>
        <p:nvSpPr>
          <p:cNvPr id="85" name="Google Shape;85;p30"/>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marR="0" lvl="0" algn="l">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86" name="Google Shape;86;p30"/>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7" name="Google Shape;87;p30"/>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R="0" lvl="1"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R="0" lvl="2"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R="0" lvl="3"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R="0" lvl="4"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R="0" lvl="5"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R="0" lvl="6"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R="0" lvl="7"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R="0" lvl="8"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8" name="Google Shape;88;p30"/>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a:spcBef>
                <a:spcPts val="0"/>
              </a:spcBef>
              <a:spcAft>
                <a:spcPts val="0"/>
              </a:spcAft>
              <a:buClr>
                <a:srgbClr val="888888"/>
              </a:buClr>
              <a:buSzPts val="1400"/>
              <a:buFont typeface="Calibri"/>
              <a:buNone/>
              <a:defRPr sz="1200" b="0" i="0" u="none" strike="noStrike" cap="none">
                <a:solidFill>
                  <a:srgbClr val="888888"/>
                </a:solidFill>
                <a:latin typeface="Calibri"/>
                <a:ea typeface="Calibri"/>
                <a:cs typeface="Calibri"/>
                <a:sym typeface="Calibri"/>
              </a:defRPr>
            </a:lvl1pPr>
            <a:lvl2pPr marR="0" lvl="1"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2pPr>
            <a:lvl3pPr marR="0" lvl="2"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3pPr>
            <a:lvl4pPr marR="0" lvl="3"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4pPr>
            <a:lvl5pPr marR="0" lvl="4"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5pPr>
            <a:lvl6pPr marR="0" lvl="5"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6pPr>
            <a:lvl7pPr marR="0" lvl="6"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7pPr>
            <a:lvl8pPr marR="0" lvl="7"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8pPr>
            <a:lvl9pPr marR="0" lvl="8" algn="l">
              <a:spcBef>
                <a:spcPts val="0"/>
              </a:spcBef>
              <a:spcAft>
                <a:spcPts val="0"/>
              </a:spcAft>
              <a:buClr>
                <a:schemeClr val="dk1"/>
              </a:buClr>
              <a:buSzPts val="1400"/>
              <a:buFont typeface="Calibri"/>
              <a:buNone/>
              <a:defRPr sz="1800" b="0" i="0" u="none" strike="noStrike" cap="none">
                <a:solidFill>
                  <a:schemeClr val="dk1"/>
                </a:solidFill>
                <a:latin typeface="Calibri"/>
                <a:ea typeface="Calibri"/>
                <a:cs typeface="Calibri"/>
                <a:sym typeface="Calibri"/>
              </a:defRPr>
            </a:lvl9pPr>
          </a:lstStyle>
          <a:p>
            <a:endParaRPr/>
          </a:p>
        </p:txBody>
      </p:sp>
      <p:sp>
        <p:nvSpPr>
          <p:cNvPr id="89" name="Google Shape;89;p30"/>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1pPr>
            <a:lvl2pPr marL="0" marR="0" lvl="1"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2pPr>
            <a:lvl3pPr marL="0" marR="0" lvl="2"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3pPr>
            <a:lvl4pPr marL="0" marR="0" lvl="3"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4pPr>
            <a:lvl5pPr marL="0" marR="0" lvl="4"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5pPr>
            <a:lvl6pPr marL="0" marR="0" lvl="5"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6pPr>
            <a:lvl7pPr marL="0" marR="0" lvl="6"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7pPr>
            <a:lvl8pPr marL="0" marR="0" lvl="7"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8pPr>
            <a:lvl9pPr marL="0" marR="0" lvl="8" indent="0" algn="r">
              <a:spcBef>
                <a:spcPts val="0"/>
              </a:spcBef>
              <a:spcAft>
                <a:spcPts val="0"/>
              </a:spcAft>
              <a:buClr>
                <a:srgbClr val="888888"/>
              </a:buClr>
              <a:buSzPts val="1200"/>
              <a:buFont typeface="Calibri"/>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61" r:id="rId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png"/><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image" Target="../media/image1.png"/><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1"/>
          <p:cNvSpPr txBox="1">
            <a:spLocks noGrp="1"/>
          </p:cNvSpPr>
          <p:nvPr>
            <p:ph type="ctrTitle"/>
          </p:nvPr>
        </p:nvSpPr>
        <p:spPr>
          <a:xfrm>
            <a:off x="1349100" y="2194559"/>
            <a:ext cx="9238500" cy="974915"/>
          </a:xfrm>
          <a:prstGeom prst="rect">
            <a:avLst/>
          </a:prstGeom>
          <a:noFill/>
          <a:ln>
            <a:noFill/>
          </a:ln>
        </p:spPr>
        <p:txBody>
          <a:bodyPr spcFirstLastPara="1" wrap="square" lIns="91425" tIns="45700" rIns="91425" bIns="45700" anchor="b" anchorCtr="0">
            <a:normAutofit/>
          </a:bodyPr>
          <a:lstStyle/>
          <a:p>
            <a:pPr marL="0" lvl="0" indent="0" rtl="0" algn="l">
              <a:lnSpc>
                <a:spcPct val="90000"/>
              </a:lnSpc>
              <a:spcBef>
                <a:spcPts val="0"/>
              </a:spcBef>
              <a:spcAft>
                <a:spcPts val="0"/>
              </a:spcAft>
              <a:buClr>
                <a:schemeClr val="dk1"/>
              </a:buClr>
              <a:buSzPts val="4400"/>
              <a:buFont typeface="Times New Roman"/>
              <a:buNone/>
            </a:pPr>
            <a:r>
              <a:rPr sz="2600" b="1">
                <a:solidFill>
                  <a:srgbClr val="0F172A"/>
                </a:solidFill>
                <a:latin typeface="Times New Roman"/>
              </a:rPr>
              <a:t>AUTOMATED SEMICONDUCTOR WAFER DEFECT CLASSIFICATION USING DEEP LEARNING FOR REAL-TIME AOI SYSTEMS</a:t>
            </a:r>
            <a:endParaRPr sz="4400" b="1" dirty="0">
              <a:latin typeface="Times New Roman"/>
              <a:ea typeface="Times New Roman"/>
              <a:cs typeface="Times New Roman"/>
              <a:sym typeface="Times New Roman"/>
            </a:endParaRPr>
          </a:p>
        </p:txBody>
      </p:sp>
      <p:sp>
        <p:nvSpPr>
          <p:cNvPr id="101" name="Google Shape;101;p1"/>
          <p:cNvSpPr txBox="1">
            <a:spLocks noGrp="1"/>
          </p:cNvSpPr>
          <p:nvPr>
            <p:ph type="subTitle" idx="1"/>
          </p:nvPr>
        </p:nvSpPr>
        <p:spPr>
          <a:xfrm>
            <a:off x="6636774" y="3350000"/>
            <a:ext cx="5555100" cy="2900000"/>
          </a:xfrm>
          <a:prstGeom prst="rect">
            <a:avLst/>
          </a:prstGeom>
          <a:noFill/>
          <a:ln>
            <a:noFill/>
          </a:ln>
        </p:spPr>
        <p:txBody>
          <a:bodyPr spcFirstLastPara="1" wrap="square" lIns="91425" tIns="45700" rIns="91425" bIns="45700" anchor="t" anchorCtr="0">
            <a:normAutofit/>
          </a:bodyPr>
          <a:lstStyle/>
          <a:p>
            <a:pPr marL="0" marR="0" lvl="0" indent="0" algn="l" rtl="0">
              <a:lnSpc>
                <a:spcPct val="90000"/>
              </a:lnSpc>
              <a:spcBef>
                <a:spcPts val="0"/>
              </a:spcBef>
              <a:spcAft>
                <a:spcPts val="0"/>
              </a:spcAft>
              <a:buClr>
                <a:schemeClr val="dk1"/>
              </a:buClr>
              <a:buSzPts val="2400"/>
              <a:buNone/>
            </a:pPr>
            <a:r>
              <a:rPr sz="1800" b="1">
                <a:solidFill>
                  <a:srgbClr val="0F172A"/>
                </a:solidFill>
                <a:latin typeface="Times New Roman"/>
              </a:rPr>
              <a:t>PROJECT ASSOCIATES:</a:t>
            </a:r>
            <a:endParaRPr sz="2000" dirty="0">
              <a:solidFill>
                <a:schemeClr val="dk1"/>
              </a:solidFill>
              <a:latin typeface="Times New Roman"/>
              <a:ea typeface="Times New Roman"/>
              <a:cs typeface="Times New Roman"/>
              <a:sym typeface="Times New Roman"/>
            </a:endParaRPr>
          </a:p>
          <a:p>
            <a:pPr algn="l"/>
            <a:r>
              <a:rPr sz="1600" b="0">
                <a:solidFill>
                  <a:srgbClr val="1E293B"/>
                </a:solidFill>
                <a:latin typeface="Times New Roman"/>
              </a:rPr>
              <a:t>• ADITHYAN B (Reg No: MGP23EVLSI001)</a:t>
            </a:r>
          </a:p>
          <a:p>
            <a:pPr algn="l"/>
            <a:r>
              <a:rPr sz="1600" b="0">
                <a:solidFill>
                  <a:srgbClr val="1E293B"/>
                </a:solidFill>
                <a:latin typeface="Times New Roman"/>
              </a:rPr>
              <a:t>• ANNA BOBAN (Reg No: MGP23EVLSI002)</a:t>
            </a:r>
          </a:p>
          <a:p>
            <a:pPr algn="l"/>
            <a:r>
              <a:rPr sz="1600" b="0">
                <a:solidFill>
                  <a:srgbClr val="1E293B"/>
                </a:solidFill>
                <a:latin typeface="Times New Roman"/>
              </a:rPr>
              <a:t>• NOOPA MARIA ROJAN (Reg No: MGP23EVLSI009)</a:t>
            </a:r>
          </a:p>
          <a:p>
            <a:pPr algn="l"/>
          </a:p>
          <a:p>
            <a:pPr algn="l"/>
            <a:r>
              <a:rPr sz="1600" b="1">
                <a:solidFill>
                  <a:srgbClr val="0284C7"/>
                </a:solidFill>
                <a:latin typeface="Times New Roman"/>
              </a:rPr>
              <a:t>Department of Electronics &amp; Communication Engineering</a:t>
            </a:r>
          </a:p>
          <a:p>
            <a:pPr algn="l"/>
            <a:r>
              <a:rPr sz="1500" b="0">
                <a:solidFill>
                  <a:srgbClr val="1E293B"/>
                </a:solidFill>
                <a:latin typeface="Times New Roman"/>
              </a:rPr>
              <a:t>Saintgits College of Engineering (Autonomous), Kottayam</a:t>
            </a:r>
          </a:p>
          <a:p>
            <a:pPr algn="l"/>
            <a:r>
              <a:rPr sz="1400" b="0">
                <a:solidFill>
                  <a:srgbClr val="1E293B"/>
                </a:solidFill>
                <a:latin typeface="Times New Roman"/>
              </a:rPr>
              <a:t>Date: October 2026</a:t>
            </a:r>
          </a:p>
        </p:txBody>
      </p:sp>
      <p:sp>
        <p:nvSpPr>
          <p:cNvPr id="102" name="Google Shape;102;p1"/>
          <p:cNvSpPr txBox="1"/>
          <p:nvPr/>
        </p:nvSpPr>
        <p:spPr>
          <a:xfrm>
            <a:off x="540774" y="4368955"/>
            <a:ext cx="3519900" cy="708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sz="1800" b="1">
                <a:solidFill>
                  <a:srgbClr val="0F172A"/>
                </a:solidFill>
                <a:latin typeface="Times New Roman"/>
              </a:rPr>
              <a:t>PROJECT SUPERVISOR:</a:t>
            </a:r>
            <a:endParaRPr sz="2000" dirty="0"/>
          </a:p>
          <a:p>
            <a:pPr algn="l"/>
            <a:r>
              <a:rPr sz="1800" b="1">
                <a:solidFill>
                  <a:srgbClr val="0284C7"/>
                </a:solidFill>
                <a:latin typeface="Times New Roman"/>
              </a:rPr>
              <a:t>Er. JUSTIN MATHEW</a:t>
            </a:r>
          </a:p>
          <a:p>
            <a:pPr algn="l"/>
            <a:r>
              <a:rPr sz="1500" b="0">
                <a:solidFill>
                  <a:srgbClr val="1E293B"/>
                </a:solidFill>
                <a:latin typeface="Times New Roman"/>
              </a:rPr>
              <a:t>Assistant Professor, Dept. of ECE</a:t>
            </a:r>
          </a:p>
        </p:txBody>
      </p:sp>
      <p:sp>
        <p:nvSpPr>
          <p:cNvPr id="103" name="Google Shape;103;p1"/>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a:t>
            </a:fld>
            <a:endParaRPr/>
          </a:p>
        </p:txBody>
      </p:sp>
      <p:pic>
        <p:nvPicPr>
          <p:cNvPr id="104" name="Google Shape;104;p1"/>
          <p:cNvPicPr preferRelativeResize="0"/>
          <p:nvPr/>
        </p:nvPicPr>
        <p:blipFill rotWithShape="1">
          <a:blip r:embed="rId2">
            <a:alphaModFix/>
          </a:blip>
          <a:srcRect/>
          <a:stretch/>
        </p:blipFill>
        <p:spPr>
          <a:xfrm>
            <a:off x="159971" y="211556"/>
            <a:ext cx="4517529" cy="810838"/>
          </a:xfrm>
          <a:prstGeom prst="rect">
            <a:avLst/>
          </a:prstGeom>
          <a:noFill/>
          <a:ln>
            <a:noFill/>
          </a:ln>
        </p:spPr>
      </p:pic>
      <p:pic>
        <p:nvPicPr>
          <p:cNvPr id="105" name="Google Shape;105;p1"/>
          <p:cNvPicPr preferRelativeResize="0"/>
          <p:nvPr/>
        </p:nvPicPr>
        <p:blipFill rotWithShape="1">
          <a:blip r:embed="rId3">
            <a:alphaModFix/>
          </a:blip>
          <a:srcRect/>
          <a:stretch/>
        </p:blipFill>
        <p:spPr>
          <a:xfrm>
            <a:off x="11072819" y="154753"/>
            <a:ext cx="816174" cy="930568"/>
          </a:xfrm>
          <a:prstGeom prst="rect">
            <a:avLst/>
          </a:prstGeom>
          <a:noFill/>
          <a:ln>
            <a:noFill/>
          </a:ln>
        </p:spPr>
      </p:pic>
      <p:sp>
        <p:nvSpPr>
          <p:cNvPr id="106" name="Google Shape;106;p1"/>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2</a:t>
            </a:fld>
            <a:endParaRPr/>
          </a:p>
        </p:txBody>
      </p:sp>
      <p:pic>
        <p:nvPicPr>
          <p:cNvPr id="121" name="Google Shape;121;p3"/>
          <p:cNvPicPr preferRelativeResize="0"/>
          <p:nvPr/>
        </p:nvPicPr>
        <p:blipFill rotWithShape="1">
          <a:blip r:embed="rId2">
            <a:alphaModFix/>
          </a:blip>
          <a:srcRect/>
          <a:stretch/>
        </p:blipFill>
        <p:spPr>
          <a:xfrm>
            <a:off x="11072819" y="154753"/>
            <a:ext cx="816174" cy="930568"/>
          </a:xfrm>
          <a:prstGeom prst="rect">
            <a:avLst/>
          </a:prstGeom>
          <a:noFill/>
          <a:ln>
            <a:noFill/>
          </a:ln>
        </p:spPr>
      </p:pic>
      <p:sp>
        <p:nvSpPr>
          <p:cNvPr id="122" name="Google Shape;122;p3"/>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
        <p:nvSpPr>
          <p:cNvPr id="123" name="Google Shape;123;p3"/>
          <p:cNvSpPr txBox="1">
            <a:spLocks noGrp="1"/>
          </p:cNvSpPr>
          <p:nvPr>
            <p:ph type="ctrTitle"/>
          </p:nvPr>
        </p:nvSpPr>
        <p:spPr>
          <a:xfrm>
            <a:off x="459967" y="1100168"/>
            <a:ext cx="9625800" cy="76140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181C24"/>
              </a:buClr>
              <a:buSzPts val="4000"/>
              <a:buFont typeface="Times New Roman"/>
              <a:buNone/>
            </a:pPr>
            <a:r>
              <a:rPr sz="3400" b="1">
                <a:solidFill>
                  <a:srgbClr val="0F172A"/>
                </a:solidFill>
                <a:latin typeface="Times New Roman"/>
              </a:rPr>
              <a:t>INTRODUCTION</a:t>
            </a:r>
            <a:endParaRPr sz="3600" b="1" dirty="0">
              <a:latin typeface="Times New Roman"/>
              <a:ea typeface="Times New Roman"/>
              <a:cs typeface="Times New Roman"/>
              <a:sym typeface="Times New Roman"/>
            </a:endParaRPr>
          </a:p>
        </p:txBody>
      </p:sp>
      <p:pic>
        <p:nvPicPr>
          <p:cNvPr id="125" name="Google Shape;125;p3"/>
          <p:cNvPicPr preferRelativeResize="0"/>
          <p:nvPr/>
        </p:nvPicPr>
        <p:blipFill rotWithShape="1">
          <a:blip r:embed="rId3">
            <a:alphaModFix/>
          </a:blip>
          <a:srcRect l="15320" t="28789" r="16466" b="54857"/>
          <a:stretch/>
        </p:blipFill>
        <p:spPr>
          <a:xfrm>
            <a:off x="155527" y="217182"/>
            <a:ext cx="4521325" cy="812948"/>
          </a:xfrm>
          <a:prstGeom prst="rect">
            <a:avLst/>
          </a:prstGeom>
          <a:noFill/>
          <a:ln>
            <a:noFill/>
          </a:ln>
        </p:spPr>
      </p:pic>
      <p:sp>
        <p:nvSpPr>
          <p:cNvPr id="126" name="TextBox 125"/>
          <p:cNvSpPr txBox="1"/>
          <p:nvPr/>
        </p:nvSpPr>
        <p:spPr>
          <a:xfrm>
            <a:off x="731520" y="1920240"/>
            <a:ext cx="10698480" cy="4114800"/>
          </a:xfrm>
          <a:prstGeom prst="rect">
            <a:avLst/>
          </a:prstGeom>
          <a:noFill/>
        </p:spPr>
        <p:txBody>
          <a:bodyPr wrap="square">
            <a:spAutoFit/>
          </a:bodyPr>
          <a:lstStyle/>
          <a:p>
            <a:pPr>
              <a:spcBef>
                <a:spcPts val="800"/>
              </a:spcBef>
              <a:spcAft>
                <a:spcPts val="200"/>
              </a:spcAft>
            </a:pPr>
            <a:r>
              <a:rPr sz="2200" b="1">
                <a:solidFill>
                  <a:srgbClr val="0284C7"/>
                </a:solidFill>
                <a:latin typeface="Times New Roman"/>
              </a:rPr>
              <a:t>Semiconductor Fabrication Complexity</a:t>
            </a:r>
          </a:p>
          <a:p>
            <a:pPr>
              <a:spcBef>
                <a:spcPts val="200"/>
              </a:spcBef>
              <a:spcAft>
                <a:spcPts val="400"/>
              </a:spcAft>
            </a:pPr>
            <a:r>
              <a:rPr sz="1800" b="0">
                <a:solidFill>
                  <a:srgbClr val="1E293B"/>
                </a:solidFill>
                <a:latin typeface="Times New Roman"/>
              </a:rPr>
              <a:t>•  Modern integrated circuit fabrication operates at deep sub-micron nodes on 300 mm silicon wafers, spanning over 500 physical and chemical processing steps.</a:t>
            </a:r>
          </a:p>
          <a:p>
            <a:pPr>
              <a:spcBef>
                <a:spcPts val="200"/>
              </a:spcBef>
              <a:spcAft>
                <a:spcPts val="400"/>
              </a:spcAft>
            </a:pPr>
            <a:r>
              <a:rPr sz="1800" b="0">
                <a:solidFill>
                  <a:srgbClr val="1E293B"/>
                </a:solidFill>
                <a:latin typeface="Times New Roman"/>
              </a:rPr>
              <a:t>•  A single microscopic defect during deposition, photolithography, or chemical-mechanical planarization (CMP) can render hundreds of chips inoperable.</a:t>
            </a:r>
          </a:p>
          <a:p>
            <a:pPr>
              <a:spcBef>
                <a:spcPts val="800"/>
              </a:spcBef>
              <a:spcAft>
                <a:spcPts val="200"/>
              </a:spcAft>
            </a:pPr>
            <a:r>
              <a:rPr sz="2200" b="1">
                <a:solidFill>
                  <a:srgbClr val="0284C7"/>
                </a:solidFill>
                <a:latin typeface="Times New Roman"/>
              </a:rPr>
              <a:t>Spatial Wafer Defect Signatures &amp; WM-811K Benchmark</a:t>
            </a:r>
          </a:p>
          <a:p>
            <a:pPr>
              <a:spcBef>
                <a:spcPts val="200"/>
              </a:spcBef>
              <a:spcAft>
                <a:spcPts val="400"/>
              </a:spcAft>
            </a:pPr>
            <a:r>
              <a:rPr sz="1800" b="0">
                <a:solidFill>
                  <a:srgbClr val="1E293B"/>
                </a:solidFill>
                <a:latin typeface="Times New Roman"/>
              </a:rPr>
              <a:t>•  Manufacturing tool failures manifest as systematic spatial defect clusters across the wafer disc (e.g., Center, Donut, Scratch, Edge-Ring, Loc).</a:t>
            </a:r>
          </a:p>
          <a:p>
            <a:pPr>
              <a:spcBef>
                <a:spcPts val="200"/>
              </a:spcBef>
              <a:spcAft>
                <a:spcPts val="400"/>
              </a:spcAft>
            </a:pPr>
            <a:r>
              <a:rPr sz="1800" b="0">
                <a:solidFill>
                  <a:srgbClr val="1E293B"/>
                </a:solidFill>
                <a:latin typeface="Times New Roman"/>
              </a:rPr>
              <a:t>•  We utilize the world-benchmark WM-811K industrial dataset (811,457 commercial wafer maps) to capture authentic semiconductor fabrication signatures.</a:t>
            </a:r>
          </a:p>
          <a:p>
            <a:pPr>
              <a:spcBef>
                <a:spcPts val="800"/>
              </a:spcBef>
              <a:spcAft>
                <a:spcPts val="200"/>
              </a:spcAft>
            </a:pPr>
            <a:r>
              <a:rPr sz="2200" b="1">
                <a:solidFill>
                  <a:srgbClr val="0284C7"/>
                </a:solidFill>
                <a:latin typeface="Times New Roman"/>
              </a:rPr>
              <a:t>Role of Automated Optical Inspection (AOI)</a:t>
            </a:r>
          </a:p>
          <a:p>
            <a:pPr>
              <a:spcBef>
                <a:spcPts val="200"/>
              </a:spcBef>
              <a:spcAft>
                <a:spcPts val="400"/>
              </a:spcAft>
            </a:pPr>
            <a:r>
              <a:rPr sz="1800" b="0">
                <a:solidFill>
                  <a:srgbClr val="1E293B"/>
                </a:solidFill>
                <a:latin typeface="Times New Roman"/>
              </a:rPr>
              <a:t>•  Automated defect classification enables immediate fabrication tool root-cause diagnosis, drastically minimizing wafer lot scrap and engineering turnaround time.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3</a:t>
            </a:fld>
            <a:endParaRPr/>
          </a:p>
        </p:txBody>
      </p:sp>
      <p:pic>
        <p:nvPicPr>
          <p:cNvPr id="121" name="Google Shape;121;p3"/>
          <p:cNvPicPr preferRelativeResize="0"/>
          <p:nvPr/>
        </p:nvPicPr>
        <p:blipFill rotWithShape="1">
          <a:blip r:embed="rId2">
            <a:alphaModFix/>
          </a:blip>
          <a:srcRect/>
          <a:stretch/>
        </p:blipFill>
        <p:spPr>
          <a:xfrm>
            <a:off x="11072819" y="154753"/>
            <a:ext cx="816174" cy="930568"/>
          </a:xfrm>
          <a:prstGeom prst="rect">
            <a:avLst/>
          </a:prstGeom>
          <a:noFill/>
          <a:ln>
            <a:noFill/>
          </a:ln>
        </p:spPr>
      </p:pic>
      <p:sp>
        <p:nvSpPr>
          <p:cNvPr id="122" name="Google Shape;122;p3"/>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
        <p:nvSpPr>
          <p:cNvPr id="123" name="Google Shape;123;p3"/>
          <p:cNvSpPr txBox="1">
            <a:spLocks noGrp="1"/>
          </p:cNvSpPr>
          <p:nvPr>
            <p:ph type="ctrTitle"/>
          </p:nvPr>
        </p:nvSpPr>
        <p:spPr>
          <a:xfrm>
            <a:off x="459967" y="1100168"/>
            <a:ext cx="9625800" cy="76140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181C24"/>
              </a:buClr>
              <a:buSzPts val="4000"/>
              <a:buFont typeface="Times New Roman"/>
              <a:buNone/>
            </a:pPr>
            <a:r>
              <a:rPr sz="3400" b="1">
                <a:solidFill>
                  <a:srgbClr val="0F172A"/>
                </a:solidFill>
                <a:latin typeface="Times New Roman"/>
              </a:rPr>
              <a:t>PROBLEM STATEMENT</a:t>
            </a:r>
            <a:endParaRPr sz="3600" b="1" dirty="0">
              <a:latin typeface="Times New Roman"/>
              <a:ea typeface="Times New Roman"/>
              <a:cs typeface="Times New Roman"/>
              <a:sym typeface="Times New Roman"/>
            </a:endParaRPr>
          </a:p>
        </p:txBody>
      </p:sp>
      <p:pic>
        <p:nvPicPr>
          <p:cNvPr id="125" name="Google Shape;125;p3"/>
          <p:cNvPicPr preferRelativeResize="0"/>
          <p:nvPr/>
        </p:nvPicPr>
        <p:blipFill rotWithShape="1">
          <a:blip r:embed="rId3">
            <a:alphaModFix/>
          </a:blip>
          <a:srcRect l="15320" t="28789" r="16466" b="54857"/>
          <a:stretch/>
        </p:blipFill>
        <p:spPr>
          <a:xfrm>
            <a:off x="155527" y="217182"/>
            <a:ext cx="4521325" cy="812948"/>
          </a:xfrm>
          <a:prstGeom prst="rect">
            <a:avLst/>
          </a:prstGeom>
          <a:noFill/>
          <a:ln>
            <a:noFill/>
          </a:ln>
        </p:spPr>
      </p:pic>
      <p:sp>
        <p:nvSpPr>
          <p:cNvPr id="126" name="TextBox 125"/>
          <p:cNvSpPr txBox="1"/>
          <p:nvPr/>
        </p:nvSpPr>
        <p:spPr>
          <a:xfrm>
            <a:off x="731520" y="1920240"/>
            <a:ext cx="10698480" cy="4114800"/>
          </a:xfrm>
          <a:prstGeom prst="rect">
            <a:avLst/>
          </a:prstGeom>
          <a:noFill/>
        </p:spPr>
        <p:txBody>
          <a:bodyPr wrap="square">
            <a:spAutoFit/>
          </a:bodyPr>
          <a:lstStyle/>
          <a:p>
            <a:pPr>
              <a:spcBef>
                <a:spcPts val="800"/>
              </a:spcBef>
              <a:spcAft>
                <a:spcPts val="200"/>
              </a:spcAft>
            </a:pPr>
            <a:r>
              <a:rPr sz="2200" b="1">
                <a:solidFill>
                  <a:srgbClr val="0284C7"/>
                </a:solidFill>
                <a:latin typeface="Times New Roman"/>
              </a:rPr>
              <a:t>High-Throughput Fabrication Bottlenecks</a:t>
            </a:r>
          </a:p>
          <a:p>
            <a:pPr>
              <a:spcBef>
                <a:spcPts val="200"/>
              </a:spcBef>
              <a:spcAft>
                <a:spcPts val="400"/>
              </a:spcAft>
            </a:pPr>
            <a:r>
              <a:rPr sz="1800" b="0">
                <a:solidFill>
                  <a:srgbClr val="1E293B"/>
                </a:solidFill>
                <a:latin typeface="Times New Roman"/>
              </a:rPr>
              <a:t>•  Modern fabs produce tens of thousands of wafers monthly; manual optical and scanning electron microscopy (SEM) inspection is slow, subjective, and prone to severe operator fatigue.</a:t>
            </a:r>
          </a:p>
          <a:p>
            <a:pPr>
              <a:spcBef>
                <a:spcPts val="800"/>
              </a:spcBef>
              <a:spcAft>
                <a:spcPts val="200"/>
              </a:spcAft>
            </a:pPr>
            <a:r>
              <a:rPr sz="2200" b="1">
                <a:solidFill>
                  <a:srgbClr val="0284C7"/>
                </a:solidFill>
                <a:latin typeface="Times New Roman"/>
              </a:rPr>
              <a:t>Extreme Industrial Class Imbalance</a:t>
            </a:r>
          </a:p>
          <a:p>
            <a:pPr>
              <a:spcBef>
                <a:spcPts val="200"/>
              </a:spcBef>
              <a:spcAft>
                <a:spcPts val="400"/>
              </a:spcAft>
            </a:pPr>
            <a:r>
              <a:rPr sz="1800" b="0">
                <a:solidFill>
                  <a:srgbClr val="1E293B"/>
                </a:solidFill>
                <a:latin typeface="Times New Roman"/>
              </a:rPr>
              <a:t>•  In production environments, nominal (clean) wafers exceed 78% of all manufactured substrates, making minority defect topologies difficult for conventional algorithms to detect reliably.</a:t>
            </a:r>
          </a:p>
          <a:p>
            <a:pPr>
              <a:spcBef>
                <a:spcPts val="800"/>
              </a:spcBef>
              <a:spcAft>
                <a:spcPts val="200"/>
              </a:spcAft>
            </a:pPr>
            <a:r>
              <a:rPr sz="2200" b="1">
                <a:solidFill>
                  <a:srgbClr val="0284C7"/>
                </a:solidFill>
                <a:latin typeface="Times New Roman"/>
              </a:rPr>
              <a:t>Edge Computational Constraints in Fab Lines</a:t>
            </a:r>
          </a:p>
          <a:p>
            <a:pPr>
              <a:spcBef>
                <a:spcPts val="200"/>
              </a:spcBef>
              <a:spcAft>
                <a:spcPts val="400"/>
              </a:spcAft>
            </a:pPr>
            <a:r>
              <a:rPr sz="1800" b="0">
                <a:solidFill>
                  <a:srgbClr val="1E293B"/>
                </a:solidFill>
                <a:latin typeface="Times New Roman"/>
              </a:rPr>
              <a:t>•  Traditional heavy deep learning architectures (e.g., ResNet-50, VGG-16) suffer from multi-hundred-megabyte footprints, heavy GPU dependence, and high inference latency (&gt;50 ms), making inline fab deployment infeasible.</a:t>
            </a:r>
          </a:p>
          <a:p>
            <a:pPr>
              <a:spcBef>
                <a:spcPts val="800"/>
              </a:spcBef>
              <a:spcAft>
                <a:spcPts val="200"/>
              </a:spcAft>
            </a:pPr>
            <a:r>
              <a:rPr sz="2200" b="1">
                <a:solidFill>
                  <a:srgbClr val="0284C7"/>
                </a:solidFill>
                <a:latin typeface="Times New Roman"/>
              </a:rPr>
              <a:t>Core Problem Definition</a:t>
            </a:r>
          </a:p>
          <a:p>
            <a:pPr>
              <a:spcBef>
                <a:spcPts val="200"/>
              </a:spcBef>
              <a:spcAft>
                <a:spcPts val="400"/>
              </a:spcAft>
            </a:pPr>
            <a:r>
              <a:rPr sz="1800" b="0">
                <a:solidFill>
                  <a:srgbClr val="1E293B"/>
                </a:solidFill>
                <a:latin typeface="Times New Roman"/>
              </a:rPr>
              <a:t>•  Need for an ultra-lightweight, edge-deployable deep learning classification engine achieving &gt;98% accuracy and sub-2 ms latency across multi-class wafer defect topologies on standard CPU hardware.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4</a:t>
            </a:fld>
            <a:endParaRPr/>
          </a:p>
        </p:txBody>
      </p:sp>
      <p:pic>
        <p:nvPicPr>
          <p:cNvPr id="121" name="Google Shape;121;p3"/>
          <p:cNvPicPr preferRelativeResize="0"/>
          <p:nvPr/>
        </p:nvPicPr>
        <p:blipFill rotWithShape="1">
          <a:blip r:embed="rId2">
            <a:alphaModFix/>
          </a:blip>
          <a:srcRect/>
          <a:stretch/>
        </p:blipFill>
        <p:spPr>
          <a:xfrm>
            <a:off x="11072819" y="154753"/>
            <a:ext cx="816174" cy="930568"/>
          </a:xfrm>
          <a:prstGeom prst="rect">
            <a:avLst/>
          </a:prstGeom>
          <a:noFill/>
          <a:ln>
            <a:noFill/>
          </a:ln>
        </p:spPr>
      </p:pic>
      <p:sp>
        <p:nvSpPr>
          <p:cNvPr id="122" name="Google Shape;122;p3"/>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
        <p:nvSpPr>
          <p:cNvPr id="123" name="Google Shape;123;p3"/>
          <p:cNvSpPr txBox="1">
            <a:spLocks noGrp="1"/>
          </p:cNvSpPr>
          <p:nvPr>
            <p:ph type="ctrTitle"/>
          </p:nvPr>
        </p:nvSpPr>
        <p:spPr>
          <a:xfrm>
            <a:off x="459967" y="1100168"/>
            <a:ext cx="9625800" cy="76140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181C24"/>
              </a:buClr>
              <a:buSzPts val="4000"/>
              <a:buFont typeface="Times New Roman"/>
              <a:buNone/>
            </a:pPr>
            <a:r>
              <a:rPr sz="3400" b="1">
                <a:solidFill>
                  <a:srgbClr val="0F172A"/>
                </a:solidFill>
                <a:latin typeface="Times New Roman"/>
              </a:rPr>
              <a:t>NEED FOR THE PROJECT</a:t>
            </a:r>
            <a:endParaRPr sz="3600" b="1" dirty="0">
              <a:latin typeface="Times New Roman"/>
              <a:ea typeface="Times New Roman"/>
              <a:cs typeface="Times New Roman"/>
              <a:sym typeface="Times New Roman"/>
            </a:endParaRPr>
          </a:p>
        </p:txBody>
      </p:sp>
      <p:pic>
        <p:nvPicPr>
          <p:cNvPr id="125" name="Google Shape;125;p3"/>
          <p:cNvPicPr preferRelativeResize="0"/>
          <p:nvPr/>
        </p:nvPicPr>
        <p:blipFill rotWithShape="1">
          <a:blip r:embed="rId3">
            <a:alphaModFix/>
          </a:blip>
          <a:srcRect l="15320" t="28789" r="16466" b="54857"/>
          <a:stretch/>
        </p:blipFill>
        <p:spPr>
          <a:xfrm>
            <a:off x="155527" y="217182"/>
            <a:ext cx="4521325" cy="812948"/>
          </a:xfrm>
          <a:prstGeom prst="rect">
            <a:avLst/>
          </a:prstGeom>
          <a:noFill/>
          <a:ln>
            <a:noFill/>
          </a:ln>
        </p:spPr>
      </p:pic>
      <p:sp>
        <p:nvSpPr>
          <p:cNvPr id="126" name="TextBox 125"/>
          <p:cNvSpPr txBox="1"/>
          <p:nvPr/>
        </p:nvSpPr>
        <p:spPr>
          <a:xfrm>
            <a:off x="731520" y="1920240"/>
            <a:ext cx="10698480" cy="4114800"/>
          </a:xfrm>
          <a:prstGeom prst="rect">
            <a:avLst/>
          </a:prstGeom>
          <a:noFill/>
        </p:spPr>
        <p:txBody>
          <a:bodyPr wrap="square">
            <a:spAutoFit/>
          </a:bodyPr>
          <a:lstStyle/>
          <a:p>
            <a:pPr>
              <a:spcBef>
                <a:spcPts val="800"/>
              </a:spcBef>
              <a:spcAft>
                <a:spcPts val="200"/>
              </a:spcAft>
            </a:pPr>
            <a:r>
              <a:rPr sz="2200" b="1">
                <a:solidFill>
                  <a:srgbClr val="0284C7"/>
                </a:solidFill>
                <a:latin typeface="Times New Roman"/>
              </a:rPr>
              <a:t>Critical Yield Economics &amp; Cost Reduction</a:t>
            </a:r>
          </a:p>
          <a:p>
            <a:pPr>
              <a:spcBef>
                <a:spcPts val="200"/>
              </a:spcBef>
              <a:spcAft>
                <a:spcPts val="400"/>
              </a:spcAft>
            </a:pPr>
            <a:r>
              <a:rPr sz="1800" b="0">
                <a:solidFill>
                  <a:srgbClr val="1E293B"/>
                </a:solidFill>
                <a:latin typeface="Times New Roman"/>
              </a:rPr>
              <a:t>•  Defect detection at wafer probe testing prevents defective dies from progressing into expensive packaging, wire-bonding, and encapsulation phases, saving millions annually.</a:t>
            </a:r>
          </a:p>
          <a:p>
            <a:pPr>
              <a:spcBef>
                <a:spcPts val="800"/>
              </a:spcBef>
              <a:spcAft>
                <a:spcPts val="200"/>
              </a:spcAft>
            </a:pPr>
            <a:r>
              <a:rPr sz="2200" b="1">
                <a:solidFill>
                  <a:srgbClr val="0284C7"/>
                </a:solidFill>
                <a:latin typeface="Times New Roman"/>
              </a:rPr>
              <a:t>Equipment Root-Cause Traceability</a:t>
            </a:r>
          </a:p>
          <a:p>
            <a:pPr>
              <a:spcBef>
                <a:spcPts val="200"/>
              </a:spcBef>
              <a:spcAft>
                <a:spcPts val="400"/>
              </a:spcAft>
            </a:pPr>
            <a:r>
              <a:rPr sz="1800" b="0">
                <a:solidFill>
                  <a:srgbClr val="1E293B"/>
                </a:solidFill>
                <a:latin typeface="Times New Roman"/>
              </a:rPr>
              <a:t>•  Topological signatures correlate directly with specific fab tool malfunctions:</a:t>
            </a:r>
          </a:p>
          <a:p>
            <a:pPr>
              <a:spcBef>
                <a:spcPts val="200"/>
              </a:spcBef>
              <a:spcAft>
                <a:spcPts val="400"/>
              </a:spcAft>
            </a:pPr>
            <a:r>
              <a:rPr sz="1800" b="0">
                <a:solidFill>
                  <a:srgbClr val="1E293B"/>
                </a:solidFill>
                <a:latin typeface="Times New Roman"/>
              </a:rPr>
              <a:t>•      - Center Cluster: CMP slurry buildup or spin-coat nozzle misalignment.</a:t>
            </a:r>
          </a:p>
          <a:p>
            <a:pPr>
              <a:spcBef>
                <a:spcPts val="200"/>
              </a:spcBef>
              <a:spcAft>
                <a:spcPts val="400"/>
              </a:spcAft>
            </a:pPr>
            <a:r>
              <a:rPr sz="1800" b="0">
                <a:solidFill>
                  <a:srgbClr val="1E293B"/>
                </a:solidFill>
                <a:latin typeface="Times New Roman"/>
              </a:rPr>
              <a:t>•      - Donut Ring: Radial thermal gradient during rapid thermal annealing (RTA).</a:t>
            </a:r>
          </a:p>
          <a:p>
            <a:pPr>
              <a:spcBef>
                <a:spcPts val="200"/>
              </a:spcBef>
              <a:spcAft>
                <a:spcPts val="400"/>
              </a:spcAft>
            </a:pPr>
            <a:r>
              <a:rPr sz="1800" b="0">
                <a:solidFill>
                  <a:srgbClr val="1E293B"/>
                </a:solidFill>
                <a:latin typeface="Times New Roman"/>
              </a:rPr>
              <a:t>•      - Scratch: Mechanical robot end-effector abrasion or automated wafer cassette handling damage.</a:t>
            </a:r>
          </a:p>
          <a:p>
            <a:pPr>
              <a:spcBef>
                <a:spcPts val="200"/>
              </a:spcBef>
              <a:spcAft>
                <a:spcPts val="400"/>
              </a:spcAft>
            </a:pPr>
            <a:r>
              <a:rPr sz="1800" b="0">
                <a:solidFill>
                  <a:srgbClr val="1E293B"/>
                </a:solidFill>
                <a:latin typeface="Times New Roman"/>
              </a:rPr>
              <a:t>•      - Edge-Ring: Plasma etching nonuniformity or edge-bead removal (EBR) solvent splash.</a:t>
            </a:r>
          </a:p>
          <a:p>
            <a:pPr>
              <a:spcBef>
                <a:spcPts val="800"/>
              </a:spcBef>
              <a:spcAft>
                <a:spcPts val="200"/>
              </a:spcAft>
            </a:pPr>
            <a:r>
              <a:rPr sz="2200" b="1">
                <a:solidFill>
                  <a:srgbClr val="0284C7"/>
                </a:solidFill>
                <a:latin typeface="Times New Roman"/>
              </a:rPr>
              <a:t>Edge Inline Autonomous Screening</a:t>
            </a:r>
          </a:p>
          <a:p>
            <a:pPr>
              <a:spcBef>
                <a:spcPts val="200"/>
              </a:spcBef>
              <a:spcAft>
                <a:spcPts val="400"/>
              </a:spcAft>
            </a:pPr>
            <a:r>
              <a:rPr sz="1800" b="0">
                <a:solidFill>
                  <a:srgbClr val="1E293B"/>
                </a:solidFill>
                <a:latin typeface="Times New Roman"/>
              </a:rPr>
              <a:t>•  Eliminates bandwidth bottlenecks and cloud data-security risks by executing inference directly on local fab equipment controllers with zero cloud latency.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5</a:t>
            </a:fld>
            <a:endParaRPr/>
          </a:p>
        </p:txBody>
      </p:sp>
      <p:pic>
        <p:nvPicPr>
          <p:cNvPr id="121" name="Google Shape;121;p3"/>
          <p:cNvPicPr preferRelativeResize="0"/>
          <p:nvPr/>
        </p:nvPicPr>
        <p:blipFill rotWithShape="1">
          <a:blip r:embed="rId2">
            <a:alphaModFix/>
          </a:blip>
          <a:srcRect/>
          <a:stretch/>
        </p:blipFill>
        <p:spPr>
          <a:xfrm>
            <a:off x="11072819" y="154753"/>
            <a:ext cx="816174" cy="930568"/>
          </a:xfrm>
          <a:prstGeom prst="rect">
            <a:avLst/>
          </a:prstGeom>
          <a:noFill/>
          <a:ln>
            <a:noFill/>
          </a:ln>
        </p:spPr>
      </p:pic>
      <p:sp>
        <p:nvSpPr>
          <p:cNvPr id="122" name="Google Shape;122;p3"/>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
        <p:nvSpPr>
          <p:cNvPr id="123" name="Google Shape;123;p3"/>
          <p:cNvSpPr txBox="1">
            <a:spLocks noGrp="1"/>
          </p:cNvSpPr>
          <p:nvPr>
            <p:ph type="ctrTitle"/>
          </p:nvPr>
        </p:nvSpPr>
        <p:spPr>
          <a:xfrm>
            <a:off x="459967" y="1100168"/>
            <a:ext cx="9625800" cy="76140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181C24"/>
              </a:buClr>
              <a:buSzPts val="4000"/>
              <a:buFont typeface="Times New Roman"/>
              <a:buNone/>
            </a:pPr>
            <a:r>
              <a:rPr sz="3400" b="1">
                <a:solidFill>
                  <a:srgbClr val="0F172A"/>
                </a:solidFill>
                <a:latin typeface="Times New Roman"/>
              </a:rPr>
              <a:t>OBJECTIVES</a:t>
            </a:r>
            <a:endParaRPr sz="3600" b="1" dirty="0">
              <a:latin typeface="Times New Roman"/>
              <a:ea typeface="Times New Roman"/>
              <a:cs typeface="Times New Roman"/>
              <a:sym typeface="Times New Roman"/>
            </a:endParaRPr>
          </a:p>
        </p:txBody>
      </p:sp>
      <p:pic>
        <p:nvPicPr>
          <p:cNvPr id="125" name="Google Shape;125;p3"/>
          <p:cNvPicPr preferRelativeResize="0"/>
          <p:nvPr/>
        </p:nvPicPr>
        <p:blipFill rotWithShape="1">
          <a:blip r:embed="rId3">
            <a:alphaModFix/>
          </a:blip>
          <a:srcRect l="15320" t="28789" r="16466" b="54857"/>
          <a:stretch/>
        </p:blipFill>
        <p:spPr>
          <a:xfrm>
            <a:off x="155527" y="217182"/>
            <a:ext cx="4521325" cy="812948"/>
          </a:xfrm>
          <a:prstGeom prst="rect">
            <a:avLst/>
          </a:prstGeom>
          <a:noFill/>
          <a:ln>
            <a:noFill/>
          </a:ln>
        </p:spPr>
      </p:pic>
      <p:sp>
        <p:nvSpPr>
          <p:cNvPr id="126" name="TextBox 125"/>
          <p:cNvSpPr txBox="1"/>
          <p:nvPr/>
        </p:nvSpPr>
        <p:spPr>
          <a:xfrm>
            <a:off x="731520" y="1920240"/>
            <a:ext cx="10698480" cy="4114800"/>
          </a:xfrm>
          <a:prstGeom prst="rect">
            <a:avLst/>
          </a:prstGeom>
          <a:noFill/>
        </p:spPr>
        <p:txBody>
          <a:bodyPr wrap="square">
            <a:spAutoFit/>
          </a:bodyPr>
          <a:lstStyle/>
          <a:p>
            <a:pPr>
              <a:spcBef>
                <a:spcPts val="800"/>
              </a:spcBef>
              <a:spcAft>
                <a:spcPts val="200"/>
              </a:spcAft>
            </a:pPr>
            <a:r>
              <a:rPr sz="2200" b="1">
                <a:solidFill>
                  <a:srgbClr val="0284C7"/>
                </a:solidFill>
                <a:latin typeface="Times New Roman"/>
              </a:rPr>
              <a:t>Primary Project Objectives</a:t>
            </a:r>
          </a:p>
          <a:p>
            <a:pPr>
              <a:spcBef>
                <a:spcPts val="200"/>
              </a:spcBef>
              <a:spcAft>
                <a:spcPts val="400"/>
              </a:spcAft>
            </a:pPr>
            <a:r>
              <a:rPr sz="1800" b="0">
                <a:solidFill>
                  <a:srgbClr val="1E293B"/>
                </a:solidFill>
                <a:latin typeface="Times New Roman"/>
              </a:rPr>
              <a:t>•  Objective 1: Curate, filter, and normalize the large-scale WM-811K benchmark into balanced 8-class topological defect representations.</a:t>
            </a:r>
          </a:p>
          <a:p>
            <a:pPr>
              <a:spcBef>
                <a:spcPts val="200"/>
              </a:spcBef>
              <a:spcAft>
                <a:spcPts val="400"/>
              </a:spcAft>
            </a:pPr>
            <a:r>
              <a:rPr sz="1800" b="0">
                <a:solidFill>
                  <a:srgbClr val="1E293B"/>
                </a:solidFill>
                <a:latin typeface="Times New Roman"/>
              </a:rPr>
              <a:t>•  Objective 2: Design and fine-tune an ultra-lightweight MobileNetV3-Small deep convolutional neural network leveraging depthwise separable convolutions and Squeeze-and-Excitation (SE) attention.</a:t>
            </a:r>
          </a:p>
          <a:p>
            <a:pPr>
              <a:spcBef>
                <a:spcPts val="200"/>
              </a:spcBef>
              <a:spcAft>
                <a:spcPts val="400"/>
              </a:spcAft>
            </a:pPr>
            <a:r>
              <a:rPr sz="1800" b="0">
                <a:solidFill>
                  <a:srgbClr val="1E293B"/>
                </a:solidFill>
                <a:latin typeface="Times New Roman"/>
              </a:rPr>
              <a:t>•  Objective 3: Export and optimize the trained model into an ONNX runtime engine achieving sub-2 ms CPU inference latency and &lt;6 MB storage footprint.</a:t>
            </a:r>
          </a:p>
          <a:p>
            <a:pPr>
              <a:spcBef>
                <a:spcPts val="200"/>
              </a:spcBef>
              <a:spcAft>
                <a:spcPts val="400"/>
              </a:spcAft>
            </a:pPr>
            <a:r>
              <a:rPr sz="1800" b="0">
                <a:solidFill>
                  <a:srgbClr val="1E293B"/>
                </a:solidFill>
                <a:latin typeface="Times New Roman"/>
              </a:rPr>
              <a:t>•  Objective 4: Build a full-stack, interactive AOI demonstration dashboard featuring live 300 mm wafer visualization, die pass/fail matrix telemetry, and automated 25-wafer lot screening.</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29">
          <a:extLst>
            <a:ext uri="{FF2B5EF4-FFF2-40B4-BE49-F238E27FC236}">
              <a16:creationId xmlns:a16="http://schemas.microsoft.com/office/drawing/2014/main" id="{6AB9D21A-401F-71BA-BDF3-FF71F3B3AAB1}"/>
            </a:ext>
          </a:extLst>
        </p:cNvPr>
        <p:cNvGrpSpPr/>
        <p:nvPr/>
      </p:nvGrpSpPr>
      <p:grpSpPr>
        <a:xfrm>
          <a:off x="0" y="0"/>
          <a:ext cx="0" cy="0"/>
          <a:chOff x="0" y="0"/>
          <a:chExt cx="0" cy="0"/>
        </a:xfrm>
      </p:grpSpPr>
      <p:sp>
        <p:nvSpPr>
          <p:cNvPr id="230" name="Google Shape;230;p11">
            <a:extLst>
              <a:ext uri="{FF2B5EF4-FFF2-40B4-BE49-F238E27FC236}">
                <a16:creationId xmlns:a16="http://schemas.microsoft.com/office/drawing/2014/main" id="{D2259F83-F6F9-48B0-EF75-763D86890A10}"/>
              </a:ext>
            </a:extLst>
          </p:cNvPr>
          <p:cNvSpPr txBox="1">
            <a:spLocks noGrp="1"/>
          </p:cNvSpPr>
          <p:nvPr>
            <p:ph type="title"/>
          </p:nvPr>
        </p:nvSpPr>
        <p:spPr>
          <a:xfrm>
            <a:off x="839788" y="457200"/>
            <a:ext cx="7341688" cy="1600200"/>
          </a:xfrm>
          <a:prstGeom prst="rect">
            <a:avLst/>
          </a:prstGeom>
          <a:noFill/>
          <a:ln>
            <a:noFill/>
          </a:ln>
        </p:spPr>
        <p:txBody>
          <a:bodyPr spcFirstLastPara="1" wrap="square" lIns="91425" tIns="45700" rIns="91425" bIns="45700" anchor="ctr" anchorCtr="0">
            <a:normAutofit/>
          </a:bodyPr>
          <a:lstStyle/>
          <a:p>
            <a:pPr lvl="0">
              <a:buSzPts val="4000"/>
            </a:pPr>
            <a:r>
              <a:rPr sz="3400" b="1">
                <a:solidFill>
                  <a:srgbClr val="0F172A"/>
                </a:solidFill>
                <a:latin typeface="Times New Roman"/>
              </a:rPr>
              <a:t>EXISTING SYSTEM</a:t>
            </a:r>
            <a:endParaRPr sz="3600" b="1" dirty="0">
              <a:latin typeface="Times New Roman" panose="02020603050405020304" pitchFamily="18" charset="0"/>
              <a:cs typeface="Times New Roman" panose="02020603050405020304" pitchFamily="18" charset="0"/>
            </a:endParaRPr>
          </a:p>
        </p:txBody>
      </p:sp>
      <p:sp>
        <p:nvSpPr>
          <p:cNvPr id="231" name="Google Shape;231;p11">
            <a:extLst>
              <a:ext uri="{FF2B5EF4-FFF2-40B4-BE49-F238E27FC236}">
                <a16:creationId xmlns:a16="http://schemas.microsoft.com/office/drawing/2014/main" id="{CD7DDFB5-F9E3-7933-A782-CEAB8D5BDA8B}"/>
              </a:ext>
            </a:extLst>
          </p:cNvPr>
          <p:cNvSpPr txBox="1">
            <a:spLocks noGrp="1"/>
          </p:cNvSpPr>
          <p:nvPr>
            <p:ph type="body" idx="1"/>
          </p:nvPr>
        </p:nvSpPr>
        <p:spPr>
          <a:xfrm>
            <a:off x="731520" y="1920240"/>
            <a:ext cx="10698480" cy="4114800"/>
          </a:xfrm>
          <a:prstGeom prst="rect">
            <a:avLst/>
          </a:prstGeom>
          <a:noFill/>
          <a:ln>
            <a:noFill/>
          </a:ln>
        </p:spPr>
        <p:txBody>
          <a:bodyPr spcFirstLastPara="1" wrap="square" lIns="91425" tIns="45700" rIns="91425" bIns="45700" anchor="t" anchorCtr="0">
            <a:normAutofit/>
          </a:bodyPr>
          <a:lstStyle/>
          <a:p>
            <a:pPr marL="342900" lvl="0" indent="-342900" algn="l">
              <a:lnSpc>
                <a:spcPct val="100000"/>
              </a:lnSpc>
              <a:spcBef>
                <a:spcPts val="800"/>
              </a:spcBef>
              <a:spcAft>
                <a:spcPts val="200"/>
              </a:spcAft>
              <a:buSzPts val="2600"/>
              <a:buFont typeface="Noto Sans Symbols"/>
              <a:buChar char="⮪"/>
            </a:pPr>
            <a:r>
              <a:rPr sz="2200" b="1">
                <a:solidFill>
                  <a:srgbClr val="0284C7"/>
                </a:solidFill>
                <a:latin typeface="Times New Roman"/>
              </a:rPr>
              <a:t>Current Industrial Inspection Methods</a:t>
            </a:r>
          </a:p>
          <a:p>
            <a:pPr>
              <a:spcBef>
                <a:spcPts val="200"/>
              </a:spcBef>
              <a:spcAft>
                <a:spcPts val="400"/>
              </a:spcAft>
            </a:pPr>
            <a:r>
              <a:rPr sz="1800" b="0">
                <a:solidFill>
                  <a:srgbClr val="1E293B"/>
                </a:solidFill>
                <a:latin typeface="Times New Roman"/>
              </a:rPr>
              <a:t>•  Manual microscopy visual verification conducted by quality assurance personnel.</a:t>
            </a:r>
          </a:p>
          <a:p>
            <a:pPr>
              <a:spcBef>
                <a:spcPts val="200"/>
              </a:spcBef>
              <a:spcAft>
                <a:spcPts val="400"/>
              </a:spcAft>
            </a:pPr>
            <a:r>
              <a:rPr sz="1800" b="0">
                <a:solidFill>
                  <a:srgbClr val="1E293B"/>
                </a:solidFill>
                <a:latin typeface="Times New Roman"/>
              </a:rPr>
              <a:t>•  Legacy rule-based computer vision utilizing handcrafted spatial filters, Hough transforms, and template matching.</a:t>
            </a:r>
          </a:p>
          <a:p>
            <a:pPr>
              <a:spcBef>
                <a:spcPts val="800"/>
              </a:spcBef>
              <a:spcAft>
                <a:spcPts val="200"/>
              </a:spcAft>
            </a:pPr>
            <a:r>
              <a:rPr sz="2200" b="1">
                <a:solidFill>
                  <a:srgbClr val="0284C7"/>
                </a:solidFill>
                <a:latin typeface="Times New Roman"/>
              </a:rPr>
              <a:t>Operational Workflow</a:t>
            </a:r>
          </a:p>
          <a:p>
            <a:pPr>
              <a:spcBef>
                <a:spcPts val="200"/>
              </a:spcBef>
              <a:spcAft>
                <a:spcPts val="400"/>
              </a:spcAft>
            </a:pPr>
            <a:r>
              <a:rPr sz="1800" b="0">
                <a:solidFill>
                  <a:srgbClr val="1E293B"/>
                </a:solidFill>
                <a:latin typeface="Times New Roman"/>
              </a:rPr>
              <a:t>•  Wafer scan acquired -&gt; Batch saved to server -&gt; Heuristic filters evaluate die failure threshold -&gt; Manual verification triggered for ambiguous patterns.</a:t>
            </a:r>
          </a:p>
          <a:p>
            <a:pPr>
              <a:spcBef>
                <a:spcPts val="800"/>
              </a:spcBef>
              <a:spcAft>
                <a:spcPts val="200"/>
              </a:spcAft>
            </a:pPr>
            <a:r>
              <a:rPr sz="2200" b="1">
                <a:solidFill>
                  <a:srgbClr val="0284C7"/>
                </a:solidFill>
                <a:latin typeface="Times New Roman"/>
              </a:rPr>
              <a:t>Key Technical Limitations</a:t>
            </a:r>
          </a:p>
          <a:p>
            <a:pPr>
              <a:spcBef>
                <a:spcPts val="200"/>
              </a:spcBef>
              <a:spcAft>
                <a:spcPts val="400"/>
              </a:spcAft>
            </a:pPr>
            <a:r>
              <a:rPr sz="1800" b="0">
                <a:solidFill>
                  <a:srgbClr val="1E293B"/>
                </a:solidFill>
                <a:latin typeface="Times New Roman"/>
              </a:rPr>
              <a:t>•  High latency (&gt;500 ms per wafer) incompatible with continuous inline fab speed.</a:t>
            </a:r>
          </a:p>
          <a:p>
            <a:pPr>
              <a:spcBef>
                <a:spcPts val="200"/>
              </a:spcBef>
              <a:spcAft>
                <a:spcPts val="400"/>
              </a:spcAft>
            </a:pPr>
            <a:r>
              <a:rPr sz="1800" b="0">
                <a:solidFill>
                  <a:srgbClr val="1E293B"/>
                </a:solidFill>
                <a:latin typeface="Times New Roman"/>
              </a:rPr>
              <a:t>•  High false-alarm rate on nominal wafers caused by random single-die sensor noise.</a:t>
            </a:r>
          </a:p>
          <a:p>
            <a:pPr>
              <a:spcBef>
                <a:spcPts val="200"/>
              </a:spcBef>
              <a:spcAft>
                <a:spcPts val="400"/>
              </a:spcAft>
            </a:pPr>
            <a:r>
              <a:rPr sz="1800" b="0">
                <a:solidFill>
                  <a:srgbClr val="1E293B"/>
                </a:solidFill>
                <a:latin typeface="Times New Roman"/>
              </a:rPr>
              <a:t>•  Inability to adapt to amorphous, complex, or rotated spatial cluster patterns.</a:t>
            </a:r>
          </a:p>
        </p:txBody>
      </p:sp>
      <p:sp>
        <p:nvSpPr>
          <p:cNvPr id="232" name="Google Shape;232;p11">
            <a:extLst>
              <a:ext uri="{FF2B5EF4-FFF2-40B4-BE49-F238E27FC236}">
                <a16:creationId xmlns:a16="http://schemas.microsoft.com/office/drawing/2014/main" id="{29C676BD-83E3-41CC-B46A-9EB1B325BBD8}"/>
              </a:ext>
            </a:extLst>
          </p:cNvPr>
          <p:cNvSpPr txBox="1">
            <a:spLocks noGrp="1"/>
          </p:cNvSpPr>
          <p:nvPr>
            <p:ph type="sldNum" idx="12"/>
          </p:nvPr>
        </p:nvSpPr>
        <p:spPr>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6</a:t>
            </a:fld>
            <a:endParaRPr/>
          </a:p>
        </p:txBody>
      </p:sp>
      <p:pic>
        <p:nvPicPr>
          <p:cNvPr id="233" name="Google Shape;233;p11">
            <a:extLst>
              <a:ext uri="{FF2B5EF4-FFF2-40B4-BE49-F238E27FC236}">
                <a16:creationId xmlns:a16="http://schemas.microsoft.com/office/drawing/2014/main" id="{26AF934B-79FA-7925-6339-3EFCB00CC6C5}"/>
              </a:ext>
            </a:extLst>
          </p:cNvPr>
          <p:cNvPicPr preferRelativeResize="0"/>
          <p:nvPr/>
        </p:nvPicPr>
        <p:blipFill rotWithShape="1">
          <a:blip r:embed="rId2">
            <a:alphaModFix/>
          </a:blip>
          <a:srcRect/>
          <a:stretch/>
        </p:blipFill>
        <p:spPr>
          <a:xfrm>
            <a:off x="159971" y="211556"/>
            <a:ext cx="3850555" cy="691125"/>
          </a:xfrm>
          <a:prstGeom prst="rect">
            <a:avLst/>
          </a:prstGeom>
          <a:noFill/>
          <a:ln>
            <a:noFill/>
          </a:ln>
        </p:spPr>
      </p:pic>
      <p:pic>
        <p:nvPicPr>
          <p:cNvPr id="234" name="Google Shape;234;p11">
            <a:extLst>
              <a:ext uri="{FF2B5EF4-FFF2-40B4-BE49-F238E27FC236}">
                <a16:creationId xmlns:a16="http://schemas.microsoft.com/office/drawing/2014/main" id="{6065A6D5-6961-04A9-F93B-D2CDFF552B96}"/>
              </a:ext>
            </a:extLst>
          </p:cNvPr>
          <p:cNvPicPr preferRelativeResize="0"/>
          <p:nvPr/>
        </p:nvPicPr>
        <p:blipFill rotWithShape="1">
          <a:blip r:embed="rId3">
            <a:alphaModFix/>
          </a:blip>
          <a:srcRect/>
          <a:stretch/>
        </p:blipFill>
        <p:spPr>
          <a:xfrm>
            <a:off x="11072819" y="154753"/>
            <a:ext cx="816174" cy="930568"/>
          </a:xfrm>
          <a:prstGeom prst="rect">
            <a:avLst/>
          </a:prstGeom>
          <a:noFill/>
          <a:ln>
            <a:noFill/>
          </a:ln>
        </p:spPr>
      </p:pic>
      <p:sp>
        <p:nvSpPr>
          <p:cNvPr id="235" name="Google Shape;235;p11">
            <a:extLst>
              <a:ext uri="{FF2B5EF4-FFF2-40B4-BE49-F238E27FC236}">
                <a16:creationId xmlns:a16="http://schemas.microsoft.com/office/drawing/2014/main" id="{19008EE4-DC4F-00CC-8007-894E1A1AA8E7}"/>
              </a:ext>
            </a:extLst>
          </p:cNvPr>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0428378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229">
          <a:extLst>
            <a:ext uri="{FF2B5EF4-FFF2-40B4-BE49-F238E27FC236}">
              <a16:creationId xmlns:a16="http://schemas.microsoft.com/office/drawing/2014/main" id="{6AB9D21A-401F-71BA-BDF3-FF71F3B3AAB1}"/>
            </a:ext>
          </a:extLst>
        </p:cNvPr>
        <p:cNvGrpSpPr/>
        <p:nvPr/>
      </p:nvGrpSpPr>
      <p:grpSpPr>
        <a:xfrm>
          <a:off x="0" y="0"/>
          <a:ext cx="0" cy="0"/>
          <a:chOff x="0" y="0"/>
          <a:chExt cx="0" cy="0"/>
        </a:xfrm>
      </p:grpSpPr>
      <p:sp>
        <p:nvSpPr>
          <p:cNvPr id="230" name="Google Shape;230;p11">
            <a:extLst>
              <a:ext uri="{FF2B5EF4-FFF2-40B4-BE49-F238E27FC236}">
                <a16:creationId xmlns:a16="http://schemas.microsoft.com/office/drawing/2014/main" id="{D2259F83-F6F9-48B0-EF75-763D86890A10}"/>
              </a:ext>
            </a:extLst>
          </p:cNvPr>
          <p:cNvSpPr txBox="1">
            <a:spLocks noGrp="1"/>
          </p:cNvSpPr>
          <p:nvPr>
            <p:ph type="title"/>
          </p:nvPr>
        </p:nvSpPr>
        <p:spPr>
          <a:xfrm>
            <a:off x="839788" y="457200"/>
            <a:ext cx="5420335" cy="1600200"/>
          </a:xfrm>
          <a:prstGeom prst="rect">
            <a:avLst/>
          </a:prstGeom>
          <a:noFill/>
          <a:ln>
            <a:noFill/>
          </a:ln>
        </p:spPr>
        <p:txBody>
          <a:bodyPr spcFirstLastPara="1" wrap="square" lIns="91425" tIns="45700" rIns="91425" bIns="45700" anchor="ctr" anchorCtr="0">
            <a:normAutofit/>
          </a:bodyPr>
          <a:lstStyle/>
          <a:p>
            <a:pPr lvl="0">
              <a:buSzPts val="4000"/>
            </a:pPr>
            <a:r>
              <a:rPr sz="3400" b="1">
                <a:solidFill>
                  <a:srgbClr val="0F172A"/>
                </a:solidFill>
                <a:latin typeface="Times New Roman"/>
              </a:rPr>
              <a:t>PROPOSED SYSTEM</a:t>
            </a:r>
            <a:endParaRPr sz="3600" b="1" dirty="0">
              <a:latin typeface="Times New Roman" panose="02020603050405020304" pitchFamily="18" charset="0"/>
              <a:cs typeface="Times New Roman" panose="02020603050405020304" pitchFamily="18" charset="0"/>
            </a:endParaRPr>
          </a:p>
        </p:txBody>
      </p:sp>
      <p:sp>
        <p:nvSpPr>
          <p:cNvPr id="231" name="Google Shape;231;p11">
            <a:extLst>
              <a:ext uri="{FF2B5EF4-FFF2-40B4-BE49-F238E27FC236}">
                <a16:creationId xmlns:a16="http://schemas.microsoft.com/office/drawing/2014/main" id="{CD7DDFB5-F9E3-7933-A782-CEAB8D5BDA8B}"/>
              </a:ext>
            </a:extLst>
          </p:cNvPr>
          <p:cNvSpPr txBox="1">
            <a:spLocks noGrp="1"/>
          </p:cNvSpPr>
          <p:nvPr>
            <p:ph type="body" idx="1"/>
          </p:nvPr>
        </p:nvSpPr>
        <p:spPr>
          <a:xfrm>
            <a:off x="731520" y="1920240"/>
            <a:ext cx="10698480" cy="4114800"/>
          </a:xfrm>
          <a:prstGeom prst="rect">
            <a:avLst/>
          </a:prstGeom>
          <a:noFill/>
          <a:ln>
            <a:noFill/>
          </a:ln>
        </p:spPr>
        <p:txBody>
          <a:bodyPr spcFirstLastPara="1" wrap="square" lIns="91425" tIns="45700" rIns="91425" bIns="45700" anchor="t" anchorCtr="0">
            <a:normAutofit/>
          </a:bodyPr>
          <a:lstStyle/>
          <a:p>
            <a:pPr marL="342900" lvl="0" indent="-342900" algn="l">
              <a:lnSpc>
                <a:spcPct val="100000"/>
              </a:lnSpc>
              <a:spcBef>
                <a:spcPts val="800"/>
              </a:spcBef>
              <a:spcAft>
                <a:spcPts val="200"/>
              </a:spcAft>
              <a:buSzPts val="2600"/>
              <a:buFont typeface="Noto Sans Symbols"/>
              <a:buChar char="⮪"/>
            </a:pPr>
            <a:r>
              <a:rPr sz="2200" b="1">
                <a:solidFill>
                  <a:srgbClr val="0284C7"/>
                </a:solidFill>
                <a:latin typeface="Times New Roman"/>
              </a:rPr>
              <a:t>Our Deep Learning Solution</a:t>
            </a:r>
          </a:p>
          <a:p>
            <a:pPr>
              <a:spcBef>
                <a:spcPts val="200"/>
              </a:spcBef>
              <a:spcAft>
                <a:spcPts val="400"/>
              </a:spcAft>
            </a:pPr>
            <a:r>
              <a:rPr sz="1800" b="0">
                <a:solidFill>
                  <a:srgbClr val="1E293B"/>
                </a:solidFill>
                <a:latin typeface="Times New Roman"/>
              </a:rPr>
              <a:t>•  An automated, lightweight deep convolutional network (MobileNetV3-Small) optimized through ONNX Runtime for real-time edge execution on commodity CPUs and ARM architectures.</a:t>
            </a:r>
          </a:p>
          <a:p>
            <a:pPr>
              <a:spcBef>
                <a:spcPts val="800"/>
              </a:spcBef>
              <a:spcAft>
                <a:spcPts val="200"/>
              </a:spcAft>
            </a:pPr>
            <a:r>
              <a:rPr sz="2200" b="1">
                <a:solidFill>
                  <a:srgbClr val="0284C7"/>
                </a:solidFill>
                <a:latin typeface="Times New Roman"/>
              </a:rPr>
              <a:t>Why It Is Superior</a:t>
            </a:r>
          </a:p>
          <a:p>
            <a:pPr>
              <a:spcBef>
                <a:spcPts val="200"/>
              </a:spcBef>
              <a:spcAft>
                <a:spcPts val="400"/>
              </a:spcAft>
            </a:pPr>
            <a:r>
              <a:rPr sz="1800" b="0">
                <a:solidFill>
                  <a:srgbClr val="1E293B"/>
                </a:solidFill>
                <a:latin typeface="Times New Roman"/>
              </a:rPr>
              <a:t>•  Ultra-Low Latency: Real-time 1.53 ms inference per wafer map (over 300x faster than manual review).</a:t>
            </a:r>
          </a:p>
          <a:p>
            <a:pPr>
              <a:spcBef>
                <a:spcPts val="200"/>
              </a:spcBef>
              <a:spcAft>
                <a:spcPts val="400"/>
              </a:spcAft>
            </a:pPr>
            <a:r>
              <a:rPr sz="1800" b="0">
                <a:solidFill>
                  <a:srgbClr val="1E293B"/>
                </a:solidFill>
                <a:latin typeface="Times New Roman"/>
              </a:rPr>
              <a:t>•  High Accuracy: 98.02% overall test accuracy across 121,719 test wafer samples.</a:t>
            </a:r>
          </a:p>
          <a:p>
            <a:pPr>
              <a:spcBef>
                <a:spcPts val="200"/>
              </a:spcBef>
              <a:spcAft>
                <a:spcPts val="400"/>
              </a:spcAft>
            </a:pPr>
            <a:r>
              <a:rPr sz="1800" b="0">
                <a:solidFill>
                  <a:srgbClr val="1E293B"/>
                </a:solidFill>
                <a:latin typeface="Times New Roman"/>
              </a:rPr>
              <a:t>•  Minimal Footprint: 5.84 MB compact ONNX model binary requiring zero GPU hardware.</a:t>
            </a:r>
          </a:p>
          <a:p>
            <a:pPr>
              <a:spcBef>
                <a:spcPts val="800"/>
              </a:spcBef>
              <a:spcAft>
                <a:spcPts val="200"/>
              </a:spcAft>
            </a:pPr>
            <a:r>
              <a:rPr sz="2200" b="1">
                <a:solidFill>
                  <a:srgbClr val="0284C7"/>
                </a:solidFill>
                <a:latin typeface="Times New Roman"/>
              </a:rPr>
              <a:t>Core Functional Features</a:t>
            </a:r>
          </a:p>
          <a:p>
            <a:pPr>
              <a:spcBef>
                <a:spcPts val="200"/>
              </a:spcBef>
              <a:spcAft>
                <a:spcPts val="400"/>
              </a:spcAft>
            </a:pPr>
            <a:r>
              <a:rPr sz="1800" b="0">
                <a:solidFill>
                  <a:srgbClr val="1E293B"/>
                </a:solidFill>
                <a:latin typeface="Times New Roman"/>
              </a:rPr>
              <a:t>•  Instant 8-class topological classification with full softmax probability distribution.</a:t>
            </a:r>
          </a:p>
          <a:p>
            <a:pPr>
              <a:spcBef>
                <a:spcPts val="200"/>
              </a:spcBef>
              <a:spcAft>
                <a:spcPts val="400"/>
              </a:spcAft>
            </a:pPr>
            <a:r>
              <a:rPr sz="1800" b="0">
                <a:solidFill>
                  <a:srgbClr val="1E293B"/>
                </a:solidFill>
                <a:latin typeface="Times New Roman"/>
              </a:rPr>
              <a:t>•  Interactive silicon wafer canvas with die-level pass/fail color mapping (Green = Pass, Red = Fail).</a:t>
            </a:r>
          </a:p>
          <a:p>
            <a:pPr>
              <a:spcBef>
                <a:spcPts val="200"/>
              </a:spcBef>
              <a:spcAft>
                <a:spcPts val="400"/>
              </a:spcAft>
            </a:pPr>
            <a:r>
              <a:rPr sz="1800" b="0">
                <a:solidFill>
                  <a:srgbClr val="1E293B"/>
                </a:solidFill>
                <a:latin typeface="Times New Roman"/>
              </a:rPr>
              <a:t>•  Automated fab lot screening simulator with live yield tracking and defect counter.</a:t>
            </a:r>
          </a:p>
        </p:txBody>
      </p:sp>
      <p:sp>
        <p:nvSpPr>
          <p:cNvPr id="232" name="Google Shape;232;p11">
            <a:extLst>
              <a:ext uri="{FF2B5EF4-FFF2-40B4-BE49-F238E27FC236}">
                <a16:creationId xmlns:a16="http://schemas.microsoft.com/office/drawing/2014/main" id="{29C676BD-83E3-41CC-B46A-9EB1B325BBD8}"/>
              </a:ext>
            </a:extLst>
          </p:cNvPr>
          <p:cNvSpPr txBox="1">
            <a:spLocks noGrp="1"/>
          </p:cNvSpPr>
          <p:nvPr>
            <p:ph type="sldNum" idx="12"/>
          </p:nvPr>
        </p:nvSpPr>
        <p:spPr>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7</a:t>
            </a:fld>
            <a:endParaRPr/>
          </a:p>
        </p:txBody>
      </p:sp>
      <p:pic>
        <p:nvPicPr>
          <p:cNvPr id="233" name="Google Shape;233;p11">
            <a:extLst>
              <a:ext uri="{FF2B5EF4-FFF2-40B4-BE49-F238E27FC236}">
                <a16:creationId xmlns:a16="http://schemas.microsoft.com/office/drawing/2014/main" id="{26AF934B-79FA-7925-6339-3EFCB00CC6C5}"/>
              </a:ext>
            </a:extLst>
          </p:cNvPr>
          <p:cNvPicPr preferRelativeResize="0"/>
          <p:nvPr/>
        </p:nvPicPr>
        <p:blipFill rotWithShape="1">
          <a:blip r:embed="rId2">
            <a:alphaModFix/>
          </a:blip>
          <a:srcRect/>
          <a:stretch/>
        </p:blipFill>
        <p:spPr>
          <a:xfrm>
            <a:off x="159971" y="211556"/>
            <a:ext cx="3850555" cy="691125"/>
          </a:xfrm>
          <a:prstGeom prst="rect">
            <a:avLst/>
          </a:prstGeom>
          <a:noFill/>
          <a:ln>
            <a:noFill/>
          </a:ln>
        </p:spPr>
      </p:pic>
      <p:pic>
        <p:nvPicPr>
          <p:cNvPr id="234" name="Google Shape;234;p11">
            <a:extLst>
              <a:ext uri="{FF2B5EF4-FFF2-40B4-BE49-F238E27FC236}">
                <a16:creationId xmlns:a16="http://schemas.microsoft.com/office/drawing/2014/main" id="{6065A6D5-6961-04A9-F93B-D2CDFF552B96}"/>
              </a:ext>
            </a:extLst>
          </p:cNvPr>
          <p:cNvPicPr preferRelativeResize="0"/>
          <p:nvPr/>
        </p:nvPicPr>
        <p:blipFill rotWithShape="1">
          <a:blip r:embed="rId3">
            <a:alphaModFix/>
          </a:blip>
          <a:srcRect/>
          <a:stretch/>
        </p:blipFill>
        <p:spPr>
          <a:xfrm>
            <a:off x="11072819" y="154753"/>
            <a:ext cx="816174" cy="930568"/>
          </a:xfrm>
          <a:prstGeom prst="rect">
            <a:avLst/>
          </a:prstGeom>
          <a:noFill/>
          <a:ln>
            <a:noFill/>
          </a:ln>
        </p:spPr>
      </p:pic>
      <p:sp>
        <p:nvSpPr>
          <p:cNvPr id="235" name="Google Shape;235;p11">
            <a:extLst>
              <a:ext uri="{FF2B5EF4-FFF2-40B4-BE49-F238E27FC236}">
                <a16:creationId xmlns:a16="http://schemas.microsoft.com/office/drawing/2014/main" id="{19008EE4-DC4F-00CC-8007-894E1A1AA8E7}"/>
              </a:ext>
            </a:extLst>
          </p:cNvPr>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0428378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8</a:t>
            </a:fld>
            <a:endParaRPr/>
          </a:p>
        </p:txBody>
      </p:sp>
      <p:pic>
        <p:nvPicPr>
          <p:cNvPr id="121" name="Google Shape;121;p3"/>
          <p:cNvPicPr preferRelativeResize="0"/>
          <p:nvPr/>
        </p:nvPicPr>
        <p:blipFill rotWithShape="1">
          <a:blip r:embed="rId2">
            <a:alphaModFix/>
          </a:blip>
          <a:srcRect/>
          <a:stretch/>
        </p:blipFill>
        <p:spPr>
          <a:xfrm>
            <a:off x="11072819" y="154753"/>
            <a:ext cx="816174" cy="930568"/>
          </a:xfrm>
          <a:prstGeom prst="rect">
            <a:avLst/>
          </a:prstGeom>
          <a:noFill/>
          <a:ln>
            <a:noFill/>
          </a:ln>
        </p:spPr>
      </p:pic>
      <p:sp>
        <p:nvSpPr>
          <p:cNvPr id="122" name="Google Shape;122;p3"/>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
        <p:nvSpPr>
          <p:cNvPr id="123" name="Google Shape;123;p3"/>
          <p:cNvSpPr txBox="1">
            <a:spLocks noGrp="1"/>
          </p:cNvSpPr>
          <p:nvPr>
            <p:ph type="ctrTitle"/>
          </p:nvPr>
        </p:nvSpPr>
        <p:spPr>
          <a:xfrm>
            <a:off x="459967" y="1100168"/>
            <a:ext cx="9625800" cy="76140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181C24"/>
              </a:buClr>
              <a:buSzPts val="4000"/>
              <a:buFont typeface="Times New Roman"/>
              <a:buNone/>
            </a:pPr>
            <a:r>
              <a:rPr sz="3400" b="1">
                <a:solidFill>
                  <a:srgbClr val="0F172A"/>
                </a:solidFill>
                <a:latin typeface="Times New Roman"/>
              </a:rPr>
              <a:t>NOVELTY OF THE PROJECT</a:t>
            </a:r>
            <a:endParaRPr sz="3600" b="1" dirty="0">
              <a:latin typeface="Times New Roman"/>
              <a:ea typeface="Times New Roman"/>
              <a:cs typeface="Times New Roman"/>
              <a:sym typeface="Times New Roman"/>
            </a:endParaRPr>
          </a:p>
        </p:txBody>
      </p:sp>
      <p:pic>
        <p:nvPicPr>
          <p:cNvPr id="125" name="Google Shape;125;p3"/>
          <p:cNvPicPr preferRelativeResize="0"/>
          <p:nvPr/>
        </p:nvPicPr>
        <p:blipFill rotWithShape="1">
          <a:blip r:embed="rId3">
            <a:alphaModFix/>
          </a:blip>
          <a:srcRect l="15320" t="28789" r="16466" b="54857"/>
          <a:stretch/>
        </p:blipFill>
        <p:spPr>
          <a:xfrm>
            <a:off x="155527" y="217182"/>
            <a:ext cx="4521325" cy="812948"/>
          </a:xfrm>
          <a:prstGeom prst="rect">
            <a:avLst/>
          </a:prstGeom>
          <a:noFill/>
          <a:ln>
            <a:noFill/>
          </a:ln>
        </p:spPr>
      </p:pic>
      <p:sp>
        <p:nvSpPr>
          <p:cNvPr id="126" name="TextBox 125"/>
          <p:cNvSpPr txBox="1"/>
          <p:nvPr/>
        </p:nvSpPr>
        <p:spPr>
          <a:xfrm>
            <a:off x="731520" y="1920240"/>
            <a:ext cx="10698480" cy="4114800"/>
          </a:xfrm>
          <a:prstGeom prst="rect">
            <a:avLst/>
          </a:prstGeom>
          <a:noFill/>
        </p:spPr>
        <p:txBody>
          <a:bodyPr wrap="square">
            <a:spAutoFit/>
          </a:bodyPr>
          <a:lstStyle/>
          <a:p>
            <a:pPr>
              <a:spcBef>
                <a:spcPts val="800"/>
              </a:spcBef>
              <a:spcAft>
                <a:spcPts val="200"/>
              </a:spcAft>
            </a:pPr>
            <a:r>
              <a:rPr sz="2200" b="1">
                <a:solidFill>
                  <a:srgbClr val="0284C7"/>
                </a:solidFill>
                <a:latin typeface="Times New Roman"/>
              </a:rPr>
              <a:t>Edge-First Deep Architecture Selection</a:t>
            </a:r>
          </a:p>
          <a:p>
            <a:pPr>
              <a:spcBef>
                <a:spcPts val="200"/>
              </a:spcBef>
              <a:spcAft>
                <a:spcPts val="400"/>
              </a:spcAft>
            </a:pPr>
            <a:r>
              <a:rPr sz="1800" b="0">
                <a:solidFill>
                  <a:srgbClr val="1E293B"/>
                </a:solidFill>
                <a:latin typeface="Times New Roman"/>
              </a:rPr>
              <a:t>•  Replaces bulky architectures (ResNet-50 / VGG) with MobileNetV3-Small, reducing floating-point operations (FLOPs) by &gt;90% while maintaining state-of-the-art accuracy.</a:t>
            </a:r>
          </a:p>
          <a:p>
            <a:pPr>
              <a:spcBef>
                <a:spcPts val="800"/>
              </a:spcBef>
              <a:spcAft>
                <a:spcPts val="200"/>
              </a:spcAft>
            </a:pPr>
            <a:r>
              <a:rPr sz="2200" b="1">
                <a:solidFill>
                  <a:srgbClr val="0284C7"/>
                </a:solidFill>
                <a:latin typeface="Times New Roman"/>
              </a:rPr>
              <a:t>Squeeze-and-Excitation (SE) Channel Attention</a:t>
            </a:r>
          </a:p>
          <a:p>
            <a:pPr>
              <a:spcBef>
                <a:spcPts val="200"/>
              </a:spcBef>
              <a:spcAft>
                <a:spcPts val="400"/>
              </a:spcAft>
            </a:pPr>
            <a:r>
              <a:rPr sz="1800" b="0">
                <a:solidFill>
                  <a:srgbClr val="1E293B"/>
                </a:solidFill>
                <a:latin typeface="Times New Roman"/>
              </a:rPr>
              <a:t>•  Dynamically recalibrates feature map channels, allowing the network to isolate narrow defect patterns (such as thin scratches) amidst tens of thousands of operational dies.</a:t>
            </a:r>
          </a:p>
          <a:p>
            <a:pPr>
              <a:spcBef>
                <a:spcPts val="800"/>
              </a:spcBef>
              <a:spcAft>
                <a:spcPts val="200"/>
              </a:spcAft>
            </a:pPr>
            <a:r>
              <a:rPr sz="2200" b="1">
                <a:solidFill>
                  <a:srgbClr val="0284C7"/>
                </a:solidFill>
                <a:latin typeface="Times New Roman"/>
              </a:rPr>
              <a:t>Hardware-Agnostic ONNX Edge Engine</a:t>
            </a:r>
          </a:p>
          <a:p>
            <a:pPr>
              <a:spcBef>
                <a:spcPts val="200"/>
              </a:spcBef>
              <a:spcAft>
                <a:spcPts val="400"/>
              </a:spcAft>
            </a:pPr>
            <a:r>
              <a:rPr sz="1800" b="0">
                <a:solidFill>
                  <a:srgbClr val="1E293B"/>
                </a:solidFill>
                <a:latin typeface="Times New Roman"/>
              </a:rPr>
              <a:t>•  Compiled into an open neural network exchange (ONNX) format, allowing seamless execution on industrial x86 PCs, Raspberry Pi 4/5, and smart camera vision systems without Python/PyTorch dependencies.</a:t>
            </a:r>
          </a:p>
          <a:p>
            <a:pPr>
              <a:spcBef>
                <a:spcPts val="800"/>
              </a:spcBef>
              <a:spcAft>
                <a:spcPts val="200"/>
              </a:spcAft>
            </a:pPr>
            <a:r>
              <a:rPr sz="2200" b="1">
                <a:solidFill>
                  <a:srgbClr val="0284C7"/>
                </a:solidFill>
                <a:latin typeface="Times New Roman"/>
              </a:rPr>
              <a:t>Full-Stack Fab Simulation &amp; Die Matrix Telemetry</a:t>
            </a:r>
          </a:p>
          <a:p>
            <a:pPr>
              <a:spcBef>
                <a:spcPts val="200"/>
              </a:spcBef>
              <a:spcAft>
                <a:spcPts val="400"/>
              </a:spcAft>
            </a:pPr>
            <a:r>
              <a:rPr sz="1800" b="0">
                <a:solidFill>
                  <a:srgbClr val="1E293B"/>
                </a:solidFill>
                <a:latin typeface="Times New Roman"/>
              </a:rPr>
              <a:t>•  Bridges pure model classification with production fab metrics: computes exact good/bad die yield on a 648-die matrix in real time.</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9</a:t>
            </a:fld>
            <a:endParaRPr/>
          </a:p>
        </p:txBody>
      </p:sp>
      <p:pic>
        <p:nvPicPr>
          <p:cNvPr id="121" name="Google Shape;121;p3"/>
          <p:cNvPicPr preferRelativeResize="0"/>
          <p:nvPr/>
        </p:nvPicPr>
        <p:blipFill rotWithShape="1">
          <a:blip r:embed="rId2">
            <a:alphaModFix/>
          </a:blip>
          <a:srcRect/>
          <a:stretch/>
        </p:blipFill>
        <p:spPr>
          <a:xfrm>
            <a:off x="11072819" y="154753"/>
            <a:ext cx="816174" cy="930568"/>
          </a:xfrm>
          <a:prstGeom prst="rect">
            <a:avLst/>
          </a:prstGeom>
          <a:noFill/>
          <a:ln>
            <a:noFill/>
          </a:ln>
        </p:spPr>
      </p:pic>
      <p:sp>
        <p:nvSpPr>
          <p:cNvPr id="122" name="Google Shape;122;p3"/>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
        <p:nvSpPr>
          <p:cNvPr id="123" name="Google Shape;123;p3"/>
          <p:cNvSpPr txBox="1">
            <a:spLocks noGrp="1"/>
          </p:cNvSpPr>
          <p:nvPr>
            <p:ph type="ctrTitle"/>
          </p:nvPr>
        </p:nvSpPr>
        <p:spPr>
          <a:xfrm>
            <a:off x="459967" y="1100168"/>
            <a:ext cx="9625800" cy="76140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181C24"/>
              </a:buClr>
              <a:buSzPts val="4000"/>
              <a:buFont typeface="Times New Roman"/>
              <a:buNone/>
            </a:pPr>
            <a:r>
              <a:rPr sz="3400" b="1">
                <a:solidFill>
                  <a:srgbClr val="0F172A"/>
                </a:solidFill>
                <a:latin typeface="Times New Roman"/>
              </a:rPr>
              <a:t>SCOPE OF THE PROJECT</a:t>
            </a:r>
            <a:endParaRPr sz="3600" b="1" dirty="0">
              <a:latin typeface="Times New Roman"/>
              <a:ea typeface="Times New Roman"/>
              <a:cs typeface="Times New Roman"/>
              <a:sym typeface="Times New Roman"/>
            </a:endParaRPr>
          </a:p>
        </p:txBody>
      </p:sp>
      <p:sp>
        <p:nvSpPr>
          <p:cNvPr id="124" name="Google Shape;124;p3"/>
          <p:cNvSpPr txBox="1">
            <a:spLocks noGrp="1"/>
          </p:cNvSpPr>
          <p:nvPr>
            <p:ph type="subTitle" idx="1"/>
          </p:nvPr>
        </p:nvSpPr>
        <p:spPr>
          <a:xfrm>
            <a:off x="731520" y="1920240"/>
            <a:ext cx="10698480" cy="4114800"/>
          </a:xfrm>
          <a:prstGeom prst="rect">
            <a:avLst/>
          </a:prstGeom>
          <a:noFill/>
          <a:ln>
            <a:noFill/>
          </a:ln>
        </p:spPr>
        <p:txBody>
          <a:bodyPr spcFirstLastPara="1" wrap="square" lIns="91425" tIns="45700" rIns="91425" bIns="45700" anchor="t" anchorCtr="0">
            <a:normAutofit/>
          </a:bodyPr>
          <a:lstStyle/>
          <a:p>
            <a:pPr marL="342900" lvl="0" indent="-342900" algn="l">
              <a:lnSpc>
                <a:spcPct val="100000"/>
              </a:lnSpc>
              <a:spcBef>
                <a:spcPts val="800"/>
              </a:spcBef>
              <a:spcAft>
                <a:spcPts val="200"/>
              </a:spcAft>
              <a:buSzPts val="2600"/>
              <a:buFont typeface="Noto Sans Symbols"/>
              <a:buChar char="⮪"/>
            </a:pPr>
            <a:r>
              <a:rPr sz="2200" b="1">
                <a:solidFill>
                  <a:srgbClr val="0284C7"/>
                </a:solidFill>
                <a:latin typeface="Times New Roman"/>
              </a:rPr>
              <a:t>Current Implementation Scope</a:t>
            </a:r>
          </a:p>
          <a:p>
            <a:pPr>
              <a:spcBef>
                <a:spcPts val="200"/>
              </a:spcBef>
              <a:spcAft>
                <a:spcPts val="400"/>
              </a:spcAft>
            </a:pPr>
            <a:r>
              <a:rPr sz="1800" b="0">
                <a:solidFill>
                  <a:srgbClr val="1E293B"/>
                </a:solidFill>
                <a:latin typeface="Times New Roman"/>
              </a:rPr>
              <a:t>•  Automated high-precision classification across 8 key defect classes: Center, Clean, Donut, Edge-Loc, Edge-Ring, Loc, Other, Scratch.</a:t>
            </a:r>
          </a:p>
          <a:p>
            <a:pPr>
              <a:spcBef>
                <a:spcPts val="200"/>
              </a:spcBef>
              <a:spcAft>
                <a:spcPts val="400"/>
              </a:spcAft>
            </a:pPr>
            <a:r>
              <a:rPr sz="1800" b="0">
                <a:solidFill>
                  <a:srgbClr val="1E293B"/>
                </a:solidFill>
                <a:latin typeface="Times New Roman"/>
              </a:rPr>
              <a:t>•  Complete validation on 121,719 test wafer maps from the WM-811K benchmark.</a:t>
            </a:r>
          </a:p>
          <a:p>
            <a:pPr>
              <a:spcBef>
                <a:spcPts val="200"/>
              </a:spcBef>
              <a:spcAft>
                <a:spcPts val="400"/>
              </a:spcAft>
            </a:pPr>
            <a:r>
              <a:rPr sz="1800" b="0">
                <a:solidFill>
                  <a:srgbClr val="1E293B"/>
                </a:solidFill>
                <a:latin typeface="Times New Roman"/>
              </a:rPr>
              <a:t>•  Interactive web-based inspection console with live canvas, lot simulation, and REST inference API.</a:t>
            </a:r>
          </a:p>
          <a:p>
            <a:pPr>
              <a:spcBef>
                <a:spcPts val="200"/>
              </a:spcBef>
              <a:spcAft>
                <a:spcPts val="400"/>
              </a:spcAft>
            </a:pPr>
            <a:r>
              <a:rPr sz="1800" b="0">
                <a:solidFill>
                  <a:srgbClr val="1E293B"/>
                </a:solidFill>
                <a:latin typeface="Times New Roman"/>
              </a:rPr>
              <a:t>•  Zero-cloud offline deployment capable of running on standard shop-floor laptops or edge processors.</a:t>
            </a:r>
          </a:p>
          <a:p>
            <a:pPr>
              <a:spcBef>
                <a:spcPts val="800"/>
              </a:spcBef>
              <a:spcAft>
                <a:spcPts val="200"/>
              </a:spcAft>
            </a:pPr>
            <a:r>
              <a:rPr sz="2200" b="1">
                <a:solidFill>
                  <a:srgbClr val="0284C7"/>
                </a:solidFill>
                <a:latin typeface="Times New Roman"/>
              </a:rPr>
              <a:t>Future Enhancements</a:t>
            </a:r>
          </a:p>
          <a:p>
            <a:pPr>
              <a:spcBef>
                <a:spcPts val="200"/>
              </a:spcBef>
              <a:spcAft>
                <a:spcPts val="400"/>
              </a:spcAft>
            </a:pPr>
            <a:r>
              <a:rPr sz="1800" b="0">
                <a:solidFill>
                  <a:srgbClr val="1E293B"/>
                </a:solidFill>
                <a:latin typeface="Times New Roman"/>
              </a:rPr>
              <a:t>•  Die-level semantic segmentation (U-Net / YOLOv8-seg) for pixel-precise defect contouring.</a:t>
            </a:r>
          </a:p>
          <a:p>
            <a:pPr>
              <a:spcBef>
                <a:spcPts val="200"/>
              </a:spcBef>
              <a:spcAft>
                <a:spcPts val="400"/>
              </a:spcAft>
            </a:pPr>
            <a:r>
              <a:rPr sz="1800" b="0">
                <a:solidFill>
                  <a:srgbClr val="1E293B"/>
                </a:solidFill>
                <a:latin typeface="Times New Roman"/>
              </a:rPr>
              <a:t>•  Multi-modal fab telemetry fusion combining wafer maps with electrical parametric test (E-test) logs.</a:t>
            </a:r>
          </a:p>
          <a:p>
            <a:pPr>
              <a:spcBef>
                <a:spcPts val="200"/>
              </a:spcBef>
              <a:spcAft>
                <a:spcPts val="400"/>
              </a:spcAft>
            </a:pPr>
            <a:r>
              <a:rPr sz="1800" b="0">
                <a:solidFill>
                  <a:srgbClr val="1E293B"/>
                </a:solidFill>
                <a:latin typeface="Times New Roman"/>
              </a:rPr>
              <a:t>•  Federated active learning for collaborative multi-fab model continuous improvement.</a:t>
            </a:r>
          </a:p>
        </p:txBody>
      </p:sp>
      <p:pic>
        <p:nvPicPr>
          <p:cNvPr id="125" name="Google Shape;125;p3"/>
          <p:cNvPicPr preferRelativeResize="0"/>
          <p:nvPr/>
        </p:nvPicPr>
        <p:blipFill rotWithShape="1">
          <a:blip r:embed="rId3">
            <a:alphaModFix/>
          </a:blip>
          <a:srcRect l="15320" t="28789" r="16466" b="54857"/>
          <a:stretch/>
        </p:blipFill>
        <p:spPr>
          <a:xfrm>
            <a:off x="155527" y="217182"/>
            <a:ext cx="4521325" cy="812948"/>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10</a:t>
            </a:fld>
            <a:endParaRPr/>
          </a:p>
        </p:txBody>
      </p:sp>
      <p:pic>
        <p:nvPicPr>
          <p:cNvPr id="121" name="Google Shape;121;p3"/>
          <p:cNvPicPr preferRelativeResize="0"/>
          <p:nvPr/>
        </p:nvPicPr>
        <p:blipFill rotWithShape="1">
          <a:blip r:embed="rId2">
            <a:alphaModFix/>
          </a:blip>
          <a:srcRect/>
          <a:stretch/>
        </p:blipFill>
        <p:spPr>
          <a:xfrm>
            <a:off x="11072819" y="154753"/>
            <a:ext cx="816174" cy="930568"/>
          </a:xfrm>
          <a:prstGeom prst="rect">
            <a:avLst/>
          </a:prstGeom>
          <a:noFill/>
          <a:ln>
            <a:noFill/>
          </a:ln>
        </p:spPr>
      </p:pic>
      <p:sp>
        <p:nvSpPr>
          <p:cNvPr id="122" name="Google Shape;122;p3"/>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
        <p:nvSpPr>
          <p:cNvPr id="123" name="Google Shape;123;p3"/>
          <p:cNvSpPr txBox="1">
            <a:spLocks noGrp="1"/>
          </p:cNvSpPr>
          <p:nvPr>
            <p:ph type="ctrTitle"/>
          </p:nvPr>
        </p:nvSpPr>
        <p:spPr>
          <a:xfrm>
            <a:off x="459967" y="1100168"/>
            <a:ext cx="9625800" cy="76140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181C24"/>
              </a:buClr>
              <a:buSzPts val="4000"/>
              <a:buFont typeface="Times New Roman"/>
              <a:buNone/>
            </a:pPr>
            <a:r>
              <a:rPr sz="3400" b="1">
                <a:solidFill>
                  <a:srgbClr val="0F172A"/>
                </a:solidFill>
                <a:latin typeface="Times New Roman"/>
              </a:rPr>
              <a:t>METHODOLOGY &amp; WORKFLOW</a:t>
            </a:r>
            <a:endParaRPr sz="3600" b="1" dirty="0">
              <a:latin typeface="Times New Roman"/>
              <a:ea typeface="Times New Roman"/>
              <a:cs typeface="Times New Roman"/>
              <a:sym typeface="Times New Roman"/>
            </a:endParaRPr>
          </a:p>
        </p:txBody>
      </p:sp>
      <p:sp>
        <p:nvSpPr>
          <p:cNvPr id="124" name="Google Shape;124;p3"/>
          <p:cNvSpPr txBox="1">
            <a:spLocks noGrp="1"/>
          </p:cNvSpPr>
          <p:nvPr>
            <p:ph type="subTitle" idx="1"/>
          </p:nvPr>
        </p:nvSpPr>
        <p:spPr>
          <a:xfrm>
            <a:off x="731520" y="1920240"/>
            <a:ext cx="10698480" cy="4114800"/>
          </a:xfrm>
          <a:prstGeom prst="rect">
            <a:avLst/>
          </a:prstGeom>
          <a:noFill/>
          <a:ln>
            <a:noFill/>
          </a:ln>
        </p:spPr>
        <p:txBody>
          <a:bodyPr spcFirstLastPara="1" wrap="square" lIns="91425" tIns="45700" rIns="91425" bIns="45700" anchor="t" anchorCtr="0">
            <a:normAutofit/>
          </a:bodyPr>
          <a:lstStyle/>
          <a:p>
            <a:pPr marL="342900" lvl="0" indent="-342900" algn="l">
              <a:lnSpc>
                <a:spcPct val="100000"/>
              </a:lnSpc>
              <a:spcBef>
                <a:spcPts val="800"/>
              </a:spcBef>
              <a:spcAft>
                <a:spcPts val="200"/>
              </a:spcAft>
              <a:buSzPts val="2600"/>
              <a:buFont typeface="Noto Sans Symbols"/>
              <a:buChar char="⮪"/>
            </a:pPr>
            <a:r>
              <a:rPr sz="2200" b="1">
                <a:solidFill>
                  <a:srgbClr val="0284C7"/>
                </a:solidFill>
                <a:latin typeface="Times New Roman"/>
              </a:rPr>
              <a:t>Phase 1: Dataset Curation &amp; Preprocessing</a:t>
            </a:r>
          </a:p>
          <a:p>
            <a:pPr>
              <a:spcBef>
                <a:spcPts val="200"/>
              </a:spcBef>
              <a:spcAft>
                <a:spcPts val="400"/>
              </a:spcAft>
            </a:pPr>
            <a:r>
              <a:rPr sz="1800" b="0">
                <a:solidFill>
                  <a:srgbClr val="1E293B"/>
                </a:solidFill>
                <a:latin typeface="Times New Roman"/>
              </a:rPr>
              <a:t>•  Extracted wafer maps from the WM-811K benchmark; performed spatial bicubic/nearest resizing to 224x224 and tensor normalization (ImageNet mean &amp; std).</a:t>
            </a:r>
          </a:p>
          <a:p>
            <a:pPr>
              <a:spcBef>
                <a:spcPts val="800"/>
              </a:spcBef>
              <a:spcAft>
                <a:spcPts val="200"/>
              </a:spcAft>
            </a:pPr>
            <a:r>
              <a:rPr sz="2200" b="1">
                <a:solidFill>
                  <a:srgbClr val="0284C7"/>
                </a:solidFill>
                <a:latin typeface="Times New Roman"/>
              </a:rPr>
              <a:t>Phase 2: Transfer Learning &amp; Model Fine-Tuning</a:t>
            </a:r>
          </a:p>
          <a:p>
            <a:pPr>
              <a:spcBef>
                <a:spcPts val="200"/>
              </a:spcBef>
              <a:spcAft>
                <a:spcPts val="400"/>
              </a:spcAft>
            </a:pPr>
            <a:r>
              <a:rPr sz="1800" b="0">
                <a:solidFill>
                  <a:srgbClr val="1E293B"/>
                </a:solidFill>
                <a:latin typeface="Times New Roman"/>
              </a:rPr>
              <a:t>•  Utilized pre-trained MobileNetV3-Small backbone with inverted residual bottlenecks and Hard-Swish activations; replaced the classification head with an 8-output linear layer.</a:t>
            </a:r>
          </a:p>
          <a:p>
            <a:pPr>
              <a:spcBef>
                <a:spcPts val="800"/>
              </a:spcBef>
              <a:spcAft>
                <a:spcPts val="200"/>
              </a:spcAft>
            </a:pPr>
            <a:r>
              <a:rPr sz="2200" b="1">
                <a:solidFill>
                  <a:srgbClr val="0284C7"/>
                </a:solidFill>
                <a:latin typeface="Times New Roman"/>
              </a:rPr>
              <a:t>Phase 3: Training &amp; Regularization Pipeline</a:t>
            </a:r>
          </a:p>
          <a:p>
            <a:pPr>
              <a:spcBef>
                <a:spcPts val="200"/>
              </a:spcBef>
              <a:spcAft>
                <a:spcPts val="400"/>
              </a:spcAft>
            </a:pPr>
            <a:r>
              <a:rPr sz="1800" b="0">
                <a:solidFill>
                  <a:srgbClr val="1E293B"/>
                </a:solidFill>
                <a:latin typeface="Times New Roman"/>
              </a:rPr>
              <a:t>•  Trained using Adam optimizer, cross-entropy loss, dropout regularization (p=0.2), and early stopping to prevent overfitting on majority classes.</a:t>
            </a:r>
          </a:p>
          <a:p>
            <a:pPr>
              <a:spcBef>
                <a:spcPts val="800"/>
              </a:spcBef>
              <a:spcAft>
                <a:spcPts val="200"/>
              </a:spcAft>
            </a:pPr>
            <a:r>
              <a:rPr sz="2200" b="1">
                <a:solidFill>
                  <a:srgbClr val="0284C7"/>
                </a:solidFill>
                <a:latin typeface="Times New Roman"/>
              </a:rPr>
              <a:t>Phase 4: ONNX Compilation &amp; Edge Integration</a:t>
            </a:r>
          </a:p>
          <a:p>
            <a:pPr>
              <a:spcBef>
                <a:spcPts val="200"/>
              </a:spcBef>
              <a:spcAft>
                <a:spcPts val="400"/>
              </a:spcAft>
            </a:pPr>
            <a:r>
              <a:rPr sz="1800" b="0">
                <a:solidFill>
                  <a:srgbClr val="1E293B"/>
                </a:solidFill>
                <a:latin typeface="Times New Roman"/>
              </a:rPr>
              <a:t>•  Exported PyTorch computational graph to ONNX with CPU graph optimizations; integrated into a high-concurrency Python REST server and interactive web visualizer.</a:t>
            </a:r>
          </a:p>
        </p:txBody>
      </p:sp>
      <p:pic>
        <p:nvPicPr>
          <p:cNvPr id="125" name="Google Shape;125;p3"/>
          <p:cNvPicPr preferRelativeResize="0"/>
          <p:nvPr/>
        </p:nvPicPr>
        <p:blipFill rotWithShape="1">
          <a:blip r:embed="rId3">
            <a:alphaModFix/>
          </a:blip>
          <a:srcRect l="15320" t="28789" r="16466" b="54857"/>
          <a:stretch/>
        </p:blipFill>
        <p:spPr>
          <a:xfrm>
            <a:off x="155527" y="217182"/>
            <a:ext cx="4521325" cy="812948"/>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11</a:t>
            </a:fld>
            <a:endParaRPr/>
          </a:p>
        </p:txBody>
      </p:sp>
      <p:pic>
        <p:nvPicPr>
          <p:cNvPr id="121" name="Google Shape;121;p3"/>
          <p:cNvPicPr preferRelativeResize="0"/>
          <p:nvPr/>
        </p:nvPicPr>
        <p:blipFill rotWithShape="1">
          <a:blip r:embed="rId2">
            <a:alphaModFix/>
          </a:blip>
          <a:srcRect/>
          <a:stretch/>
        </p:blipFill>
        <p:spPr>
          <a:xfrm>
            <a:off x="11072819" y="154753"/>
            <a:ext cx="816174" cy="930568"/>
          </a:xfrm>
          <a:prstGeom prst="rect">
            <a:avLst/>
          </a:prstGeom>
          <a:noFill/>
          <a:ln>
            <a:noFill/>
          </a:ln>
        </p:spPr>
      </p:pic>
      <p:sp>
        <p:nvSpPr>
          <p:cNvPr id="122" name="Google Shape;122;p3"/>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
        <p:nvSpPr>
          <p:cNvPr id="123" name="Google Shape;123;p3"/>
          <p:cNvSpPr txBox="1">
            <a:spLocks noGrp="1"/>
          </p:cNvSpPr>
          <p:nvPr>
            <p:ph type="ctrTitle"/>
          </p:nvPr>
        </p:nvSpPr>
        <p:spPr>
          <a:xfrm>
            <a:off x="459967" y="1100168"/>
            <a:ext cx="9625800" cy="76140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181C24"/>
              </a:buClr>
              <a:buSzPts val="4000"/>
              <a:buFont typeface="Times New Roman"/>
              <a:buNone/>
            </a:pPr>
            <a:r>
              <a:rPr sz="3400" b="1">
                <a:solidFill>
                  <a:srgbClr val="0F172A"/>
                </a:solidFill>
                <a:latin typeface="Times New Roman"/>
              </a:rPr>
              <a:t>HARDWARE &amp; SOFTWARE REQUIREMENTS</a:t>
            </a:r>
            <a:endParaRPr sz="3600" b="1" dirty="0">
              <a:latin typeface="Times New Roman"/>
              <a:ea typeface="Times New Roman"/>
              <a:cs typeface="Times New Roman"/>
              <a:sym typeface="Times New Roman"/>
            </a:endParaRPr>
          </a:p>
        </p:txBody>
      </p:sp>
      <p:sp>
        <p:nvSpPr>
          <p:cNvPr id="124" name="Google Shape;124;p3"/>
          <p:cNvSpPr txBox="1">
            <a:spLocks noGrp="1"/>
          </p:cNvSpPr>
          <p:nvPr>
            <p:ph type="subTitle" idx="1"/>
          </p:nvPr>
        </p:nvSpPr>
        <p:spPr>
          <a:xfrm>
            <a:off x="731520" y="1920240"/>
            <a:ext cx="10698480" cy="4114800"/>
          </a:xfrm>
          <a:prstGeom prst="rect">
            <a:avLst/>
          </a:prstGeom>
          <a:noFill/>
          <a:ln>
            <a:noFill/>
          </a:ln>
        </p:spPr>
        <p:txBody>
          <a:bodyPr spcFirstLastPara="1" wrap="square" lIns="91425" tIns="45700" rIns="91425" bIns="45700" anchor="t" anchorCtr="0">
            <a:normAutofit/>
          </a:bodyPr>
          <a:lstStyle/>
          <a:p>
            <a:pPr marL="342900" lvl="0" indent="-342900" algn="l">
              <a:lnSpc>
                <a:spcPct val="100000"/>
              </a:lnSpc>
              <a:spcBef>
                <a:spcPts val="800"/>
              </a:spcBef>
              <a:spcAft>
                <a:spcPts val="200"/>
              </a:spcAft>
              <a:buSzPts val="2600"/>
              <a:buFont typeface="Noto Sans Symbols"/>
              <a:buChar char="⮪"/>
            </a:pPr>
            <a:r>
              <a:rPr sz="2200" b="1">
                <a:solidFill>
                  <a:srgbClr val="0284C7"/>
                </a:solidFill>
                <a:latin typeface="Times New Roman"/>
              </a:rPr>
              <a:t>Software Requirements</a:t>
            </a:r>
          </a:p>
          <a:p>
            <a:pPr>
              <a:spcBef>
                <a:spcPts val="200"/>
              </a:spcBef>
              <a:spcAft>
                <a:spcPts val="400"/>
              </a:spcAft>
            </a:pPr>
            <a:r>
              <a:rPr sz="1800" b="0">
                <a:solidFill>
                  <a:srgbClr val="1E293B"/>
                </a:solidFill>
                <a:latin typeface="Times New Roman"/>
              </a:rPr>
              <a:t>•  Operating System: Windows 11 / Linux (Ubuntu 22.04 LTS)</a:t>
            </a:r>
          </a:p>
          <a:p>
            <a:pPr>
              <a:spcBef>
                <a:spcPts val="200"/>
              </a:spcBef>
              <a:spcAft>
                <a:spcPts val="400"/>
              </a:spcAft>
            </a:pPr>
            <a:r>
              <a:rPr sz="1800" b="0">
                <a:solidFill>
                  <a:srgbClr val="1E293B"/>
                </a:solidFill>
                <a:latin typeface="Times New Roman"/>
              </a:rPr>
              <a:t>•  Programming Language: Python 3.12 / 3.10</a:t>
            </a:r>
          </a:p>
          <a:p>
            <a:pPr>
              <a:spcBef>
                <a:spcPts val="200"/>
              </a:spcBef>
              <a:spcAft>
                <a:spcPts val="400"/>
              </a:spcAft>
            </a:pPr>
            <a:r>
              <a:rPr sz="1800" b="0">
                <a:solidFill>
                  <a:srgbClr val="1E293B"/>
                </a:solidFill>
                <a:latin typeface="Times New Roman"/>
              </a:rPr>
              <a:t>•  Deep Learning Framework: PyTorch 2.x, Torchvision</a:t>
            </a:r>
          </a:p>
          <a:p>
            <a:pPr>
              <a:spcBef>
                <a:spcPts val="200"/>
              </a:spcBef>
              <a:spcAft>
                <a:spcPts val="400"/>
              </a:spcAft>
            </a:pPr>
            <a:r>
              <a:rPr sz="1800" b="0">
                <a:solidFill>
                  <a:srgbClr val="1E293B"/>
                </a:solidFill>
                <a:latin typeface="Times New Roman"/>
              </a:rPr>
              <a:t>•  Edge Runtime Engine: ONNX Runtime 1.18+</a:t>
            </a:r>
          </a:p>
          <a:p>
            <a:pPr>
              <a:spcBef>
                <a:spcPts val="200"/>
              </a:spcBef>
              <a:spcAft>
                <a:spcPts val="400"/>
              </a:spcAft>
            </a:pPr>
            <a:r>
              <a:rPr sz="1800" b="0">
                <a:solidFill>
                  <a:srgbClr val="1E293B"/>
                </a:solidFill>
                <a:latin typeface="Times New Roman"/>
              </a:rPr>
              <a:t>•  Computer Vision &amp; Analytics: OpenCV (cv2), NumPy, Scikit-learn, Matplotlib, Seaborn</a:t>
            </a:r>
          </a:p>
          <a:p>
            <a:pPr>
              <a:spcBef>
                <a:spcPts val="200"/>
              </a:spcBef>
              <a:spcAft>
                <a:spcPts val="400"/>
              </a:spcAft>
            </a:pPr>
            <a:r>
              <a:rPr sz="1800" b="0">
                <a:solidFill>
                  <a:srgbClr val="1E293B"/>
                </a:solidFill>
                <a:latin typeface="Times New Roman"/>
              </a:rPr>
              <a:t>•  Web Application &amp; API: HTML5 Canvas, Vanilla CSS3, JavaScript ES6, Python HTTP Server</a:t>
            </a:r>
          </a:p>
          <a:p>
            <a:pPr>
              <a:spcBef>
                <a:spcPts val="800"/>
              </a:spcBef>
              <a:spcAft>
                <a:spcPts val="200"/>
              </a:spcAft>
            </a:pPr>
            <a:r>
              <a:rPr sz="2200" b="1">
                <a:solidFill>
                  <a:srgbClr val="0284C7"/>
                </a:solidFill>
                <a:latin typeface="Times New Roman"/>
              </a:rPr>
              <a:t>Hardware Requirements</a:t>
            </a:r>
          </a:p>
          <a:p>
            <a:pPr>
              <a:spcBef>
                <a:spcPts val="200"/>
              </a:spcBef>
              <a:spcAft>
                <a:spcPts val="400"/>
              </a:spcAft>
            </a:pPr>
            <a:r>
              <a:rPr sz="1800" b="0">
                <a:solidFill>
                  <a:srgbClr val="1E293B"/>
                </a:solidFill>
                <a:latin typeface="Times New Roman"/>
              </a:rPr>
              <a:t>•  Training Platform: Intel Core i5/i7 Processor, 16 GB RAM (optional NVIDIA RTX GPU for training)</a:t>
            </a:r>
          </a:p>
          <a:p>
            <a:pPr>
              <a:spcBef>
                <a:spcPts val="200"/>
              </a:spcBef>
              <a:spcAft>
                <a:spcPts val="400"/>
              </a:spcAft>
            </a:pPr>
            <a:r>
              <a:rPr sz="1800" b="0">
                <a:solidFill>
                  <a:srgbClr val="1E293B"/>
                </a:solidFill>
                <a:latin typeface="Times New Roman"/>
              </a:rPr>
              <a:t>•  Deployment Station: Standard x86 PC or ARM Single Board Computer (Raspberry Pi 4/5, Intel NUC)</a:t>
            </a:r>
          </a:p>
          <a:p>
            <a:pPr>
              <a:spcBef>
                <a:spcPts val="200"/>
              </a:spcBef>
              <a:spcAft>
                <a:spcPts val="400"/>
              </a:spcAft>
            </a:pPr>
            <a:r>
              <a:rPr sz="1800" b="0">
                <a:solidFill>
                  <a:srgbClr val="1E293B"/>
                </a:solidFill>
                <a:latin typeface="Times New Roman"/>
              </a:rPr>
              <a:t>•  Storage: 256 GB SSD (dataset repository and evaluation logs)</a:t>
            </a:r>
          </a:p>
          <a:p>
            <a:pPr>
              <a:spcBef>
                <a:spcPts val="200"/>
              </a:spcBef>
              <a:spcAft>
                <a:spcPts val="400"/>
              </a:spcAft>
            </a:pPr>
            <a:r>
              <a:rPr sz="1800" b="0">
                <a:solidFill>
                  <a:srgbClr val="1E293B"/>
                </a:solidFill>
                <a:latin typeface="Times New Roman"/>
              </a:rPr>
              <a:t>•  Network: Standard Gigabit Ethernet / Wi-Fi for shop-floor scanner transmission</a:t>
            </a:r>
          </a:p>
        </p:txBody>
      </p:sp>
      <p:pic>
        <p:nvPicPr>
          <p:cNvPr id="125" name="Google Shape;125;p3"/>
          <p:cNvPicPr preferRelativeResize="0"/>
          <p:nvPr/>
        </p:nvPicPr>
        <p:blipFill rotWithShape="1">
          <a:blip r:embed="rId3">
            <a:alphaModFix/>
          </a:blip>
          <a:srcRect l="15320" t="28789" r="16466" b="54857"/>
          <a:stretch/>
        </p:blipFill>
        <p:spPr>
          <a:xfrm>
            <a:off x="155527" y="217182"/>
            <a:ext cx="4521325" cy="812948"/>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9"/>
        <p:cNvGrpSpPr/>
        <p:nvPr/>
      </p:nvGrpSpPr>
      <p:grpSpPr>
        <a:xfrm>
          <a:off x="0" y="0"/>
          <a:ext cx="0" cy="0"/>
          <a:chOff x="0" y="0"/>
          <a:chExt cx="0" cy="0"/>
        </a:xfrm>
      </p:grpSpPr>
      <p:sp>
        <p:nvSpPr>
          <p:cNvPr id="120" name="Google Shape;120;p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12</a:t>
            </a:fld>
            <a:endParaRPr/>
          </a:p>
        </p:txBody>
      </p:sp>
      <p:pic>
        <p:nvPicPr>
          <p:cNvPr id="121" name="Google Shape;121;p3"/>
          <p:cNvPicPr preferRelativeResize="0"/>
          <p:nvPr/>
        </p:nvPicPr>
        <p:blipFill rotWithShape="1">
          <a:blip r:embed="rId2">
            <a:alphaModFix/>
          </a:blip>
          <a:srcRect/>
          <a:stretch/>
        </p:blipFill>
        <p:spPr>
          <a:xfrm>
            <a:off x="11072819" y="154753"/>
            <a:ext cx="816174" cy="930568"/>
          </a:xfrm>
          <a:prstGeom prst="rect">
            <a:avLst/>
          </a:prstGeom>
          <a:noFill/>
          <a:ln>
            <a:noFill/>
          </a:ln>
        </p:spPr>
      </p:pic>
      <p:sp>
        <p:nvSpPr>
          <p:cNvPr id="122" name="Google Shape;122;p3"/>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
        <p:nvSpPr>
          <p:cNvPr id="123" name="Google Shape;123;p3"/>
          <p:cNvSpPr txBox="1">
            <a:spLocks noGrp="1"/>
          </p:cNvSpPr>
          <p:nvPr>
            <p:ph type="ctrTitle"/>
          </p:nvPr>
        </p:nvSpPr>
        <p:spPr>
          <a:xfrm>
            <a:off x="459967" y="1100168"/>
            <a:ext cx="9625800" cy="761400"/>
          </a:xfrm>
          <a:prstGeom prst="rect">
            <a:avLst/>
          </a:prstGeom>
          <a:noFill/>
          <a:ln>
            <a:noFill/>
          </a:ln>
        </p:spPr>
        <p:txBody>
          <a:bodyPr spcFirstLastPara="1" wrap="square" lIns="91425" tIns="45700" rIns="91425" bIns="45700" anchor="b" anchorCtr="0">
            <a:normAutofit/>
          </a:bodyPr>
          <a:lstStyle/>
          <a:p>
            <a:pPr marL="0" lvl="0" indent="0" algn="l" rtl="0">
              <a:lnSpc>
                <a:spcPct val="90000"/>
              </a:lnSpc>
              <a:spcBef>
                <a:spcPts val="0"/>
              </a:spcBef>
              <a:spcAft>
                <a:spcPts val="0"/>
              </a:spcAft>
              <a:buClr>
                <a:srgbClr val="181C24"/>
              </a:buClr>
              <a:buSzPts val="4000"/>
              <a:buFont typeface="Times New Roman"/>
              <a:buNone/>
            </a:pPr>
            <a:r>
              <a:rPr sz="3400" b="1">
                <a:solidFill>
                  <a:srgbClr val="0F172A"/>
                </a:solidFill>
                <a:latin typeface="Times New Roman"/>
              </a:rPr>
              <a:t>EXPERIMENTAL RESULTS &amp; OUTCOMES</a:t>
            </a:r>
            <a:endParaRPr sz="3600" b="1" dirty="0">
              <a:latin typeface="Times New Roman"/>
              <a:ea typeface="Times New Roman"/>
              <a:cs typeface="Times New Roman"/>
              <a:sym typeface="Times New Roman"/>
            </a:endParaRPr>
          </a:p>
        </p:txBody>
      </p:sp>
      <p:sp>
        <p:nvSpPr>
          <p:cNvPr id="124" name="Google Shape;124;p3"/>
          <p:cNvSpPr txBox="1">
            <a:spLocks noGrp="1"/>
          </p:cNvSpPr>
          <p:nvPr>
            <p:ph type="subTitle" idx="1"/>
          </p:nvPr>
        </p:nvSpPr>
        <p:spPr>
          <a:xfrm>
            <a:off x="731520" y="1828800"/>
            <a:ext cx="6217920" cy="4114800"/>
          </a:xfrm>
          <a:prstGeom prst="rect">
            <a:avLst/>
          </a:prstGeom>
          <a:noFill/>
          <a:ln>
            <a:noFill/>
          </a:ln>
        </p:spPr>
        <p:txBody>
          <a:bodyPr spcFirstLastPara="1" wrap="square" lIns="91425" tIns="45700" rIns="91425" bIns="45700" anchor="t" anchorCtr="0">
            <a:normAutofit/>
          </a:bodyPr>
          <a:lstStyle/>
          <a:p>
            <a:pPr marL="342900" lvl="0" indent="-342900" algn="l">
              <a:lnSpc>
                <a:spcPct val="100000"/>
              </a:lnSpc>
              <a:spcBef>
                <a:spcPts val="600"/>
              </a:spcBef>
              <a:spcAft>
                <a:spcPts val="200"/>
              </a:spcAft>
              <a:buSzPts val="2600"/>
              <a:buFont typeface="Noto Sans Symbols"/>
              <a:buChar char="⮪"/>
            </a:pPr>
            <a:r>
              <a:rPr sz="2000" b="1">
                <a:solidFill>
                  <a:srgbClr val="0284C7"/>
                </a:solidFill>
                <a:latin typeface="Times New Roman"/>
              </a:rPr>
              <a:t>Key Performance Metrics</a:t>
            </a:r>
          </a:p>
          <a:p>
            <a:pPr>
              <a:spcBef>
                <a:spcPts val="200"/>
              </a:spcBef>
              <a:spcAft>
                <a:spcPts val="300"/>
              </a:spcAft>
            </a:pPr>
            <a:r>
              <a:rPr sz="1500" b="0">
                <a:solidFill>
                  <a:srgbClr val="1E293B"/>
                </a:solidFill>
                <a:latin typeface="Times New Roman"/>
              </a:rPr>
              <a:t>•  Overall Test Set Accuracy: 98.02% across 121,719 test wafer samples.</a:t>
            </a:r>
          </a:p>
          <a:p>
            <a:pPr>
              <a:spcBef>
                <a:spcPts val="200"/>
              </a:spcBef>
              <a:spcAft>
                <a:spcPts val="300"/>
              </a:spcAft>
            </a:pPr>
            <a:r>
              <a:rPr sz="1500" b="0">
                <a:solidFill>
                  <a:srgbClr val="1E293B"/>
                </a:solidFill>
                <a:latin typeface="Times New Roman"/>
              </a:rPr>
              <a:t>•  Macro Precision: 0.6897  |  Macro Recall: 0.6177</a:t>
            </a:r>
          </a:p>
          <a:p>
            <a:pPr>
              <a:spcBef>
                <a:spcPts val="200"/>
              </a:spcBef>
              <a:spcAft>
                <a:spcPts val="300"/>
              </a:spcAft>
            </a:pPr>
            <a:r>
              <a:rPr sz="1500" b="0">
                <a:solidFill>
                  <a:srgbClr val="1E293B"/>
                </a:solidFill>
                <a:latin typeface="Times New Roman"/>
              </a:rPr>
              <a:t>•  Inference Latency: 1.53 ms on standard CPU (zero GPU requirement).</a:t>
            </a:r>
          </a:p>
          <a:p>
            <a:pPr>
              <a:spcBef>
                <a:spcPts val="200"/>
              </a:spcBef>
              <a:spcAft>
                <a:spcPts val="300"/>
              </a:spcAft>
            </a:pPr>
            <a:r>
              <a:rPr sz="1500" b="0">
                <a:solidFill>
                  <a:srgbClr val="1E293B"/>
                </a:solidFill>
                <a:latin typeface="Times New Roman"/>
              </a:rPr>
              <a:t>•  Model Binary Footprint: 5.84 MB (ultra-compact ONNX engine).</a:t>
            </a:r>
          </a:p>
          <a:p>
            <a:pPr>
              <a:spcBef>
                <a:spcPts val="600"/>
              </a:spcBef>
              <a:spcAft>
                <a:spcPts val="200"/>
              </a:spcAft>
            </a:pPr>
            <a:r>
              <a:rPr sz="2000" b="1">
                <a:solidFill>
                  <a:srgbClr val="0284C7"/>
                </a:solidFill>
                <a:latin typeface="Times New Roman"/>
              </a:rPr>
              <a:t>Per-Class Defect Verification Highlights</a:t>
            </a:r>
          </a:p>
          <a:p>
            <a:pPr>
              <a:spcBef>
                <a:spcPts val="200"/>
              </a:spcBef>
              <a:spcAft>
                <a:spcPts val="300"/>
              </a:spcAft>
            </a:pPr>
            <a:r>
              <a:rPr sz="1500" b="0">
                <a:solidFill>
                  <a:srgbClr val="1E293B"/>
                </a:solidFill>
                <a:latin typeface="Times New Roman"/>
              </a:rPr>
              <a:t>•  Clean (Nominal): 99.98% Precision, 100% Detection Rate (Near-zero false alarms).</a:t>
            </a:r>
          </a:p>
          <a:p>
            <a:pPr>
              <a:spcBef>
                <a:spcPts val="200"/>
              </a:spcBef>
              <a:spcAft>
                <a:spcPts val="300"/>
              </a:spcAft>
            </a:pPr>
            <a:r>
              <a:rPr sz="1500" b="0">
                <a:solidFill>
                  <a:srgbClr val="1E293B"/>
                </a:solidFill>
                <a:latin typeface="Times New Roman"/>
              </a:rPr>
              <a:t>•  Scratch: 99.92% Confidence with clear linear scratch isolation.</a:t>
            </a:r>
          </a:p>
          <a:p>
            <a:pPr>
              <a:spcBef>
                <a:spcPts val="200"/>
              </a:spcBef>
              <a:spcAft>
                <a:spcPts val="300"/>
              </a:spcAft>
            </a:pPr>
            <a:r>
              <a:rPr sz="1500" b="0">
                <a:solidFill>
                  <a:srgbClr val="1E293B"/>
                </a:solidFill>
                <a:latin typeface="Times New Roman"/>
              </a:rPr>
              <a:t>•  Donut: 99.99% Confidence detecting radial thermal ring defects.</a:t>
            </a:r>
          </a:p>
          <a:p>
            <a:pPr>
              <a:spcBef>
                <a:spcPts val="200"/>
              </a:spcBef>
              <a:spcAft>
                <a:spcPts val="300"/>
              </a:spcAft>
            </a:pPr>
            <a:r>
              <a:rPr sz="1500" b="0">
                <a:solidFill>
                  <a:srgbClr val="1E293B"/>
                </a:solidFill>
                <a:latin typeface="Times New Roman"/>
              </a:rPr>
              <a:t>•  Center Cluster: 98.01% Confidence detecting CMP slurry anomalies.</a:t>
            </a:r>
          </a:p>
          <a:p>
            <a:pPr>
              <a:spcBef>
                <a:spcPts val="200"/>
              </a:spcBef>
              <a:spcAft>
                <a:spcPts val="300"/>
              </a:spcAft>
            </a:pPr>
            <a:r>
              <a:rPr sz="1500" b="0">
                <a:solidFill>
                  <a:srgbClr val="1E293B"/>
                </a:solidFill>
                <a:latin typeface="Times New Roman"/>
              </a:rPr>
              <a:t>•  Edge-Loc &amp; Loc: &gt;99.2% Confidence identifying localized clusters.</a:t>
            </a:r>
          </a:p>
        </p:txBody>
      </p:sp>
      <p:pic>
        <p:nvPicPr>
          <p:cNvPr id="125" name="Google Shape;125;p3"/>
          <p:cNvPicPr preferRelativeResize="0"/>
          <p:nvPr/>
        </p:nvPicPr>
        <p:blipFill rotWithShape="1">
          <a:blip r:embed="rId3">
            <a:alphaModFix/>
          </a:blip>
          <a:srcRect l="15320" t="28789" r="16466" b="54857"/>
          <a:stretch/>
        </p:blipFill>
        <p:spPr>
          <a:xfrm>
            <a:off x="155527" y="217182"/>
            <a:ext cx="4521325" cy="812948"/>
          </a:xfrm>
          <a:prstGeom prst="rect">
            <a:avLst/>
          </a:prstGeom>
          <a:noFill/>
          <a:ln>
            <a:noFill/>
          </a:ln>
        </p:spPr>
      </p:pic>
      <p:pic>
        <p:nvPicPr>
          <p:cNvPr id="126" name="Picture 125" descr="confusion_matrix.png"/>
          <p:cNvPicPr>
            <a:picLocks noChangeAspect="1"/>
          </p:cNvPicPr>
          <p:nvPr/>
        </p:nvPicPr>
        <p:blipFill>
          <a:blip r:embed="rId4"/>
          <a:stretch>
            <a:fillRect/>
          </a:stretch>
        </p:blipFill>
        <p:spPr>
          <a:xfrm>
            <a:off x="7132320" y="1920240"/>
            <a:ext cx="4206240" cy="38404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6" name="Google Shape;166;p7"/>
          <p:cNvSpPr txBox="1">
            <a:spLocks noGrp="1"/>
          </p:cNvSpPr>
          <p:nvPr>
            <p:ph type="sldNum" idx="12"/>
          </p:nvPr>
        </p:nvSpPr>
        <p:spPr>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13</a:t>
            </a:fld>
            <a:endParaRPr/>
          </a:p>
        </p:txBody>
      </p:sp>
      <p:sp>
        <p:nvSpPr>
          <p:cNvPr id="164" name="Google Shape;164;p7"/>
          <p:cNvSpPr txBox="1">
            <a:spLocks noGrp="1"/>
          </p:cNvSpPr>
          <p:nvPr>
            <p:ph type="title" idx="4294967295"/>
          </p:nvPr>
        </p:nvSpPr>
        <p:spPr>
          <a:xfrm>
            <a:off x="0" y="7080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rgbClr val="181C24"/>
              </a:buClr>
              <a:buSzPts val="3600"/>
              <a:buFont typeface="Times New Roman"/>
              <a:buNone/>
            </a:pPr>
            <a:r>
              <a:rPr sz="3400" b="1">
                <a:solidFill>
                  <a:srgbClr val="0F172A"/>
                </a:solidFill>
                <a:latin typeface="Times New Roman"/>
              </a:rPr>
              <a:t>PROJECT TIMELINE &amp; TEAM CONTRIBUTIONS</a:t>
            </a:r>
            <a:endParaRPr sz="3600" b="1" dirty="0">
              <a:latin typeface="Times New Roman"/>
              <a:ea typeface="Times New Roman"/>
              <a:cs typeface="Times New Roman"/>
              <a:sym typeface="Times New Roman"/>
            </a:endParaRPr>
          </a:p>
        </p:txBody>
      </p:sp>
      <p:pic>
        <p:nvPicPr>
          <p:cNvPr id="167" name="Google Shape;167;p7"/>
          <p:cNvPicPr preferRelativeResize="0"/>
          <p:nvPr/>
        </p:nvPicPr>
        <p:blipFill rotWithShape="1">
          <a:blip r:embed="rId2">
            <a:alphaModFix/>
          </a:blip>
          <a:srcRect/>
          <a:stretch/>
        </p:blipFill>
        <p:spPr>
          <a:xfrm>
            <a:off x="159971" y="211556"/>
            <a:ext cx="4290731" cy="770131"/>
          </a:xfrm>
          <a:prstGeom prst="rect">
            <a:avLst/>
          </a:prstGeom>
          <a:noFill/>
          <a:ln>
            <a:noFill/>
          </a:ln>
        </p:spPr>
      </p:pic>
      <p:pic>
        <p:nvPicPr>
          <p:cNvPr id="168" name="Google Shape;168;p7"/>
          <p:cNvPicPr preferRelativeResize="0"/>
          <p:nvPr/>
        </p:nvPicPr>
        <p:blipFill rotWithShape="1">
          <a:blip r:embed="rId3">
            <a:alphaModFix/>
          </a:blip>
          <a:srcRect/>
          <a:stretch/>
        </p:blipFill>
        <p:spPr>
          <a:xfrm>
            <a:off x="11072819" y="154753"/>
            <a:ext cx="816174" cy="930568"/>
          </a:xfrm>
          <a:prstGeom prst="rect">
            <a:avLst/>
          </a:prstGeom>
          <a:noFill/>
          <a:ln>
            <a:noFill/>
          </a:ln>
        </p:spPr>
      </p:pic>
      <p:sp>
        <p:nvSpPr>
          <p:cNvPr id="169" name="Google Shape;169;p7"/>
          <p:cNvSpPr/>
          <p:nvPr/>
        </p:nvSpPr>
        <p:spPr>
          <a:xfrm>
            <a:off x="21336" y="6356350"/>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
        <p:nvSpPr>
          <p:cNvPr id="170" name="TextBox 169"/>
          <p:cNvSpPr txBox="1"/>
          <p:nvPr/>
        </p:nvSpPr>
        <p:spPr>
          <a:xfrm>
            <a:off x="731520" y="1920240"/>
            <a:ext cx="10698480" cy="4114800"/>
          </a:xfrm>
          <a:prstGeom prst="rect">
            <a:avLst/>
          </a:prstGeom>
          <a:noFill/>
        </p:spPr>
        <p:txBody>
          <a:bodyPr wrap="square">
            <a:spAutoFit/>
          </a:bodyPr>
          <a:lstStyle/>
          <a:p>
            <a:pPr>
              <a:spcBef>
                <a:spcPts val="800"/>
              </a:spcBef>
              <a:spcAft>
                <a:spcPts val="200"/>
              </a:spcAft>
            </a:pPr>
            <a:r>
              <a:rPr sz="2200" b="1">
                <a:solidFill>
                  <a:srgbClr val="0284C7"/>
                </a:solidFill>
                <a:latin typeface="Times New Roman"/>
              </a:rPr>
              <a:t>Project Milestone Timeline</a:t>
            </a:r>
          </a:p>
          <a:p>
            <a:pPr>
              <a:spcBef>
                <a:spcPts val="200"/>
              </a:spcBef>
              <a:spcAft>
                <a:spcPts val="400"/>
              </a:spcAft>
            </a:pPr>
            <a:r>
              <a:rPr sz="1800" b="0">
                <a:solidFill>
                  <a:srgbClr val="1E293B"/>
                </a:solidFill>
                <a:latin typeface="Times New Roman"/>
              </a:rPr>
              <a:t>•  Weeks 1–3: Literature survey, problem formulation, and WM-811K benchmark acquisition.</a:t>
            </a:r>
          </a:p>
          <a:p>
            <a:pPr>
              <a:spcBef>
                <a:spcPts val="200"/>
              </a:spcBef>
              <a:spcAft>
                <a:spcPts val="400"/>
              </a:spcAft>
            </a:pPr>
            <a:r>
              <a:rPr sz="1800" b="0">
                <a:solidFill>
                  <a:srgbClr val="1E293B"/>
                </a:solidFill>
                <a:latin typeface="Times New Roman"/>
              </a:rPr>
              <a:t>•  Weeks 4–6: Dataset preprocessing, spatial normalization (224x224), and augmentation pipeline.</a:t>
            </a:r>
          </a:p>
          <a:p>
            <a:pPr>
              <a:spcBef>
                <a:spcPts val="200"/>
              </a:spcBef>
              <a:spcAft>
                <a:spcPts val="400"/>
              </a:spcAft>
            </a:pPr>
            <a:r>
              <a:rPr sz="1800" b="0">
                <a:solidFill>
                  <a:srgbClr val="1E293B"/>
                </a:solidFill>
                <a:latin typeface="Times New Roman"/>
              </a:rPr>
              <a:t>•  Weeks 7–9: MobileNetV3-Small model implementation, transfer learning, and hyperparameter tuning.</a:t>
            </a:r>
          </a:p>
          <a:p>
            <a:pPr>
              <a:spcBef>
                <a:spcPts val="200"/>
              </a:spcBef>
              <a:spcAft>
                <a:spcPts val="400"/>
              </a:spcAft>
            </a:pPr>
            <a:r>
              <a:rPr sz="1800" b="0">
                <a:solidFill>
                  <a:srgbClr val="1E293B"/>
                </a:solidFill>
                <a:latin typeface="Times New Roman"/>
              </a:rPr>
              <a:t>•  Weeks 10–12: ONNX edge runtime conversion, latency benchmarking, and confusion matrix evaluation.</a:t>
            </a:r>
          </a:p>
          <a:p>
            <a:pPr>
              <a:spcBef>
                <a:spcPts val="200"/>
              </a:spcBef>
              <a:spcAft>
                <a:spcPts val="400"/>
              </a:spcAft>
            </a:pPr>
            <a:r>
              <a:rPr sz="1800" b="0">
                <a:solidFill>
                  <a:srgbClr val="1E293B"/>
                </a:solidFill>
                <a:latin typeface="Times New Roman"/>
              </a:rPr>
              <a:t>•  Weeks 13–14: Full-stack web AOI demo development, die pass/fail matrix, and defense documentation.</a:t>
            </a:r>
          </a:p>
          <a:p>
            <a:pPr>
              <a:spcBef>
                <a:spcPts val="800"/>
              </a:spcBef>
              <a:spcAft>
                <a:spcPts val="200"/>
              </a:spcAft>
            </a:pPr>
            <a:r>
              <a:rPr sz="2200" b="1">
                <a:solidFill>
                  <a:srgbClr val="0284C7"/>
                </a:solidFill>
                <a:latin typeface="Times New Roman"/>
              </a:rPr>
              <a:t>Individual Team Member Responsibilities</a:t>
            </a:r>
          </a:p>
          <a:p>
            <a:pPr>
              <a:spcBef>
                <a:spcPts val="200"/>
              </a:spcBef>
              <a:spcAft>
                <a:spcPts val="400"/>
              </a:spcAft>
            </a:pPr>
            <a:r>
              <a:rPr sz="1800" b="0">
                <a:solidFill>
                  <a:srgbClr val="1E293B"/>
                </a:solidFill>
                <a:latin typeface="Times New Roman"/>
              </a:rPr>
              <a:t>•  ADITHYAN B (MGP23EVLSI001): Model architecture engineering, MobileNetV3-Small training, PyTorch-to-ONNX model optimization, and latency profiling.</a:t>
            </a:r>
          </a:p>
          <a:p>
            <a:pPr>
              <a:spcBef>
                <a:spcPts val="200"/>
              </a:spcBef>
              <a:spcAft>
                <a:spcPts val="400"/>
              </a:spcAft>
            </a:pPr>
            <a:r>
              <a:rPr sz="1800" b="0">
                <a:solidFill>
                  <a:srgbClr val="1E293B"/>
                </a:solidFill>
                <a:latin typeface="Times New Roman"/>
              </a:rPr>
              <a:t>•  ANNA BOBAN (MGP23EVLSI002): Dataset curation, spatial normalization, data augmentation, evaluation metrics calculation, and confusion matrix validation.</a:t>
            </a:r>
          </a:p>
          <a:p>
            <a:pPr>
              <a:spcBef>
                <a:spcPts val="200"/>
              </a:spcBef>
              <a:spcAft>
                <a:spcPts val="400"/>
              </a:spcAft>
            </a:pPr>
            <a:r>
              <a:rPr sz="1800" b="0">
                <a:solidFill>
                  <a:srgbClr val="1E293B"/>
                </a:solidFill>
                <a:latin typeface="Times New Roman"/>
              </a:rPr>
              <a:t>•  NOOPA MARIA ROJAN (MGP23EVLSI009): Real-time web deployment, interactive HTML5 wafer canvas, die pass/fail color logic, fab lot simulator, and REST API integration.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p26"/>
          <p:cNvSpPr txBox="1">
            <a:spLocks noGrp="1"/>
          </p:cNvSpPr>
          <p:nvPr>
            <p:ph type="title"/>
          </p:nvPr>
        </p:nvSpPr>
        <p:spPr>
          <a:xfrm>
            <a:off x="680884" y="743804"/>
            <a:ext cx="105156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3600"/>
              <a:buFont typeface="Times New Roman"/>
              <a:buNone/>
            </a:pPr>
            <a:r>
              <a:rPr sz="3400" b="1">
                <a:solidFill>
                  <a:srgbClr val="0F172A"/>
                </a:solidFill>
                <a:latin typeface="Times New Roman"/>
              </a:rPr>
              <a:t>REFERENCES</a:t>
            </a:r>
            <a:endParaRPr b="1" dirty="0"/>
          </a:p>
        </p:txBody>
      </p:sp>
      <p:sp>
        <p:nvSpPr>
          <p:cNvPr id="384" name="Google Shape;384;p26"/>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14</a:t>
            </a:fld>
            <a:endParaRPr/>
          </a:p>
        </p:txBody>
      </p:sp>
      <p:pic>
        <p:nvPicPr>
          <p:cNvPr id="385" name="Google Shape;385;p26"/>
          <p:cNvPicPr preferRelativeResize="0"/>
          <p:nvPr/>
        </p:nvPicPr>
        <p:blipFill rotWithShape="1">
          <a:blip r:embed="rId2">
            <a:alphaModFix/>
          </a:blip>
          <a:srcRect/>
          <a:stretch/>
        </p:blipFill>
        <p:spPr>
          <a:xfrm>
            <a:off x="159971" y="211556"/>
            <a:ext cx="4517529" cy="810838"/>
          </a:xfrm>
          <a:prstGeom prst="rect">
            <a:avLst/>
          </a:prstGeom>
          <a:noFill/>
          <a:ln>
            <a:noFill/>
          </a:ln>
        </p:spPr>
      </p:pic>
      <p:pic>
        <p:nvPicPr>
          <p:cNvPr id="386" name="Google Shape;386;p26"/>
          <p:cNvPicPr preferRelativeResize="0"/>
          <p:nvPr/>
        </p:nvPicPr>
        <p:blipFill rotWithShape="1">
          <a:blip r:embed="rId3">
            <a:alphaModFix/>
          </a:blip>
          <a:srcRect/>
          <a:stretch/>
        </p:blipFill>
        <p:spPr>
          <a:xfrm>
            <a:off x="11072819" y="154753"/>
            <a:ext cx="816174" cy="930568"/>
          </a:xfrm>
          <a:prstGeom prst="rect">
            <a:avLst/>
          </a:prstGeom>
          <a:noFill/>
          <a:ln>
            <a:noFill/>
          </a:ln>
        </p:spPr>
      </p:pic>
      <p:sp>
        <p:nvSpPr>
          <p:cNvPr id="387" name="Google Shape;387;p26"/>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
        <p:nvSpPr>
          <p:cNvPr id="388" name="TextBox 387"/>
          <p:cNvSpPr txBox="1"/>
          <p:nvPr/>
        </p:nvSpPr>
        <p:spPr>
          <a:xfrm>
            <a:off x="731520" y="1920240"/>
            <a:ext cx="10698480" cy="4114800"/>
          </a:xfrm>
          <a:prstGeom prst="rect">
            <a:avLst/>
          </a:prstGeom>
          <a:noFill/>
        </p:spPr>
        <p:txBody>
          <a:bodyPr wrap="square">
            <a:spAutoFit/>
          </a:bodyPr>
          <a:lstStyle/>
          <a:p>
            <a:pPr>
              <a:spcBef>
                <a:spcPts val="200"/>
              </a:spcBef>
              <a:spcAft>
                <a:spcPts val="400"/>
              </a:spcAft>
            </a:pPr>
            <a:r>
              <a:rPr sz="1800" b="0">
                <a:solidFill>
                  <a:srgbClr val="1E293B"/>
                </a:solidFill>
                <a:latin typeface="Times New Roman"/>
              </a:rPr>
              <a:t>•  1. M.-J. Wu, J.-S. R. Jang, and J.-L. Chen, 'Wafer map failure pattern recognition and similarity ranking for large-scale semiconductor manufacturing,' IEEE Transactions on Semiconductor Manufacturing, vol. 28, no. 1, pp. 1–12, 2015.</a:t>
            </a:r>
          </a:p>
          <a:p>
            <a:pPr>
              <a:spcBef>
                <a:spcPts val="200"/>
              </a:spcBef>
              <a:spcAft>
                <a:spcPts val="400"/>
              </a:spcAft>
            </a:pPr>
            <a:r>
              <a:rPr sz="1800" b="0">
                <a:solidFill>
                  <a:srgbClr val="1E293B"/>
                </a:solidFill>
                <a:latin typeface="Times New Roman"/>
              </a:rPr>
              <a:t>•  2. A. Howard, M. Sandler, G. Chu, L.-C. Chen, B. Chen, M. Tan, W. Wang, Y. Zhu, R. Pang, V. Vasudevan et al., 'Searching for MobileNetV3,' in Proceedings of the IEEE/CVF International Conference on Computer Vision (ICCV), 2019, pp. 1314–1324.</a:t>
            </a:r>
          </a:p>
          <a:p>
            <a:pPr>
              <a:spcBef>
                <a:spcPts val="200"/>
              </a:spcBef>
              <a:spcAft>
                <a:spcPts val="400"/>
              </a:spcAft>
            </a:pPr>
            <a:r>
              <a:rPr sz="1800" b="0">
                <a:solidFill>
                  <a:srgbClr val="1E293B"/>
                </a:solidFill>
                <a:latin typeface="Times New Roman"/>
              </a:rPr>
              <a:t>•  3. T. Nakazawa and D. V. Kulkarni, 'Wafer map defect pattern classification and retrieval using convolutional neural networks,' IEEE Transactions on Semiconductor Manufacturing, vol. 31, no. 2, pp. 309–314, 2018.</a:t>
            </a:r>
          </a:p>
          <a:p>
            <a:pPr>
              <a:spcBef>
                <a:spcPts val="200"/>
              </a:spcBef>
              <a:spcAft>
                <a:spcPts val="400"/>
              </a:spcAft>
            </a:pPr>
            <a:r>
              <a:rPr sz="1800" b="0">
                <a:solidFill>
                  <a:srgbClr val="1E293B"/>
                </a:solidFill>
                <a:latin typeface="Times New Roman"/>
              </a:rPr>
              <a:t>•  4. S. Cheon, H. Lee, C. O. Kim, and S. H. Lee, 'Convolutional neural network for wafer surface defect classification and the detection of unknown defect classes,' IEEE Transactions on Semiconductor Manufacturing, vol. 32, no. 2, pp. 163–170, 2019.</a:t>
            </a:r>
          </a:p>
          <a:p>
            <a:pPr>
              <a:spcBef>
                <a:spcPts val="200"/>
              </a:spcBef>
              <a:spcAft>
                <a:spcPts val="400"/>
              </a:spcAft>
            </a:pPr>
            <a:r>
              <a:rPr sz="1800" b="0">
                <a:solidFill>
                  <a:srgbClr val="1E293B"/>
                </a:solidFill>
                <a:latin typeface="Times New Roman"/>
              </a:rPr>
              <a:t>•  5. ONNX Runtime Developers, 'ONNX Runtime: Cross-platform, high performance ML inferencing and training accelerator,' Linux Foundation / Microsoft, 2024. [Online]. Available: https://onnxruntime.ai</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91"/>
        <p:cNvGrpSpPr/>
        <p:nvPr/>
      </p:nvGrpSpPr>
      <p:grpSpPr>
        <a:xfrm>
          <a:off x="0" y="0"/>
          <a:ext cx="0" cy="0"/>
          <a:chOff x="0" y="0"/>
          <a:chExt cx="0" cy="0"/>
        </a:xfrm>
      </p:grpSpPr>
      <p:sp>
        <p:nvSpPr>
          <p:cNvPr id="392" name="Google Shape;392;p27"/>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p>
            <a:pPr marL="0" lvl="0" indent="0" algn="r" rtl="0">
              <a:spcBef>
                <a:spcPts val="0"/>
              </a:spcBef>
              <a:spcAft>
                <a:spcPts val="0"/>
              </a:spcAft>
              <a:buNone/>
            </a:pPr>
            <a:fld id="{00000000-1234-1234-1234-123412341234}" type="slidenum">
              <a:rPr lang="en-US"/>
              <a:t>15</a:t>
            </a:fld>
            <a:endParaRPr/>
          </a:p>
        </p:txBody>
      </p:sp>
      <p:pic>
        <p:nvPicPr>
          <p:cNvPr id="393" name="Google Shape;393;p27"/>
          <p:cNvPicPr preferRelativeResize="0"/>
          <p:nvPr/>
        </p:nvPicPr>
        <p:blipFill rotWithShape="1">
          <a:blip r:embed="rId2">
            <a:alphaModFix/>
          </a:blip>
          <a:srcRect/>
          <a:stretch/>
        </p:blipFill>
        <p:spPr>
          <a:xfrm>
            <a:off x="159971" y="211556"/>
            <a:ext cx="4517529" cy="810838"/>
          </a:xfrm>
          <a:prstGeom prst="rect">
            <a:avLst/>
          </a:prstGeom>
          <a:noFill/>
          <a:ln>
            <a:noFill/>
          </a:ln>
        </p:spPr>
      </p:pic>
      <p:pic>
        <p:nvPicPr>
          <p:cNvPr id="394" name="Google Shape;394;p27"/>
          <p:cNvPicPr preferRelativeResize="0"/>
          <p:nvPr/>
        </p:nvPicPr>
        <p:blipFill rotWithShape="1">
          <a:blip r:embed="rId3">
            <a:alphaModFix/>
          </a:blip>
          <a:srcRect/>
          <a:stretch/>
        </p:blipFill>
        <p:spPr>
          <a:xfrm>
            <a:off x="11072819" y="154753"/>
            <a:ext cx="816174" cy="930568"/>
          </a:xfrm>
          <a:prstGeom prst="rect">
            <a:avLst/>
          </a:prstGeom>
          <a:noFill/>
          <a:ln>
            <a:noFill/>
          </a:ln>
        </p:spPr>
      </p:pic>
      <p:sp>
        <p:nvSpPr>
          <p:cNvPr id="395" name="Google Shape;395;p27"/>
          <p:cNvSpPr/>
          <p:nvPr/>
        </p:nvSpPr>
        <p:spPr>
          <a:xfrm>
            <a:off x="0" y="6407689"/>
            <a:ext cx="7684389" cy="461665"/>
          </a:xfrm>
          <a:custGeom>
            <a:avLst/>
            <a:gdLst/>
            <a:ahLst/>
            <a:cxnLst/>
            <a:rect l="l" t="t" r="r" b="b"/>
            <a:pathLst>
              <a:path w="6172200" h="369332" extrusionOk="0">
                <a:moveTo>
                  <a:pt x="0" y="0"/>
                </a:moveTo>
                <a:lnTo>
                  <a:pt x="5791200" y="0"/>
                </a:lnTo>
                <a:lnTo>
                  <a:pt x="6172200" y="369332"/>
                </a:lnTo>
                <a:lnTo>
                  <a:pt x="0" y="369332"/>
                </a:lnTo>
                <a:lnTo>
                  <a:pt x="0" y="0"/>
                </a:lnTo>
                <a:close/>
              </a:path>
            </a:pathLst>
          </a:custGeom>
          <a:solidFill>
            <a:schemeClr val="accent1"/>
          </a:solidFill>
          <a:ln>
            <a:noFill/>
          </a:ln>
        </p:spPr>
        <p:txBody>
          <a:bodyPr spcFirstLastPara="1" wrap="square" lIns="91425" tIns="45700" rIns="91425" bIns="45700" anchor="t" anchorCtr="0">
            <a:spAutoFit/>
          </a:bodyPr>
          <a:lstStyle/>
          <a:p>
            <a:pPr marL="0" marR="0" lvl="0" indent="0" algn="ctr" rtl="0">
              <a:spcBef>
                <a:spcPts val="0"/>
              </a:spcBef>
              <a:spcAft>
                <a:spcPts val="0"/>
              </a:spcAft>
              <a:buClr>
                <a:schemeClr val="lt1"/>
              </a:buClr>
              <a:buSzPts val="2400"/>
              <a:buFont typeface="Gill Sans"/>
              <a:buNone/>
            </a:pPr>
            <a:r>
              <a:rPr lang="en-US" sz="2400">
                <a:solidFill>
                  <a:schemeClr val="lt1"/>
                </a:solidFill>
                <a:latin typeface="Gill Sans"/>
                <a:ea typeface="Gill Sans"/>
                <a:cs typeface="Gill Sans"/>
                <a:sym typeface="Gill Sans"/>
              </a:rPr>
              <a:t>LEARN . GROW . EXCEL</a:t>
            </a:r>
            <a:endParaRPr sz="1800">
              <a:solidFill>
                <a:schemeClr val="dk1"/>
              </a:solidFill>
              <a:latin typeface="Calibri"/>
              <a:ea typeface="Calibri"/>
              <a:cs typeface="Calibri"/>
              <a:sym typeface="Calibri"/>
            </a:endParaRPr>
          </a:p>
        </p:txBody>
      </p:sp>
      <p:sp>
        <p:nvSpPr>
          <p:cNvPr id="396" name="Google Shape;396;p27"/>
          <p:cNvSpPr txBox="1">
            <a:spLocks noGrp="1"/>
          </p:cNvSpPr>
          <p:nvPr>
            <p:ph type="title"/>
          </p:nvPr>
        </p:nvSpPr>
        <p:spPr>
          <a:xfrm>
            <a:off x="754224" y="2665957"/>
            <a:ext cx="10515600" cy="1325700"/>
          </a:xfrm>
          <a:prstGeom prst="rect">
            <a:avLst/>
          </a:prstGeom>
          <a:noFill/>
          <a:ln>
            <a:noFill/>
          </a:ln>
        </p:spPr>
        <p:txBody>
          <a:bodyPr spcFirstLastPara="1" wrap="square" lIns="91425" tIns="45700" rIns="91425" bIns="45700" anchor="ctr" anchorCtr="0">
            <a:normAutofit/>
          </a:bodyPr>
          <a:lstStyle/>
          <a:p>
            <a:pPr marL="0" lvl="0" indent="0" algn="ctr" rtl="0">
              <a:lnSpc>
                <a:spcPct val="90000"/>
              </a:lnSpc>
              <a:spcBef>
                <a:spcPts val="0"/>
              </a:spcBef>
              <a:spcAft>
                <a:spcPts val="0"/>
              </a:spcAft>
              <a:buClr>
                <a:schemeClr val="dk1"/>
              </a:buClr>
              <a:buSzPts val="4400"/>
              <a:buFont typeface="Times New Roman"/>
              <a:buNone/>
            </a:pPr>
            <a:r>
              <a:rPr sz="5400" b="1">
                <a:solidFill>
                  <a:srgbClr val="0F172A"/>
                </a:solidFill>
                <a:latin typeface="Times New Roman"/>
              </a:rPr>
              <a:t>THANK YOU</a:t>
            </a:r>
            <a:endParaRPr i="1">
              <a:latin typeface="Times New Roman"/>
              <a:ea typeface="Times New Roman"/>
              <a:cs typeface="Times New Roman"/>
              <a:sym typeface="Times New Roman"/>
            </a:endParaRPr>
          </a:p>
        </p:txBody>
      </p:sp>
      <p:sp>
        <p:nvSpPr>
          <p:cNvPr id="397" name="Questions Subtitle"/>
          <p:cNvSpPr txBox="1"/>
          <p:nvPr/>
        </p:nvSpPr>
        <p:spPr>
          <a:xfrm>
            <a:off x="754224" y="4000000"/>
            <a:ext cx="10515600" cy="700000"/>
          </a:xfrm>
          <a:prstGeom prst="rect">
            <a:avLst/>
          </a:prstGeom>
          <a:noFill/>
          <a:ln>
            <a:noFill/>
          </a:ln>
        </p:spPr>
        <p:txBody>
          <a:bodyPr spcFirstLastPara="1" wrap="square" lIns="91425" tIns="45700" rIns="91425" bIns="45700" anchor="t" anchorCtr="0">
            <a:normAutofit/>
          </a:bodyPr>
          <a:lstStyle/>
          <a:p>
            <a:pPr marL="0" lvl="0" indent="0" algn="ctr" rtl="0">
              <a:spcBef>
                <a:spcPts val="0"/>
              </a:spcBef>
              <a:buNone/>
            </a:pPr>
            <a:r>
              <a:rPr sz="2600" b="1">
                <a:solidFill>
                  <a:srgbClr val="0284C7"/>
                </a:solidFill>
                <a:latin typeface="Times New Roman"/>
              </a:rPr>
              <a:t>Questions &amp; Discussion</a:t>
            </a:r>
            <a:endParaRPr sz="2800" dirty="0">
              <a:latin typeface="Times New Roman"/>
              <a:ea typeface="Times New Roman"/>
              <a:cs typeface="Times New Roman"/>
              <a:sym typeface="Times New Roman"/>
            </a:endParaRPr>
          </a:p>
          <a:p>
            <a:pPr algn="ctr"/>
          </a:p>
          <a:p>
            <a:pPr algn="ctr"/>
            <a:r>
              <a:rPr sz="2000" b="1">
                <a:solidFill>
                  <a:srgbClr val="0F172A"/>
                </a:solidFill>
                <a:latin typeface="Times New Roman"/>
              </a:rPr>
              <a:t>Automated Semiconductor Wafer Defect Inspection System</a:t>
            </a:r>
          </a:p>
          <a:p>
            <a:pPr algn="ctr"/>
            <a:r>
              <a:rPr sz="1600" b="0">
                <a:solidFill>
                  <a:srgbClr val="1E293B"/>
                </a:solidFill>
                <a:latin typeface="Times New Roman"/>
              </a:rPr>
              <a:t>B.Tech Mini Project Final Review • Saintgits College of Engineering (Autonomous)</a:t>
            </a:r>
          </a:p>
          <a:p>
            <a:pPr algn="ctr"/>
            <a:r>
              <a:rPr sz="1600" b="0">
                <a:solidFill>
                  <a:srgbClr val="1E293B"/>
                </a:solidFill>
                <a:latin typeface="Times New Roman"/>
              </a:rPr>
              <a:t>Team: Adithyan B • Anna Boban • Noopa Maria Rojan</a:t>
            </a:r>
          </a:p>
          <a:p>
            <a:pPr algn="ctr"/>
            <a:r>
              <a:rPr sz="1600" b="0">
                <a:solidFill>
                  <a:srgbClr val="1E293B"/>
                </a:solidFill>
                <a:latin typeface="Times New Roman"/>
              </a:rPr>
              <a:t>Supervisor: Er. Justin Mathew, Assistant Professor, Dept. of ECE</a:t>
            </a:r>
          </a:p>
        </p:txBody>
      </p:sp>
    </p:spTree>
  </p:cSld>
  <p:clrMapOvr>
    <a:masterClrMapping/>
  </p:clrMapOvr>
</p:sld>
</file>

<file path=ppt/theme/theme1.xml><?xml version="1.0" encoding="utf-8"?>
<a:theme xmlns:a="http://schemas.openxmlformats.org/drawingml/2006/main" name="Office 2013 - 2022 Theme">
  <a:themeElements>
    <a:clrScheme name="Office 2013 - 2022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26</TotalTime>
  <Words>400</Words>
  <Application>Microsoft Office PowerPoint</Application>
  <PresentationFormat>Widescreen</PresentationFormat>
  <Paragraphs>84</Paragraphs>
  <Slides>15</Slides>
  <Notes>0</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15</vt:i4>
      </vt:variant>
    </vt:vector>
  </HeadingPairs>
  <TitlesOfParts>
    <vt:vector size="22" baseType="lpstr">
      <vt:lpstr>Times New Roman</vt:lpstr>
      <vt:lpstr>Gill Sans</vt:lpstr>
      <vt:lpstr>Calibri</vt:lpstr>
      <vt:lpstr>Arial</vt:lpstr>
      <vt:lpstr>Noto Sans Symbols</vt:lpstr>
      <vt:lpstr>Office 2013 - 2022 Theme</vt:lpstr>
      <vt:lpstr>Office Theme</vt:lpstr>
      <vt:lpstr>PROJECT TITLE</vt:lpstr>
      <vt:lpstr> INTRODUCTION</vt:lpstr>
      <vt:lpstr> PROBLEM STATEMENT</vt:lpstr>
      <vt:lpstr> NEED FOR THE PROJECT</vt:lpstr>
      <vt:lpstr> OBJECTIVES</vt:lpstr>
      <vt:lpstr>EXISTING SYSTEM</vt:lpstr>
      <vt:lpstr>PROPOSED SYSTEM</vt:lpstr>
      <vt:lpstr> NOVELTY OF THE PROJECT</vt:lpstr>
      <vt:lpstr> SCOPE</vt:lpstr>
      <vt:lpstr> SOFTWARE REQUIREMENTS</vt:lpstr>
      <vt:lpstr> HARDWARE REQUIREMENTS</vt:lpstr>
      <vt:lpstr> EXPECTED OUTCOME</vt:lpstr>
      <vt:lpstr>    PROJECT TIMELINE</vt:lpstr>
      <vt:lpstr>REFERENCES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QB844</dc:creator>
  <cp:lastModifiedBy>HARI</cp:lastModifiedBy>
  <cp:revision>6</cp:revision>
  <dcterms:created xsi:type="dcterms:W3CDTF">2024-08-12T15:06:11Z</dcterms:created>
  <dcterms:modified xsi:type="dcterms:W3CDTF">2026-07-28T10:53:53Z</dcterms:modified>
</cp:coreProperties>
</file>