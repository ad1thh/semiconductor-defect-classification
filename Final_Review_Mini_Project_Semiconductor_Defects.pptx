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4"/>
  </p:notesMasterIdLst>
  <p:sldIdLst>
    <p:sldId id="304" r:id="rId3"/>
    <p:sldId id="305" r:id="rId4"/>
    <p:sldId id="306" r:id="rId5"/>
    <p:sldId id="307" r:id="rId6"/>
    <p:sldId id="308" r:id="rId7"/>
    <p:sldId id="324" r:id="rId8"/>
    <p:sldId id="325" r:id="rId9"/>
    <p:sldId id="316" r:id="rId10"/>
    <p:sldId id="318" r:id="rId11"/>
    <p:sldId id="322" r:id="rId12"/>
    <p:sldId id="323" r:id="rId13"/>
  </p:sldIdLst>
  <p:sldSz cx="12192000" cy="6858000"/>
  <p:notesSz cx="6858000" cy="9144000"/>
  <p:embeddedFontLst>
    <p:embeddedFont>
      <p:font typeface="Gill Sans"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Bb728hTyzQUlTTKdw7QOtHtbL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9" Type="http://schemas.openxmlformats.org/officeDocument/2006/relationships/presProps" Target="presProps.xml"/><Relationship Id="rId3" Type="http://schemas.openxmlformats.org/officeDocument/2006/relationships/slide" Target="slides/slide1.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38"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font" Target="fonts/font2.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1.fntdata"/><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3" name="Google Shape;93;p3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94" name="Google Shape;94;p3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95" name="Google Shape;95;p3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3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6" name="Google Shape;86;p3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3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3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3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1349100" y="2194559"/>
            <a:ext cx="9238500" cy="974915"/>
          </a:xfrm>
          <a:prstGeom prst="rect">
            <a:avLst/>
          </a:prstGeom>
          <a:noFill/>
          <a:ln>
            <a:noFill/>
          </a:ln>
        </p:spPr>
        <p:txBody>
          <a:bodyPr spcFirstLastPara="1" wrap="square" lIns="91425" tIns="45700" rIns="91425" bIns="45700" anchor="b" anchorCtr="0">
            <a:noAutofit/>
          </a:bodyPr>
          <a:lstStyle/>
          <a:p>
            <a:pPr marL="0" lvl="0" indent="0" rtl="0">
              <a:lnSpc>
                <a:spcPct val="90000"/>
              </a:lnSpc>
              <a:spcBef>
                <a:spcPts val="0"/>
              </a:spcBef>
              <a:spcAft>
                <a:spcPts val="0"/>
              </a:spcAft>
              <a:buClr>
                <a:schemeClr val="dk1"/>
              </a:buClr>
              <a:buSzPts val="4400"/>
              <a:buFont typeface="Times New Roman"/>
              <a:buNone/>
            </a:pPr>
            <a:r>
              <a:rPr lang="en-US" sz="2400" b="1">
                <a:solidFill>
                  <a:srgbClr val="181C24"/>
                </a:solidFill>
                <a:latin typeface="Times New Roman" panose="02020603050405020304" pitchFamily="18" charset="0"/>
                <a:ea typeface="Times New Roman"/>
                <a:cs typeface="Times New Roman"/>
                <a:sym typeface="Times New Roman"/>
              </a:rPr>
              <a:t>AUTOMATED SEMICONDUCTOR WAFER DEFECT CLASSIFICATION USING DEEP LEARNING FOR REAL-TIME AOI SYSTEMS</a:t>
            </a:r>
            <a:endParaRPr sz="2400" b="1" dirty="0">
              <a:solidFill>
                <a:srgbClr val="181C24"/>
              </a:solidFill>
              <a:latin typeface="Times New Roman" panose="02020603050405020304" pitchFamily="18" charset="0"/>
              <a:ea typeface="Times New Roman"/>
              <a:cs typeface="Times New Roman"/>
              <a:sym typeface="Times New Roman"/>
            </a:endParaRPr>
          </a:p>
        </p:txBody>
      </p:sp>
      <p:sp>
        <p:nvSpPr>
          <p:cNvPr id="101" name="Google Shape;101;p1"/>
          <p:cNvSpPr txBox="1">
            <a:spLocks noGrp="1"/>
          </p:cNvSpPr>
          <p:nvPr>
            <p:ph type="subTitle" idx="1"/>
          </p:nvPr>
        </p:nvSpPr>
        <p:spPr>
          <a:xfrm>
            <a:off x="6636774" y="3350000"/>
            <a:ext cx="5555100" cy="2900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None/>
            </a:pPr>
            <a:r>
              <a:rPr lang="en-US" sz="1400">
                <a:solidFill>
                  <a:srgbClr val="181C24"/>
                </a:solidFill>
                <a:latin typeface="Times New Roman" panose="02020603050405020304" pitchFamily="18" charset="0"/>
                <a:ea typeface="Times New Roman"/>
                <a:cs typeface="Times New Roman"/>
                <a:sym typeface="Times New Roman"/>
              </a:rPr>
              <a:t>PROJECT ASSOCIATES:
• ADITHYAN B (Reg No: MGP23EVLSI001)
• ANNA BOBAN (Reg No: MGP23EVLSI002)
• NOOPA MARIA ROJAN (Reg No: MGP23EVLSI009)
Department of Electronics &amp; Communication Engineering
Saintgits College of Engineering (Autonomous), Kottayam
B.Tech Mini Project Final Internal Review • October 2026</a:t>
            </a:r>
            <a:endParaRPr sz="1400" dirty="0">
              <a:solidFill>
                <a:srgbClr val="181C24"/>
              </a:solidFill>
              <a:latin typeface="Times New Roman" panose="02020603050405020304" pitchFamily="18" charset="0"/>
            </a:endParaRPr>
          </a:p>
        </p:txBody>
      </p:sp>
      <p:sp>
        <p:nvSpPr>
          <p:cNvPr id="102" name="Google Shape;102;p1"/>
          <p:cNvSpPr txBox="1"/>
          <p:nvPr/>
        </p:nvSpPr>
        <p:spPr>
          <a:xfrm>
            <a:off x="540774" y="4368955"/>
            <a:ext cx="3519900" cy="7847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0284C7"/>
                </a:solidFill>
                <a:latin typeface="Times New Roman" panose="02020603050405020304" pitchFamily="18" charset="0"/>
                <a:ea typeface="Times New Roman"/>
                <a:cs typeface="Times New Roman"/>
                <a:sym typeface="Times New Roman"/>
              </a:rPr>
              <a:t>PROJECT SUPERVISOR:
Er. JUSTIN MATHEW
Assistant Professor, Dept. of ECE</a:t>
            </a:r>
            <a:endParaRPr sz="1500" b="1" dirty="0">
              <a:solidFill>
                <a:srgbClr val="0284C7"/>
              </a:solidFill>
              <a:latin typeface="Times New Roman" panose="02020603050405020304" pitchFamily="18" charset="0"/>
            </a:endParaRPr>
          </a:p>
        </p:txBody>
      </p:sp>
      <p:sp>
        <p:nvSpPr>
          <p:cNvPr id="103" name="Google Shape;103;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04" name="Google Shape;104;p1"/>
          <p:cNvPicPr preferRelativeResize="0"/>
          <p:nvPr/>
        </p:nvPicPr>
        <p:blipFill rotWithShape="1">
          <a:blip r:embed="rId2">
            <a:alphaModFix/>
          </a:blip>
          <a:srcRect/>
          <a:stretch/>
        </p:blipFill>
        <p:spPr>
          <a:xfrm>
            <a:off x="159971" y="211556"/>
            <a:ext cx="4517529" cy="810838"/>
          </a:xfrm>
          <a:prstGeom prst="rect">
            <a:avLst/>
          </a:prstGeom>
          <a:noFill/>
          <a:ln>
            <a:noFill/>
          </a:ln>
        </p:spPr>
      </p:pic>
      <p:pic>
        <p:nvPicPr>
          <p:cNvPr id="105" name="Google Shape;105;p1"/>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106" name="Google Shape;106;p1"/>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3400" b="1">
                <a:solidFill>
                  <a:srgbClr val="181C24"/>
                </a:solidFill>
                <a:highlight>
                  <a:srgbClr val="FFFFFF"/>
                </a:highlight>
                <a:latin typeface="Times New Roman" panose="02020603050405020304" pitchFamily="18" charset="0"/>
                <a:ea typeface="Times New Roman"/>
                <a:cs typeface="Times New Roman"/>
                <a:sym typeface="Times New Roman"/>
              </a:rPr>
              <a:t>INTRODUCTION</a:t>
            </a:r>
            <a:endParaRPr sz="3400" b="1" dirty="0">
              <a:solidFill>
                <a:srgbClr val="181C24"/>
              </a:solidFill>
              <a:latin typeface="Times New Roman" panose="02020603050405020304" pitchFamily="18" charset="0"/>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2" name="TextBox 1">
            <a:extLst>
              <a:ext uri="{FF2B5EF4-FFF2-40B4-BE49-F238E27FC236}">
                <a16:creationId xmlns:a16="http://schemas.microsoft.com/office/drawing/2014/main" id="{CD30A1A3-16A9-404E-DC82-F6021C8DDC83}"/>
              </a:ext>
            </a:extLst>
          </p:cNvPr>
          <p:cNvSpPr txBox="1"/>
          <p:nvPr/>
        </p:nvSpPr>
        <p:spPr>
          <a:xfrm>
            <a:off x="635000" y="1778000"/>
            <a:ext cx="9906000" cy="3616375"/>
          </a:xfrm>
          <a:prstGeom prst="rect">
            <a:avLst/>
          </a:prstGeom>
          <a:noFill/>
        </p:spPr>
        <p:txBody>
          <a:bodyPr vert="horz" wrap="square" rtlCol="0">
            <a:spAutoFit/>
          </a:bodyPr>
          <a:lstStyle/>
          <a:p>
            <a:r>
              <a:rPr lang="en-IN" sz="1700" b="1">
                <a:solidFill>
                  <a:srgbClr val="0284C7"/>
                </a:solidFill>
                <a:latin typeface="Times New Roman" panose="02020603050405020304" pitchFamily="18" charset="0"/>
              </a:rPr>
              <a:t>Semiconductor Fabrication Complexity</a:t>
            </a:r>
            <a:r>
              <a:rPr lang="en-IN" sz="1500">
                <a:solidFill>
                  <a:srgbClr val="181C24"/>
                </a:solidFill>
                <a:latin typeface="Times New Roman" panose="02020603050405020304" pitchFamily="18" charset="0"/>
              </a:rPr>
              <a:t>
•  Modern integrated circuits are manufactured on 300 mm silicon wafers spanning 500+ delicate chemical-mechanical processing steps at sub-10 nm nodes.
•  A single microscopic defect during lithography, etch, or chemical-mechanical planarization (CMP) compromises hundreds of microchips.
</a:t>
            </a:r>
            <a:r>
              <a:rPr lang="en-IN" sz="1700" b="1">
                <a:solidFill>
                  <a:srgbClr val="0284C7"/>
                </a:solidFill>
                <a:latin typeface="Times New Roman" panose="02020603050405020304" pitchFamily="18" charset="0"/>
              </a:rPr>
              <a:t>Spatial Wafer Defect Signatures &amp; WM-811K Benchmark</a:t>
            </a:r>
            <a:r>
              <a:rPr lang="en-IN" sz="1500">
                <a:solidFill>
                  <a:srgbClr val="181C24"/>
                </a:solidFill>
                <a:latin typeface="Times New Roman" panose="02020603050405020304" pitchFamily="18" charset="0"/>
              </a:rPr>
              <a:t>
•  Equipment failures deposit spatially correlated defective dies across the substrate, generating characteristic topological clusters (Center, Donut, Scratch, Edge-Ring, Loc).
•  We utilize the real-world WM-811K dataset (811,457 commercial wafer maps) to capture authentic industrial semiconductor defect patterns.
</a:t>
            </a:r>
            <a:r>
              <a:rPr lang="en-IN" sz="1700" b="1">
                <a:solidFill>
                  <a:srgbClr val="0284C7"/>
                </a:solidFill>
                <a:latin typeface="Times New Roman" panose="02020603050405020304" pitchFamily="18" charset="0"/>
              </a:rPr>
              <a:t>Automated Optical Inspection (AOI)</a:t>
            </a:r>
            <a:r>
              <a:rPr lang="en-IN" sz="1500">
                <a:solidFill>
                  <a:srgbClr val="181C24"/>
                </a:solidFill>
                <a:latin typeface="Times New Roman" panose="02020603050405020304" pitchFamily="18" charset="0"/>
              </a:rPr>
              <a:t>
•  Instant automated defect classification enables immediate fabrication tool root-cause diagnosis, saving millions in scrap and engineering turnaround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3400" b="1">
                <a:solidFill>
                  <a:srgbClr val="181C24"/>
                </a:solidFill>
                <a:highlight>
                  <a:srgbClr val="FFFFFF"/>
                </a:highlight>
                <a:latin typeface="Times New Roman" panose="02020603050405020304" pitchFamily="18" charset="0"/>
                <a:ea typeface="Times New Roman"/>
                <a:cs typeface="Times New Roman"/>
                <a:sym typeface="Times New Roman"/>
              </a:rPr>
              <a:t>PROBLEM STATEMENT</a:t>
            </a:r>
            <a:endParaRPr sz="3400" b="1" dirty="0">
              <a:solidFill>
                <a:srgbClr val="181C24"/>
              </a:solidFill>
              <a:latin typeface="Times New Roman" panose="02020603050405020304" pitchFamily="18" charset="0"/>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2" name="TextBox 1">
            <a:extLst>
              <a:ext uri="{FF2B5EF4-FFF2-40B4-BE49-F238E27FC236}">
                <a16:creationId xmlns:a16="http://schemas.microsoft.com/office/drawing/2014/main" id="{85594A66-0345-E493-AB22-EBA62A81FD2F}"/>
              </a:ext>
            </a:extLst>
          </p:cNvPr>
          <p:cNvSpPr txBox="1"/>
          <p:nvPr/>
        </p:nvSpPr>
        <p:spPr>
          <a:xfrm>
            <a:off x="635000" y="1778000"/>
            <a:ext cx="9906000" cy="3677930"/>
          </a:xfrm>
          <a:prstGeom prst="rect">
            <a:avLst/>
          </a:prstGeom>
          <a:noFill/>
        </p:spPr>
        <p:txBody>
          <a:bodyPr vert="horz" wrap="square" rtlCol="0">
            <a:spAutoFit/>
          </a:bodyPr>
          <a:lstStyle/>
          <a:p>
            <a:r>
              <a:rPr lang="en-US" sz="1700" b="1">
                <a:solidFill>
                  <a:srgbClr val="0284C7"/>
                </a:solidFill>
                <a:latin typeface="Times New Roman" panose="02020603050405020304" pitchFamily="18" charset="0"/>
              </a:rPr>
              <a:t>High-Throughput Fabrication Bottlenecks</a:t>
            </a:r>
            <a:r>
              <a:rPr lang="en-US" sz="1500">
                <a:solidFill>
                  <a:srgbClr val="181C24"/>
                </a:solidFill>
                <a:latin typeface="Times New Roman" panose="02020603050405020304" pitchFamily="18" charset="0"/>
              </a:rPr>
              <a:t>
•  Commercial fabs produce tens of thousands of wafers monthly; manual optical and SEM microscopy inspection is slow, subjective, and prone to severe human fatigue.
</a:t>
            </a:r>
            <a:r>
              <a:rPr lang="en-US" sz="1700" b="1">
                <a:solidFill>
                  <a:srgbClr val="0284C7"/>
                </a:solidFill>
                <a:latin typeface="Times New Roman" panose="02020603050405020304" pitchFamily="18" charset="0"/>
              </a:rPr>
              <a:t>Extreme Industrial Class Imbalance</a:t>
            </a:r>
            <a:r>
              <a:rPr lang="en-US" sz="1500">
                <a:solidFill>
                  <a:srgbClr val="181C24"/>
                </a:solidFill>
                <a:latin typeface="Times New Roman" panose="02020603050405020304" pitchFamily="18" charset="0"/>
              </a:rPr>
              <a:t>
•  In commercial fabrication, nominal (clean) wafers exceed 78% of production lots, leaving minority defect topologies difficult for conventional algorithms to detect reliably.
</a:t>
            </a:r>
            <a:r>
              <a:rPr lang="en-US" sz="1700" b="1">
                <a:solidFill>
                  <a:srgbClr val="0284C7"/>
                </a:solidFill>
                <a:latin typeface="Times New Roman" panose="02020603050405020304" pitchFamily="18" charset="0"/>
              </a:rPr>
              <a:t>Edge Computational Constraints in Fab Lines</a:t>
            </a:r>
            <a:r>
              <a:rPr lang="en-US" sz="1500">
                <a:solidFill>
                  <a:srgbClr val="181C24"/>
                </a:solidFill>
                <a:latin typeface="Times New Roman" panose="02020603050405020304" pitchFamily="18" charset="0"/>
              </a:rPr>
              <a:t>
•  Heavy deep learning backbones (e.g., ResNet-50, VGG-16) suffer from multi-hundred-megabyte footprints, heavy GPU dependence, and high inference latency (&gt;50 ms).
</a:t>
            </a:r>
            <a:r>
              <a:rPr lang="en-US" sz="1700" b="1">
                <a:solidFill>
                  <a:srgbClr val="0284C7"/>
                </a:solidFill>
                <a:latin typeface="Times New Roman" panose="02020603050405020304" pitchFamily="18" charset="0"/>
              </a:rPr>
              <a:t>Core Problem Statement</a:t>
            </a:r>
            <a:r>
              <a:rPr lang="en-US" sz="1500">
                <a:solidFill>
                  <a:srgbClr val="181C24"/>
                </a:solidFill>
                <a:latin typeface="Times New Roman" panose="02020603050405020304" pitchFamily="18" charset="0"/>
              </a:rPr>
              <a:t>
•  Need for an ultra-lightweight, edge-deployable deep learning classification engine achieving &gt;98% accuracy and sub-2 ms latency across multi-class wafer defect topologies on standard CPU hardware.</a:t>
            </a:r>
            <a:endParaRPr lang="en-IN" sz="1500">
              <a:solidFill>
                <a:srgbClr val="181C24"/>
              </a:solidFill>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3400" b="1">
                <a:solidFill>
                  <a:srgbClr val="181C24"/>
                </a:solidFill>
                <a:highlight>
                  <a:srgbClr val="FFFFFF"/>
                </a:highlight>
                <a:latin typeface="Times New Roman" panose="02020603050405020304" pitchFamily="18" charset="0"/>
                <a:ea typeface="Times New Roman"/>
                <a:cs typeface="Times New Roman"/>
                <a:sym typeface="Times New Roman"/>
              </a:rPr>
              <a:t>NEED FOR THE PROJECT</a:t>
            </a:r>
            <a:endParaRPr sz="3400" b="1" dirty="0">
              <a:solidFill>
                <a:srgbClr val="181C24"/>
              </a:solidFill>
              <a:latin typeface="Times New Roman" panose="02020603050405020304" pitchFamily="18" charset="0"/>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2" name="TextBox 1">
            <a:extLst>
              <a:ext uri="{FF2B5EF4-FFF2-40B4-BE49-F238E27FC236}">
                <a16:creationId xmlns:a16="http://schemas.microsoft.com/office/drawing/2014/main" id="{BB34BEFD-5999-0264-CBFB-51287454E1F7}"/>
              </a:ext>
            </a:extLst>
          </p:cNvPr>
          <p:cNvSpPr txBox="1"/>
          <p:nvPr/>
        </p:nvSpPr>
        <p:spPr>
          <a:xfrm>
            <a:off x="635000" y="1778000"/>
            <a:ext cx="9906000" cy="3385542"/>
          </a:xfrm>
          <a:prstGeom prst="rect">
            <a:avLst/>
          </a:prstGeom>
          <a:noFill/>
        </p:spPr>
        <p:txBody>
          <a:bodyPr vert="horz" wrap="square" rtlCol="0">
            <a:spAutoFit/>
          </a:bodyPr>
          <a:lstStyle/>
          <a:p>
            <a:r>
              <a:rPr lang="en-IN" sz="1700" b="1">
                <a:solidFill>
                  <a:srgbClr val="0284C7"/>
                </a:solidFill>
                <a:latin typeface="Times New Roman" panose="02020603050405020304" pitchFamily="18" charset="0"/>
              </a:rPr>
              <a:t>Critical Yield Economics &amp; Cost Reduction</a:t>
            </a:r>
            <a:r>
              <a:rPr lang="en-IN" sz="1500">
                <a:solidFill>
                  <a:srgbClr val="181C24"/>
                </a:solidFill>
                <a:latin typeface="Times New Roman" panose="02020603050405020304" pitchFamily="18" charset="0"/>
              </a:rPr>
              <a:t>
•  Defect detection at wafer probe testing prevents defective dies from progressing into expensive packaging, wire-bonding, and encapsulation phases, saving millions annually.
</a:t>
            </a:r>
            <a:r>
              <a:rPr lang="en-IN" sz="1700" b="1">
                <a:solidFill>
                  <a:srgbClr val="0284C7"/>
                </a:solidFill>
                <a:latin typeface="Times New Roman" panose="02020603050405020304" pitchFamily="18" charset="0"/>
              </a:rPr>
              <a:t>Equipment Root-Cause Traceability</a:t>
            </a:r>
            <a:r>
              <a:rPr lang="en-IN" sz="1500">
                <a:solidFill>
                  <a:srgbClr val="181C24"/>
                </a:solidFill>
                <a:latin typeface="Times New Roman" panose="02020603050405020304" pitchFamily="18" charset="0"/>
              </a:rPr>
              <a:t>
•  Topological signatures correlate directly with specific fab tool malfunctions:
•    - Center Cluster: CMP slurry buildup or spin-coat nozzle misalignment.
•    - Donut Ring: Radial thermal gradient during rapid thermal annealing (RTA).
•    - Scratch: Mechanical robot end-effector abrasion or wafer cassette handling damage.
•    - Edge-Ring: Plasma etching nonuniformity or edge-bead removal (EBR) solvent splash.
</a:t>
            </a:r>
            <a:r>
              <a:rPr lang="en-IN" sz="1700" b="1">
                <a:solidFill>
                  <a:srgbClr val="0284C7"/>
                </a:solidFill>
                <a:latin typeface="Times New Roman" panose="02020603050405020304" pitchFamily="18" charset="0"/>
              </a:rPr>
              <a:t>Edge Inline Autonomous Screening</a:t>
            </a:r>
            <a:r>
              <a:rPr lang="en-IN" sz="1500">
                <a:solidFill>
                  <a:srgbClr val="181C24"/>
                </a:solidFill>
                <a:latin typeface="Times New Roman" panose="02020603050405020304" pitchFamily="18" charset="0"/>
              </a:rPr>
              <a:t>
•  Eliminates bandwidth bottlenecks and cloud data-security risks by executing inference directly on local fab equipment controllers with zero cloud latency.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3400" b="1">
                <a:solidFill>
                  <a:srgbClr val="181C24"/>
                </a:solidFill>
                <a:highlight>
                  <a:srgbClr val="FFFFFF"/>
                </a:highlight>
                <a:latin typeface="Times New Roman" panose="02020603050405020304" pitchFamily="18" charset="0"/>
                <a:ea typeface="Times New Roman"/>
                <a:cs typeface="Times New Roman"/>
                <a:sym typeface="Times New Roman"/>
              </a:rPr>
              <a:t>OBJECTIVES</a:t>
            </a:r>
            <a:endParaRPr sz="3400" b="1" dirty="0">
              <a:solidFill>
                <a:srgbClr val="181C24"/>
              </a:solidFill>
              <a:latin typeface="Times New Roman" panose="02020603050405020304" pitchFamily="18" charset="0"/>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2" name="TextBox 1">
            <a:extLst>
              <a:ext uri="{FF2B5EF4-FFF2-40B4-BE49-F238E27FC236}">
                <a16:creationId xmlns:a16="http://schemas.microsoft.com/office/drawing/2014/main" id="{7362384C-F713-75B2-BD55-991755111F0C}"/>
              </a:ext>
            </a:extLst>
          </p:cNvPr>
          <p:cNvSpPr txBox="1"/>
          <p:nvPr/>
        </p:nvSpPr>
        <p:spPr>
          <a:xfrm>
            <a:off x="635000" y="1778000"/>
            <a:ext cx="9906000" cy="2200602"/>
          </a:xfrm>
          <a:prstGeom prst="rect">
            <a:avLst/>
          </a:prstGeom>
          <a:noFill/>
        </p:spPr>
        <p:txBody>
          <a:bodyPr vert="horz" wrap="square" rtlCol="0">
            <a:spAutoFit/>
          </a:bodyPr>
          <a:lstStyle/>
          <a:p>
            <a:r>
              <a:rPr lang="en-IN" sz="1700" b="1">
                <a:solidFill>
                  <a:srgbClr val="0284C7"/>
                </a:solidFill>
                <a:latin typeface="Times New Roman" panose="02020603050405020304" pitchFamily="18" charset="0"/>
              </a:rPr>
              <a:t>Primary Project Objectives</a:t>
            </a:r>
            <a:r>
              <a:rPr lang="en-IN" sz="1500">
                <a:solidFill>
                  <a:srgbClr val="181C24"/>
                </a:solidFill>
                <a:latin typeface="Times New Roman" panose="02020603050405020304" pitchFamily="18" charset="0"/>
              </a:rPr>
              <a:t>
•  Objective 1: Curate, filter, and normalize the large-scale WM-811K benchmark into balanced 8-class topological defect representations.
•  Objective 2: Design and fine-tune an ultra-lightweight MobileNetV3-Small deep convolutional neural network leveraging depthwise separable convolutions and Squeeze-and-Excitation (SE) attention.
•  Objective 3: Export and optimize the trained model into an ONNX runtime engine achieving sub-2 ms CPU inference latency and &lt;6 MB storage footprint.
•  Objective 4: Build a full-stack, interactive AOI demonstration dashboard featuring live 300 mm wafer visualization, die pass/fail matrix telemetry, and automated inspection.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3400" b="1">
                <a:solidFill>
                  <a:srgbClr val="181C24"/>
                </a:solidFill>
                <a:highlight>
                  <a:srgbClr val="FFFFFF"/>
                </a:highlight>
                <a:latin typeface="Times New Roman" panose="02020603050405020304" pitchFamily="18" charset="0"/>
                <a:ea typeface="Times New Roman"/>
                <a:cs typeface="Times New Roman"/>
                <a:sym typeface="Times New Roman"/>
              </a:rPr>
              <a:t>END-TO-END SYSTEM ARCHITECTURE</a:t>
            </a:r>
            <a:endParaRPr sz="3400" b="1" dirty="0">
              <a:solidFill>
                <a:srgbClr val="181C24"/>
              </a:solidFill>
              <a:latin typeface="Times New Roman" panose="02020603050405020304" pitchFamily="18" charset="0"/>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2" name="Rectangle: Rounded Corners 1">
            <a:extLst>
              <a:ext uri="{FF2B5EF4-FFF2-40B4-BE49-F238E27FC236}">
                <a16:creationId xmlns:a16="http://schemas.microsoft.com/office/drawing/2014/main" id="{71EFA3A8-25C6-A4E8-1938-54FC94FDEC93}"/>
              </a:ext>
            </a:extLst>
          </p:cNvPr>
          <p:cNvSpPr/>
          <p:nvPr/>
        </p:nvSpPr>
        <p:spPr>
          <a:xfrm>
            <a:off x="444500" y="1778000"/>
            <a:ext cx="2349500" cy="2921000"/>
          </a:xfrm>
          <a:prstGeom prst="roundRect">
            <a:avLst/>
          </a:prstGeom>
          <a:solidFill>
            <a:srgbClr val="EBF0F5"/>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D19CE52-B06C-3905-AE93-BDF0C5DE7ADF}"/>
              </a:ext>
            </a:extLst>
          </p:cNvPr>
          <p:cNvSpPr txBox="1"/>
          <p:nvPr/>
        </p:nvSpPr>
        <p:spPr>
          <a:xfrm>
            <a:off x="508000" y="1841500"/>
            <a:ext cx="2222500" cy="1415772"/>
          </a:xfrm>
          <a:prstGeom prst="rect">
            <a:avLst/>
          </a:prstGeom>
          <a:noFill/>
        </p:spPr>
        <p:txBody>
          <a:bodyPr vert="horz" wrap="square" rtlCol="0">
            <a:spAutoFit/>
          </a:bodyPr>
          <a:lstStyle/>
          <a:p>
            <a:r>
              <a:rPr lang="en-IN" sz="1300" b="1">
                <a:solidFill>
                  <a:srgbClr val="0284C7"/>
                </a:solidFill>
                <a:latin typeface="Times New Roman" panose="02020603050405020304" pitchFamily="18" charset="0"/>
              </a:rPr>
              <a:t>STAGE A: DATA PIPELINE</a:t>
            </a:r>
            <a:r>
              <a:rPr lang="en-IN" sz="1200">
                <a:solidFill>
                  <a:srgbClr val="181C24"/>
                </a:solidFill>
                <a:latin typeface="Times New Roman" panose="02020603050405020304" pitchFamily="18" charset="0"/>
              </a:rPr>
              <a:t>
• Raw LSWMD.pkl parsing
• Pandas index patch
• Bilinear resize 224x224
• Min-Max normalization
• 70% / 15% / 15% Split</a:t>
            </a:r>
          </a:p>
        </p:txBody>
      </p:sp>
      <p:sp>
        <p:nvSpPr>
          <p:cNvPr id="4" name="Rectangle: Rounded Corners 3">
            <a:extLst>
              <a:ext uri="{FF2B5EF4-FFF2-40B4-BE49-F238E27FC236}">
                <a16:creationId xmlns:a16="http://schemas.microsoft.com/office/drawing/2014/main" id="{A7C0B31C-C168-9718-26B9-864DE3C1036B}"/>
              </a:ext>
            </a:extLst>
          </p:cNvPr>
          <p:cNvSpPr/>
          <p:nvPr/>
        </p:nvSpPr>
        <p:spPr>
          <a:xfrm>
            <a:off x="2984500" y="1778000"/>
            <a:ext cx="2349500" cy="2921000"/>
          </a:xfrm>
          <a:prstGeom prst="roundRect">
            <a:avLst/>
          </a:prstGeom>
          <a:solidFill>
            <a:srgbClr val="EBF0F5"/>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0E5E6BD-1EA6-3EA9-956A-69A65C22E483}"/>
              </a:ext>
            </a:extLst>
          </p:cNvPr>
          <p:cNvSpPr txBox="1"/>
          <p:nvPr/>
        </p:nvSpPr>
        <p:spPr>
          <a:xfrm>
            <a:off x="3048000" y="1841500"/>
            <a:ext cx="2222500" cy="1415772"/>
          </a:xfrm>
          <a:prstGeom prst="rect">
            <a:avLst/>
          </a:prstGeom>
          <a:noFill/>
        </p:spPr>
        <p:txBody>
          <a:bodyPr vert="horz" wrap="square" rtlCol="0">
            <a:spAutoFit/>
          </a:bodyPr>
          <a:lstStyle/>
          <a:p>
            <a:r>
              <a:rPr lang="en-IN" sz="1300" b="1">
                <a:solidFill>
                  <a:srgbClr val="0284C7"/>
                </a:solidFill>
                <a:latin typeface="Times New Roman" panose="02020603050405020304" pitchFamily="18" charset="0"/>
              </a:rPr>
              <a:t>STAGE B: MODEL TRAINING</a:t>
            </a:r>
            <a:r>
              <a:rPr lang="en-IN" sz="1200">
                <a:solidFill>
                  <a:srgbClr val="181C24"/>
                </a:solidFill>
                <a:latin typeface="Times New Roman" panose="02020603050405020304" pitchFamily="18" charset="0"/>
              </a:rPr>
              <a:t>
• Backbone: MobileNetV3
• Inverted residuals + SE
• Custom 8-class linear head
• Adam optimizer (3e-4)
• Cross-Entropy loss</a:t>
            </a:r>
          </a:p>
        </p:txBody>
      </p:sp>
      <p:sp>
        <p:nvSpPr>
          <p:cNvPr id="6" name="Rectangle: Rounded Corners 5">
            <a:extLst>
              <a:ext uri="{FF2B5EF4-FFF2-40B4-BE49-F238E27FC236}">
                <a16:creationId xmlns:a16="http://schemas.microsoft.com/office/drawing/2014/main" id="{891426D9-CAAD-B915-E3F0-54749C6BFFA4}"/>
              </a:ext>
            </a:extLst>
          </p:cNvPr>
          <p:cNvSpPr/>
          <p:nvPr/>
        </p:nvSpPr>
        <p:spPr>
          <a:xfrm>
            <a:off x="5524500" y="1778000"/>
            <a:ext cx="2349500" cy="2921000"/>
          </a:xfrm>
          <a:prstGeom prst="roundRect">
            <a:avLst/>
          </a:prstGeom>
          <a:solidFill>
            <a:srgbClr val="EBF0F5"/>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9908E801-B2A8-01B4-CBFC-330879DAA3B3}"/>
              </a:ext>
            </a:extLst>
          </p:cNvPr>
          <p:cNvSpPr txBox="1"/>
          <p:nvPr/>
        </p:nvSpPr>
        <p:spPr>
          <a:xfrm>
            <a:off x="5588000" y="1841500"/>
            <a:ext cx="2222500" cy="1215717"/>
          </a:xfrm>
          <a:prstGeom prst="rect">
            <a:avLst/>
          </a:prstGeom>
          <a:noFill/>
        </p:spPr>
        <p:txBody>
          <a:bodyPr vert="horz" wrap="square" rtlCol="0">
            <a:spAutoFit/>
          </a:bodyPr>
          <a:lstStyle/>
          <a:p>
            <a:r>
              <a:rPr lang="en-IN" sz="1300" b="1">
                <a:solidFill>
                  <a:srgbClr val="0284C7"/>
                </a:solidFill>
                <a:latin typeface="Times New Roman" panose="02020603050405020304" pitchFamily="18" charset="0"/>
              </a:rPr>
              <a:t>STAGE C: ONNX ENGINE</a:t>
            </a:r>
            <a:r>
              <a:rPr lang="en-IN" sz="1200">
                <a:solidFill>
                  <a:srgbClr val="181C24"/>
                </a:solidFill>
                <a:latin typeface="Times New Roman" panose="02020603050405020304" pitchFamily="18" charset="0"/>
              </a:rPr>
              <a:t>
• PyTorch model graph trace
• ONNX Opset 12 export
• Constant folding &amp; prune
• Dynamic batch dimension
• Model size: 5.84 MB</a:t>
            </a:r>
          </a:p>
        </p:txBody>
      </p:sp>
      <p:sp>
        <p:nvSpPr>
          <p:cNvPr id="8" name="Rectangle: Rounded Corners 7">
            <a:extLst>
              <a:ext uri="{FF2B5EF4-FFF2-40B4-BE49-F238E27FC236}">
                <a16:creationId xmlns:a16="http://schemas.microsoft.com/office/drawing/2014/main" id="{4A2619EE-FA65-9DB8-7D7A-B99DDA11DE45}"/>
              </a:ext>
            </a:extLst>
          </p:cNvPr>
          <p:cNvSpPr/>
          <p:nvPr/>
        </p:nvSpPr>
        <p:spPr>
          <a:xfrm>
            <a:off x="8064500" y="1778000"/>
            <a:ext cx="2349500" cy="2921000"/>
          </a:xfrm>
          <a:prstGeom prst="roundRect">
            <a:avLst/>
          </a:prstGeom>
          <a:solidFill>
            <a:srgbClr val="EBF0F5"/>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E275F8B7-7001-14E2-0A30-83E7F67B3D1F}"/>
              </a:ext>
            </a:extLst>
          </p:cNvPr>
          <p:cNvSpPr txBox="1"/>
          <p:nvPr/>
        </p:nvSpPr>
        <p:spPr>
          <a:xfrm>
            <a:off x="8128000" y="1841500"/>
            <a:ext cx="2222500" cy="1415772"/>
          </a:xfrm>
          <a:prstGeom prst="rect">
            <a:avLst/>
          </a:prstGeom>
          <a:noFill/>
        </p:spPr>
        <p:txBody>
          <a:bodyPr vert="horz" wrap="square" rtlCol="0">
            <a:spAutoFit/>
          </a:bodyPr>
          <a:lstStyle/>
          <a:p>
            <a:r>
              <a:rPr lang="en-US" sz="1300" b="1">
                <a:solidFill>
                  <a:srgbClr val="0284C7"/>
                </a:solidFill>
                <a:latin typeface="Times New Roman" panose="02020603050405020304" pitchFamily="18" charset="0"/>
              </a:rPr>
              <a:t>STAGE D: EDGE INFERENCE</a:t>
            </a:r>
            <a:r>
              <a:rPr lang="en-US" sz="1200">
                <a:solidFill>
                  <a:srgbClr val="181C24"/>
                </a:solidFill>
                <a:latin typeface="Times New Roman" panose="02020603050405020304" pitchFamily="18" charset="0"/>
              </a:rPr>
              <a:t>
• ONNX Runtime CPU
• ImageNet tensor norm
• Top-3 confidence scoring
• Sub-2ms inference latency
• Standalone REST runner</a:t>
            </a:r>
            <a:endParaRPr lang="en-IN" sz="1200">
              <a:solidFill>
                <a:srgbClr val="181C24"/>
              </a:solidFill>
              <a:latin typeface="Times New Roman" panose="02020603050405020304" pitchFamily="18" charset="0"/>
            </a:endParaRPr>
          </a:p>
        </p:txBody>
      </p:sp>
      <p:sp>
        <p:nvSpPr>
          <p:cNvPr id="10" name="Rectangle: Rounded Corners 9">
            <a:extLst>
              <a:ext uri="{FF2B5EF4-FFF2-40B4-BE49-F238E27FC236}">
                <a16:creationId xmlns:a16="http://schemas.microsoft.com/office/drawing/2014/main" id="{A9ED1A95-4F40-321F-50ED-3858094C394C}"/>
              </a:ext>
            </a:extLst>
          </p:cNvPr>
          <p:cNvSpPr/>
          <p:nvPr/>
        </p:nvSpPr>
        <p:spPr>
          <a:xfrm>
            <a:off x="444500" y="4889500"/>
            <a:ext cx="9969500" cy="571500"/>
          </a:xfrm>
          <a:prstGeom prst="roundRect">
            <a:avLst/>
          </a:prstGeom>
          <a:solidFill>
            <a:srgbClr val="181C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300" b="1">
                <a:solidFill>
                  <a:srgbClr val="FFFFFF"/>
                </a:solidFill>
                <a:latin typeface="Times New Roman" panose="02020603050405020304" pitchFamily="18" charset="0"/>
              </a:rPr>
              <a:t>Target Defect Classes:  Center  |  Donut  |  Edge-Loc  |  Edge-Ring  |  Loc  |  Scratch  |  Other  |  Clean (Nominal)</a:t>
            </a:r>
          </a:p>
        </p:txBody>
      </p:sp>
    </p:spTree>
    <p:extLst>
      <p:ext uri="{BB962C8B-B14F-4D97-AF65-F5344CB8AC3E}">
        <p14:creationId xmlns:p14="http://schemas.microsoft.com/office/powerpoint/2010/main" val="498022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3400" b="1">
                <a:solidFill>
                  <a:srgbClr val="181C24"/>
                </a:solidFill>
                <a:highlight>
                  <a:srgbClr val="FFFFFF"/>
                </a:highlight>
                <a:latin typeface="Times New Roman" panose="02020603050405020304" pitchFamily="18" charset="0"/>
                <a:ea typeface="Times New Roman"/>
                <a:cs typeface="Times New Roman"/>
                <a:sym typeface="Times New Roman"/>
              </a:rPr>
              <a:t>WM-811K DATASET &amp; DEFECT PATTERNS</a:t>
            </a:r>
            <a:endParaRPr sz="3400" b="1" dirty="0">
              <a:solidFill>
                <a:srgbClr val="181C24"/>
              </a:solidFill>
              <a:latin typeface="Times New Roman" panose="02020603050405020304" pitchFamily="18" charset="0"/>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2" name="Rectangle: Rounded Corners 1">
            <a:extLst>
              <a:ext uri="{FF2B5EF4-FFF2-40B4-BE49-F238E27FC236}">
                <a16:creationId xmlns:a16="http://schemas.microsoft.com/office/drawing/2014/main" id="{21617C98-09F1-D2F1-FF84-39E0D2C894E1}"/>
              </a:ext>
            </a:extLst>
          </p:cNvPr>
          <p:cNvSpPr/>
          <p:nvPr/>
        </p:nvSpPr>
        <p:spPr>
          <a:xfrm>
            <a:off x="444500" y="1778000"/>
            <a:ext cx="4699000" cy="3683000"/>
          </a:xfrm>
          <a:prstGeom prst="roundRect">
            <a:avLst/>
          </a:prstGeom>
          <a:solidFill>
            <a:srgbClr val="EBF0F5"/>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D964098-6E4F-8772-7242-0619ECB48DCA}"/>
              </a:ext>
            </a:extLst>
          </p:cNvPr>
          <p:cNvSpPr txBox="1"/>
          <p:nvPr/>
        </p:nvSpPr>
        <p:spPr>
          <a:xfrm>
            <a:off x="571500" y="1841500"/>
            <a:ext cx="4445000" cy="2523768"/>
          </a:xfrm>
          <a:prstGeom prst="rect">
            <a:avLst/>
          </a:prstGeom>
          <a:noFill/>
        </p:spPr>
        <p:txBody>
          <a:bodyPr vert="horz" wrap="square" rtlCol="0">
            <a:spAutoFit/>
          </a:bodyPr>
          <a:lstStyle/>
          <a:p>
            <a:r>
              <a:rPr lang="en-IN" b="1">
                <a:solidFill>
                  <a:srgbClr val="0284C7"/>
                </a:solidFill>
                <a:latin typeface="Times New Roman" panose="02020603050405020304" pitchFamily="18" charset="0"/>
              </a:rPr>
              <a:t>Dataset Profile &amp; Industrial Challenges</a:t>
            </a:r>
            <a:r>
              <a:rPr lang="en-IN" sz="1200">
                <a:solidFill>
                  <a:srgbClr val="181C24"/>
                </a:solidFill>
                <a:latin typeface="Times New Roman" panose="02020603050405020304" pitchFamily="18" charset="0"/>
              </a:rPr>
              <a:t>
• Total Records: 811,472 real semiconductor wafer maps from 46,393 lots.
• Labeled Samples: ~172,950 annotated wafers with failure patterns.
• Severe Imbalance: Over 96% of manufactured wafers are defect-free (Clean).
• Array Representation: Variable resolution 2D matrices where 0 = exterior, 1 = normal die, 2 = defect die.
• Preprocessing Pipeline:
   1. Patch deprecated pandas Int64Index unpickling.
   2. Map 9 raw labels to 8 standardized classes.
   3. Standardize dimensions to 224x224 (bilinear).
   4. 70% Train, 15% Validation, 15% Test split.</a:t>
            </a:r>
          </a:p>
        </p:txBody>
      </p:sp>
      <p:pic>
        <p:nvPicPr>
          <p:cNvPr id="5" name="Picture 4">
            <a:extLst>
              <a:ext uri="{FF2B5EF4-FFF2-40B4-BE49-F238E27FC236}">
                <a16:creationId xmlns:a16="http://schemas.microsoft.com/office/drawing/2014/main" id="{053E63D3-2F0C-90C1-094A-8FCF4EC0C5AA}"/>
              </a:ext>
            </a:extLst>
          </p:cNvPr>
          <p:cNvPicPr>
            <a:picLocks/>
          </p:cNvPicPr>
          <p:nvPr/>
        </p:nvPicPr>
        <p:blipFill>
          <a:blip r:embed="rId4"/>
          <a:stretch>
            <a:fillRect/>
          </a:stretch>
        </p:blipFill>
        <p:spPr>
          <a:xfrm>
            <a:off x="5461000" y="1778000"/>
            <a:ext cx="2222500" cy="1460500"/>
          </a:xfrm>
          <a:prstGeom prst="rect">
            <a:avLst/>
          </a:prstGeom>
        </p:spPr>
      </p:pic>
      <p:sp>
        <p:nvSpPr>
          <p:cNvPr id="6" name="TextBox 5">
            <a:extLst>
              <a:ext uri="{FF2B5EF4-FFF2-40B4-BE49-F238E27FC236}">
                <a16:creationId xmlns:a16="http://schemas.microsoft.com/office/drawing/2014/main" id="{3AB4E3BF-651A-8631-9579-2304149D62F4}"/>
              </a:ext>
            </a:extLst>
          </p:cNvPr>
          <p:cNvSpPr txBox="1"/>
          <p:nvPr/>
        </p:nvSpPr>
        <p:spPr>
          <a:xfrm>
            <a:off x="5461000" y="3238500"/>
            <a:ext cx="2222500" cy="261610"/>
          </a:xfrm>
          <a:prstGeom prst="rect">
            <a:avLst/>
          </a:prstGeom>
          <a:noFill/>
        </p:spPr>
        <p:txBody>
          <a:bodyPr vert="horz" rtlCol="0">
            <a:spAutoFit/>
          </a:bodyPr>
          <a:lstStyle/>
          <a:p>
            <a:pPr algn="ctr"/>
            <a:r>
              <a:rPr lang="en-IN" sz="1100" b="1">
                <a:solidFill>
                  <a:srgbClr val="181C24"/>
                </a:solidFill>
                <a:latin typeface="Times New Roman" panose="02020603050405020304" pitchFamily="18" charset="0"/>
              </a:rPr>
              <a:t>Center Defect</a:t>
            </a:r>
          </a:p>
        </p:txBody>
      </p:sp>
      <p:pic>
        <p:nvPicPr>
          <p:cNvPr id="8" name="Picture 7">
            <a:extLst>
              <a:ext uri="{FF2B5EF4-FFF2-40B4-BE49-F238E27FC236}">
                <a16:creationId xmlns:a16="http://schemas.microsoft.com/office/drawing/2014/main" id="{511CF8B0-BE89-808E-9B2E-B259FF8C98BE}"/>
              </a:ext>
            </a:extLst>
          </p:cNvPr>
          <p:cNvPicPr>
            <a:picLocks/>
          </p:cNvPicPr>
          <p:nvPr/>
        </p:nvPicPr>
        <p:blipFill>
          <a:blip r:embed="rId5"/>
          <a:stretch>
            <a:fillRect/>
          </a:stretch>
        </p:blipFill>
        <p:spPr>
          <a:xfrm>
            <a:off x="8001000" y="1778000"/>
            <a:ext cx="2222500" cy="1460500"/>
          </a:xfrm>
          <a:prstGeom prst="rect">
            <a:avLst/>
          </a:prstGeom>
        </p:spPr>
      </p:pic>
      <p:sp>
        <p:nvSpPr>
          <p:cNvPr id="9" name="TextBox 8">
            <a:extLst>
              <a:ext uri="{FF2B5EF4-FFF2-40B4-BE49-F238E27FC236}">
                <a16:creationId xmlns:a16="http://schemas.microsoft.com/office/drawing/2014/main" id="{D69AA885-E8C8-BCE3-7313-16C19A5F6128}"/>
              </a:ext>
            </a:extLst>
          </p:cNvPr>
          <p:cNvSpPr txBox="1"/>
          <p:nvPr/>
        </p:nvSpPr>
        <p:spPr>
          <a:xfrm>
            <a:off x="8001000" y="3238500"/>
            <a:ext cx="2222500" cy="261610"/>
          </a:xfrm>
          <a:prstGeom prst="rect">
            <a:avLst/>
          </a:prstGeom>
          <a:noFill/>
        </p:spPr>
        <p:txBody>
          <a:bodyPr vert="horz" rtlCol="0">
            <a:spAutoFit/>
          </a:bodyPr>
          <a:lstStyle/>
          <a:p>
            <a:pPr algn="ctr"/>
            <a:r>
              <a:rPr lang="en-IN" sz="1100" b="1">
                <a:solidFill>
                  <a:srgbClr val="181C24"/>
                </a:solidFill>
                <a:latin typeface="Times New Roman" panose="02020603050405020304" pitchFamily="18" charset="0"/>
              </a:rPr>
              <a:t>Donut Defect</a:t>
            </a:r>
          </a:p>
        </p:txBody>
      </p:sp>
      <p:pic>
        <p:nvPicPr>
          <p:cNvPr id="11" name="Picture 10">
            <a:extLst>
              <a:ext uri="{FF2B5EF4-FFF2-40B4-BE49-F238E27FC236}">
                <a16:creationId xmlns:a16="http://schemas.microsoft.com/office/drawing/2014/main" id="{D6E8F7B2-4274-98C8-386A-5567231804C6}"/>
              </a:ext>
            </a:extLst>
          </p:cNvPr>
          <p:cNvPicPr>
            <a:picLocks/>
          </p:cNvPicPr>
          <p:nvPr/>
        </p:nvPicPr>
        <p:blipFill>
          <a:blip r:embed="rId6"/>
          <a:stretch>
            <a:fillRect/>
          </a:stretch>
        </p:blipFill>
        <p:spPr>
          <a:xfrm>
            <a:off x="5461000" y="3619500"/>
            <a:ext cx="2222500" cy="1460500"/>
          </a:xfrm>
          <a:prstGeom prst="rect">
            <a:avLst/>
          </a:prstGeom>
        </p:spPr>
      </p:pic>
      <p:sp>
        <p:nvSpPr>
          <p:cNvPr id="12" name="TextBox 11">
            <a:extLst>
              <a:ext uri="{FF2B5EF4-FFF2-40B4-BE49-F238E27FC236}">
                <a16:creationId xmlns:a16="http://schemas.microsoft.com/office/drawing/2014/main" id="{E448046D-862C-0D40-7E9F-A7016EB0E795}"/>
              </a:ext>
            </a:extLst>
          </p:cNvPr>
          <p:cNvSpPr txBox="1"/>
          <p:nvPr/>
        </p:nvSpPr>
        <p:spPr>
          <a:xfrm>
            <a:off x="5461000" y="5080000"/>
            <a:ext cx="2222500" cy="261610"/>
          </a:xfrm>
          <a:prstGeom prst="rect">
            <a:avLst/>
          </a:prstGeom>
          <a:noFill/>
        </p:spPr>
        <p:txBody>
          <a:bodyPr vert="horz" rtlCol="0">
            <a:spAutoFit/>
          </a:bodyPr>
          <a:lstStyle/>
          <a:p>
            <a:pPr algn="ctr"/>
            <a:r>
              <a:rPr lang="en-IN" sz="1100" b="1">
                <a:solidFill>
                  <a:srgbClr val="181C24"/>
                </a:solidFill>
                <a:latin typeface="Times New Roman" panose="02020603050405020304" pitchFamily="18" charset="0"/>
              </a:rPr>
              <a:t>Edge-Loc Defect</a:t>
            </a:r>
          </a:p>
        </p:txBody>
      </p:sp>
      <p:pic>
        <p:nvPicPr>
          <p:cNvPr id="14" name="Picture 13">
            <a:extLst>
              <a:ext uri="{FF2B5EF4-FFF2-40B4-BE49-F238E27FC236}">
                <a16:creationId xmlns:a16="http://schemas.microsoft.com/office/drawing/2014/main" id="{A56DE7C0-C6A6-A942-626B-33FD1B9FCD66}"/>
              </a:ext>
            </a:extLst>
          </p:cNvPr>
          <p:cNvPicPr>
            <a:picLocks/>
          </p:cNvPicPr>
          <p:nvPr/>
        </p:nvPicPr>
        <p:blipFill>
          <a:blip r:embed="rId7"/>
          <a:stretch>
            <a:fillRect/>
          </a:stretch>
        </p:blipFill>
        <p:spPr>
          <a:xfrm>
            <a:off x="8001000" y="3619500"/>
            <a:ext cx="2222500" cy="1460500"/>
          </a:xfrm>
          <a:prstGeom prst="rect">
            <a:avLst/>
          </a:prstGeom>
        </p:spPr>
      </p:pic>
      <p:sp>
        <p:nvSpPr>
          <p:cNvPr id="15" name="TextBox 14">
            <a:extLst>
              <a:ext uri="{FF2B5EF4-FFF2-40B4-BE49-F238E27FC236}">
                <a16:creationId xmlns:a16="http://schemas.microsoft.com/office/drawing/2014/main" id="{E8398ED3-7FD9-83F5-78D5-B37EB5E45ABE}"/>
              </a:ext>
            </a:extLst>
          </p:cNvPr>
          <p:cNvSpPr txBox="1"/>
          <p:nvPr/>
        </p:nvSpPr>
        <p:spPr>
          <a:xfrm>
            <a:off x="8001000" y="5080000"/>
            <a:ext cx="2222500" cy="261610"/>
          </a:xfrm>
          <a:prstGeom prst="rect">
            <a:avLst/>
          </a:prstGeom>
          <a:noFill/>
        </p:spPr>
        <p:txBody>
          <a:bodyPr vert="horz" rtlCol="0">
            <a:spAutoFit/>
          </a:bodyPr>
          <a:lstStyle/>
          <a:p>
            <a:pPr algn="ctr"/>
            <a:r>
              <a:rPr lang="en-IN" sz="1100" b="1">
                <a:solidFill>
                  <a:srgbClr val="181C24"/>
                </a:solidFill>
                <a:latin typeface="Times New Roman" panose="02020603050405020304" pitchFamily="18" charset="0"/>
              </a:rPr>
              <a:t>Scratch Defect</a:t>
            </a:r>
          </a:p>
        </p:txBody>
      </p:sp>
    </p:spTree>
    <p:extLst>
      <p:ext uri="{BB962C8B-B14F-4D97-AF65-F5344CB8AC3E}">
        <p14:creationId xmlns:p14="http://schemas.microsoft.com/office/powerpoint/2010/main" val="3019407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181C24"/>
              </a:buClr>
              <a:buSzPts val="4000"/>
              <a:buFont typeface="Times New Roman"/>
              <a:buNone/>
            </a:pPr>
            <a:r>
              <a:rPr lang="en-US" sz="3400" b="1">
                <a:solidFill>
                  <a:srgbClr val="181C24"/>
                </a:solidFill>
                <a:highlight>
                  <a:srgbClr val="FFFFFF"/>
                </a:highlight>
                <a:latin typeface="Times New Roman" panose="02020603050405020304" pitchFamily="18" charset="0"/>
                <a:ea typeface="Times New Roman"/>
                <a:cs typeface="Times New Roman"/>
                <a:sym typeface="Times New Roman"/>
              </a:rPr>
              <a:t>SOFTWARE REQUIREMENTS &amp; METHODOLOGY</a:t>
            </a:r>
            <a:endParaRPr sz="3400" b="1" dirty="0">
              <a:solidFill>
                <a:srgbClr val="181C24"/>
              </a:solidFill>
              <a:latin typeface="Times New Roman" panose="02020603050405020304" pitchFamily="18" charset="0"/>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3" name="Subtitle 2">
            <a:extLst>
              <a:ext uri="{FF2B5EF4-FFF2-40B4-BE49-F238E27FC236}">
                <a16:creationId xmlns:a16="http://schemas.microsoft.com/office/drawing/2014/main" id="{CAC11F36-6697-705E-113C-8397EC31B79C}"/>
              </a:ext>
            </a:extLst>
          </p:cNvPr>
          <p:cNvSpPr>
            <a:spLocks noGrp="1"/>
          </p:cNvSpPr>
          <p:nvPr>
            <p:ph type="subTitle" idx="1"/>
          </p:nvPr>
        </p:nvSpPr>
        <p:spPr/>
        <p:txBody>
          <a:bodyPr/>
          <a:lstStyle/>
          <a:p>
            <a:endParaRPr lang="en-IN"/>
          </a:p>
        </p:txBody>
      </p:sp>
      <p:sp>
        <p:nvSpPr>
          <p:cNvPr id="4" name="TextBox 3">
            <a:extLst>
              <a:ext uri="{FF2B5EF4-FFF2-40B4-BE49-F238E27FC236}">
                <a16:creationId xmlns:a16="http://schemas.microsoft.com/office/drawing/2014/main" id="{C95CA6FA-040C-BD45-35A7-C745F2590D08}"/>
              </a:ext>
            </a:extLst>
          </p:cNvPr>
          <p:cNvSpPr txBox="1"/>
          <p:nvPr/>
        </p:nvSpPr>
        <p:spPr>
          <a:xfrm>
            <a:off x="635000" y="1778000"/>
            <a:ext cx="9906000" cy="3154710"/>
          </a:xfrm>
          <a:prstGeom prst="rect">
            <a:avLst/>
          </a:prstGeom>
          <a:noFill/>
        </p:spPr>
        <p:txBody>
          <a:bodyPr vert="horz" wrap="square" rtlCol="0">
            <a:spAutoFit/>
          </a:bodyPr>
          <a:lstStyle/>
          <a:p>
            <a:r>
              <a:rPr lang="en-IN" sz="1700" b="1">
                <a:solidFill>
                  <a:srgbClr val="0284C7"/>
                </a:solidFill>
                <a:latin typeface="Times New Roman" panose="02020603050405020304" pitchFamily="18" charset="0"/>
              </a:rPr>
              <a:t>Software Requirements &amp; Frameworks</a:t>
            </a:r>
            <a:r>
              <a:rPr lang="en-IN" sz="1500">
                <a:solidFill>
                  <a:srgbClr val="181C24"/>
                </a:solidFill>
                <a:latin typeface="Times New Roman" panose="02020603050405020304" pitchFamily="18" charset="0"/>
              </a:rPr>
              <a:t>
•  Operating System: Windows 11 / Linux (Ubuntu 22.04 LTS)
•  Programming Language: Python 3.12 / 3.10
•  Deep Learning Framework: PyTorch 2.x, Torchvision
•  Edge Runtime Engine: ONNX Runtime 1.18+
•  Computer Vision &amp; Analytics: OpenCV (cv2), NumPy, Scikit-learn, Matplotlib, Seaborn
•  Web Application &amp; API: HTML5 Canvas, Vanilla CSS3, JavaScript ES6, Python HTTP Server
</a:t>
            </a:r>
            <a:r>
              <a:rPr lang="en-IN" sz="1700" b="1">
                <a:solidFill>
                  <a:srgbClr val="0284C7"/>
                </a:solidFill>
                <a:latin typeface="Times New Roman" panose="02020603050405020304" pitchFamily="18" charset="0"/>
              </a:rPr>
              <a:t>4-Phase Implementation Methodology</a:t>
            </a:r>
            <a:r>
              <a:rPr lang="en-IN" sz="1500">
                <a:solidFill>
                  <a:srgbClr val="181C24"/>
                </a:solidFill>
                <a:latin typeface="Times New Roman" panose="02020603050405020304" pitchFamily="18" charset="0"/>
              </a:rPr>
              <a:t>
•  Phase 1: Dataset Curation - WM-811K parsing, 224x224 bicubic resizing, ImageNet tensor normalization.
•  Phase 2: Transfer Learning - Pre-trained MobileNetV3-Small backbone with custom 8-class linear head.
•  Phase 3: Loss Optimization - Cross-entropy loss minimization with Adam optimizer (lr=3e-4) &amp; early stopping.
•  Phase 4: ONNX Deployment - Model graph trace, CPU graph optimizations, and interactive web visualizer.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3400" b="1">
                <a:solidFill>
                  <a:srgbClr val="181C24"/>
                </a:solidFill>
                <a:highlight>
                  <a:srgbClr val="FFFFFF"/>
                </a:highlight>
                <a:latin typeface="Times New Roman" panose="02020603050405020304" pitchFamily="18" charset="0"/>
                <a:ea typeface="Times New Roman"/>
                <a:cs typeface="Times New Roman"/>
                <a:sym typeface="Times New Roman"/>
              </a:rPr>
              <a:t>EXPERIMENTAL RESULTS &amp; OUTCOMES</a:t>
            </a:r>
            <a:endParaRPr sz="3400" b="1" dirty="0">
              <a:solidFill>
                <a:srgbClr val="181C24"/>
              </a:solidFill>
              <a:latin typeface="Times New Roman" panose="02020603050405020304" pitchFamily="18" charset="0"/>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3" name="Subtitle 2">
            <a:extLst>
              <a:ext uri="{FF2B5EF4-FFF2-40B4-BE49-F238E27FC236}">
                <a16:creationId xmlns:a16="http://schemas.microsoft.com/office/drawing/2014/main" id="{9565EDF5-CDD2-8D5E-261A-375F37B22C6D}"/>
              </a:ext>
            </a:extLst>
          </p:cNvPr>
          <p:cNvSpPr>
            <a:spLocks noGrp="1"/>
          </p:cNvSpPr>
          <p:nvPr>
            <p:ph type="subTitle" idx="1"/>
          </p:nvPr>
        </p:nvSpPr>
        <p:spPr/>
        <p:txBody>
          <a:bodyPr/>
          <a:lstStyle/>
          <a:p>
            <a:endParaRPr lang="en-IN"/>
          </a:p>
        </p:txBody>
      </p:sp>
      <p:sp>
        <p:nvSpPr>
          <p:cNvPr id="4" name="TextBox 3">
            <a:extLst>
              <a:ext uri="{FF2B5EF4-FFF2-40B4-BE49-F238E27FC236}">
                <a16:creationId xmlns:a16="http://schemas.microsoft.com/office/drawing/2014/main" id="{2F3542BE-C84D-A998-9FAD-5148687E0E5A}"/>
              </a:ext>
            </a:extLst>
          </p:cNvPr>
          <p:cNvSpPr txBox="1"/>
          <p:nvPr/>
        </p:nvSpPr>
        <p:spPr>
          <a:xfrm>
            <a:off x="444500" y="1778000"/>
            <a:ext cx="5461000" cy="2585323"/>
          </a:xfrm>
          <a:prstGeom prst="rect">
            <a:avLst/>
          </a:prstGeom>
          <a:noFill/>
        </p:spPr>
        <p:txBody>
          <a:bodyPr vert="horz" wrap="square" rtlCol="0">
            <a:spAutoFit/>
          </a:bodyPr>
          <a:lstStyle/>
          <a:p>
            <a:r>
              <a:rPr lang="en-IN" sz="1600" b="1">
                <a:solidFill>
                  <a:srgbClr val="0284C7"/>
                </a:solidFill>
                <a:latin typeface="Times New Roman" panose="02020603050405020304" pitchFamily="18" charset="0"/>
              </a:rPr>
              <a:t>Key Performance Metrics</a:t>
            </a:r>
            <a:r>
              <a:rPr lang="en-IN" sz="1300">
                <a:solidFill>
                  <a:srgbClr val="181C24"/>
                </a:solidFill>
                <a:latin typeface="Times New Roman" panose="02020603050405020304" pitchFamily="18" charset="0"/>
              </a:rPr>
              <a:t>
• Overall Test Set Accuracy: 98.02% (121,719 test wafers).
• Macro Precision: 0.6897  |  Macro Recall: 0.6177
• Inference Latency: 1.53 ms on CPU (zero GPU requirement).
• Model Footprint: 5.84 MB (ultra-compact ONNX binary).
</a:t>
            </a:r>
            <a:r>
              <a:rPr lang="en-IN" sz="1600" b="1">
                <a:solidFill>
                  <a:srgbClr val="0284C7"/>
                </a:solidFill>
                <a:latin typeface="Times New Roman" panose="02020603050405020304" pitchFamily="18" charset="0"/>
              </a:rPr>
              <a:t>Per-Class Defect Verification Highlights</a:t>
            </a:r>
            <a:r>
              <a:rPr lang="en-IN" sz="1300">
                <a:solidFill>
                  <a:srgbClr val="181C24"/>
                </a:solidFill>
                <a:latin typeface="Times New Roman" panose="02020603050405020304" pitchFamily="18" charset="0"/>
              </a:rPr>
              <a:t>
• Clean (Nominal): 99.98% Precision, 100% Detection Rate.
• Scratch: 99.92% Confidence with clear linear streak isolation.
• Donut: 99.99% Confidence detecting radial thermal rings.
• Center Cluster: 98.01% Confidence detecting CMP slurry anomalies.
• Edge-Loc &amp; Loc: &gt;99.2% Confidence on localized boundary dies.</a:t>
            </a:r>
          </a:p>
        </p:txBody>
      </p:sp>
      <p:pic>
        <p:nvPicPr>
          <p:cNvPr id="6" name="Picture 5">
            <a:extLst>
              <a:ext uri="{FF2B5EF4-FFF2-40B4-BE49-F238E27FC236}">
                <a16:creationId xmlns:a16="http://schemas.microsoft.com/office/drawing/2014/main" id="{18D269B1-1888-7A6A-5033-FE113F22ECF0}"/>
              </a:ext>
            </a:extLst>
          </p:cNvPr>
          <p:cNvPicPr>
            <a:picLocks/>
          </p:cNvPicPr>
          <p:nvPr/>
        </p:nvPicPr>
        <p:blipFill>
          <a:blip r:embed="rId4"/>
          <a:stretch>
            <a:fillRect/>
          </a:stretch>
        </p:blipFill>
        <p:spPr>
          <a:xfrm>
            <a:off x="6159500" y="1778000"/>
            <a:ext cx="4254500" cy="355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6"/>
          <p:cNvSpPr txBox="1">
            <a:spLocks noGrp="1"/>
          </p:cNvSpPr>
          <p:nvPr>
            <p:ph type="title"/>
          </p:nvPr>
        </p:nvSpPr>
        <p:spPr>
          <a:xfrm>
            <a:off x="680884" y="743804"/>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400" b="1">
                <a:solidFill>
                  <a:srgbClr val="181C24"/>
                </a:solidFill>
                <a:latin typeface="Times New Roman" panose="02020603050405020304" pitchFamily="18" charset="0"/>
                <a:ea typeface="Times New Roman"/>
                <a:cs typeface="Times New Roman"/>
                <a:sym typeface="Times New Roman"/>
              </a:rPr>
              <a:t>REFERENCES</a:t>
            </a:r>
            <a:endParaRPr sz="3400" b="1" dirty="0">
              <a:solidFill>
                <a:srgbClr val="181C24"/>
              </a:solidFill>
              <a:latin typeface="Times New Roman" panose="02020603050405020304" pitchFamily="18" charset="0"/>
            </a:endParaRPr>
          </a:p>
        </p:txBody>
      </p:sp>
      <p:sp>
        <p:nvSpPr>
          <p:cNvPr id="384" name="Google Shape;384;p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385" name="Google Shape;385;p26"/>
          <p:cNvPicPr preferRelativeResize="0"/>
          <p:nvPr/>
        </p:nvPicPr>
        <p:blipFill rotWithShape="1">
          <a:blip r:embed="rId2">
            <a:alphaModFix/>
          </a:blip>
          <a:srcRect/>
          <a:stretch/>
        </p:blipFill>
        <p:spPr>
          <a:xfrm>
            <a:off x="159971" y="211556"/>
            <a:ext cx="4517529" cy="810838"/>
          </a:xfrm>
          <a:prstGeom prst="rect">
            <a:avLst/>
          </a:prstGeom>
          <a:noFill/>
          <a:ln>
            <a:noFill/>
          </a:ln>
        </p:spPr>
      </p:pic>
      <p:pic>
        <p:nvPicPr>
          <p:cNvPr id="386" name="Google Shape;386;p26"/>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387" name="Google Shape;387;p26"/>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6BC21E17-780D-4E8A-709F-79F92F8C1033}"/>
              </a:ext>
            </a:extLst>
          </p:cNvPr>
          <p:cNvSpPr txBox="1"/>
          <p:nvPr/>
        </p:nvSpPr>
        <p:spPr>
          <a:xfrm>
            <a:off x="571500" y="1778000"/>
            <a:ext cx="9779000" cy="2893100"/>
          </a:xfrm>
          <a:prstGeom prst="rect">
            <a:avLst/>
          </a:prstGeom>
          <a:noFill/>
        </p:spPr>
        <p:txBody>
          <a:bodyPr vert="horz" wrap="square" rtlCol="0">
            <a:spAutoFit/>
          </a:bodyPr>
          <a:lstStyle/>
          <a:p>
            <a:r>
              <a:rPr lang="en-IN" sz="1300">
                <a:solidFill>
                  <a:srgbClr val="181C24"/>
                </a:solidFill>
                <a:latin typeface="Times New Roman" panose="02020603050405020304" pitchFamily="18" charset="0"/>
              </a:rPr>
              <a:t>1. M.-J. Wu, J.-S. R. Jang, and J.-L. Chen, 'Wafer map failure pattern recognition and similarity ranking for large-scale semiconductor manufacturing,' IEEE Transactions on Semiconductor Manufacturing, vol. 28, no. 1, pp. 1–12, 2015.
2. A. Howard, M. Sandler, G. Chu, L.-C. Chen, B. Chen, M. Tan, W. Wang, Y. Zhu, R. Pang, V. Vasudevan et al., 'Searching for MobileNetV3,' in Proceedings of the IEEE/CVF International Conference on Computer Vision (ICCV), 2019, pp. 1314–1324.
3. T. Nakazawa and D. V. Kulkarni, 'Wafer map defect pattern classification and retrieval using convolutional neural networks,' IEEE Transactions on Semiconductor Manufacturing, vol. 31, no. 2, pp. 309–314, 2018.
4. S. Cheon, H. Lee, C. O. Kim, and S. H. Lee, 'Convolutional neural network for wafer surface defect classification and the detection of unknown defect classes,' IEEE Transactions on Semiconductor Manufacturing, vol. 32, no. 2, pp. 163–170, 2019.
5. ONNX Runtime Developers, 'ONNX Runtime: Cross-platform, high performance ML inferencing and training accelerator,' Linux Foundation / Microsoft, 2024. [Online]. Available: https://onnxruntime.ai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3" name="Google Shape;393;p27"/>
          <p:cNvPicPr preferRelativeResize="0"/>
          <p:nvPr/>
        </p:nvPicPr>
        <p:blipFill rotWithShape="1">
          <a:blip r:embed="rId2">
            <a:alphaModFix/>
          </a:blip>
          <a:srcRect/>
          <a:stretch/>
        </p:blipFill>
        <p:spPr>
          <a:xfrm>
            <a:off x="159971" y="211556"/>
            <a:ext cx="4517529" cy="810838"/>
          </a:xfrm>
          <a:prstGeom prst="rect">
            <a:avLst/>
          </a:prstGeom>
          <a:noFill/>
          <a:ln>
            <a:noFill/>
          </a:ln>
        </p:spPr>
      </p:pic>
      <p:pic>
        <p:nvPicPr>
          <p:cNvPr id="394" name="Google Shape;394;p27"/>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395" name="Google Shape;395;p27"/>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3" name="Title 2">
            <a:extLst>
              <a:ext uri="{FF2B5EF4-FFF2-40B4-BE49-F238E27FC236}">
                <a16:creationId xmlns:a16="http://schemas.microsoft.com/office/drawing/2014/main" id="{E9F644EF-2CA3-C202-C514-DC6009B2A5AE}"/>
              </a:ext>
            </a:extLst>
          </p:cNvPr>
          <p:cNvSpPr>
            <a:spLocks noGrp="1"/>
          </p:cNvSpPr>
          <p:nvPr>
            <p:ph type="title"/>
          </p:nvPr>
        </p:nvSpPr>
        <p:spPr/>
        <p:txBody>
          <a:bodyPr/>
          <a:lstStyle/>
          <a:p>
            <a:endParaRPr lang="en-IN"/>
          </a:p>
        </p:txBody>
      </p:sp>
      <p:sp>
        <p:nvSpPr>
          <p:cNvPr id="4" name="TextBox 3">
            <a:extLst>
              <a:ext uri="{FF2B5EF4-FFF2-40B4-BE49-F238E27FC236}">
                <a16:creationId xmlns:a16="http://schemas.microsoft.com/office/drawing/2014/main" id="{DBAE5156-966F-63CB-D3DA-1B8EFED0F493}"/>
              </a:ext>
            </a:extLst>
          </p:cNvPr>
          <p:cNvSpPr txBox="1"/>
          <p:nvPr/>
        </p:nvSpPr>
        <p:spPr>
          <a:xfrm>
            <a:off x="635000" y="2413000"/>
            <a:ext cx="9588500" cy="1077218"/>
          </a:xfrm>
          <a:prstGeom prst="rect">
            <a:avLst/>
          </a:prstGeom>
          <a:noFill/>
        </p:spPr>
        <p:txBody>
          <a:bodyPr vert="horz" wrap="square" rtlCol="0">
            <a:spAutoFit/>
          </a:bodyPr>
          <a:lstStyle/>
          <a:p>
            <a:pPr algn="ctr"/>
            <a:r>
              <a:rPr lang="en-IN" sz="6400" b="1">
                <a:solidFill>
                  <a:srgbClr val="181C24"/>
                </a:solidFill>
                <a:latin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1584</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Arial</vt:lpstr>
      <vt:lpstr>Gill Sans</vt:lpstr>
      <vt:lpstr>Times New Roman</vt:lpstr>
      <vt:lpstr>Calibri</vt:lpstr>
      <vt:lpstr>Office 2013 - 2022 Theme</vt:lpstr>
      <vt:lpstr>Office Theme</vt:lpstr>
      <vt:lpstr>AUTOMATED SEMICONDUCTOR WAFER DEFECT CLASSIFICATION USING DEEP LEARNING FOR REAL-TIME AOI SYSTEMS</vt:lpstr>
      <vt:lpstr>INTRODUCTION</vt:lpstr>
      <vt:lpstr>PROBLEM STATEMENT</vt:lpstr>
      <vt:lpstr>NEED FOR THE PROJECT</vt:lpstr>
      <vt:lpstr>OBJECTIVES</vt:lpstr>
      <vt:lpstr>END-TO-END SYSTEM ARCHITECTURE</vt:lpstr>
      <vt:lpstr>WM-811K DATASET &amp; DEFECT PATTERNS</vt:lpstr>
      <vt:lpstr>SOFTWARE REQUIREMENTS &amp; METHODOLOGY</vt:lpstr>
      <vt:lpstr>EXPERIMENTAL RESULTS &amp; OUTCOMES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QB844</dc:creator>
  <cp:lastModifiedBy>NOOPA MARIA ROJAN</cp:lastModifiedBy>
  <cp:revision>7</cp:revision>
  <dcterms:created xsi:type="dcterms:W3CDTF">2024-08-12T15:06:11Z</dcterms:created>
  <dcterms:modified xsi:type="dcterms:W3CDTF">2026-10-11T14:02:24Z</dcterms:modified>
</cp:coreProperties>
</file>